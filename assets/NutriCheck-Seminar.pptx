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2103120"/>
            <a:ext cx="5852160" cy="5852160"/>
          </a:xfrm>
          <a:prstGeom prst="ellipse">
            <a:avLst/>
          </a:prstGeom>
          <a:solidFill>
            <a:srgbClr val="E6F5F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E6F5F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092440" y="5623560"/>
            <a:ext cx="146304" cy="146304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640080"/>
            <a:ext cx="713232" cy="713232"/>
          </a:xfrm>
          <a:prstGeom prst="roundRect">
            <a:avLst>
              <a:gd name="adj" fmla="val 23077"/>
            </a:avLst>
          </a:prstGeom>
          <a:solidFill>
            <a:srgbClr val="0F9D8A"/>
          </a:solidFill>
          <a:ln/>
        </p:spPr>
      </p:sp>
      <p:sp>
        <p:nvSpPr>
          <p:cNvPr id="6" name="Shape 4"/>
          <p:cNvSpPr/>
          <p:nvPr/>
        </p:nvSpPr>
        <p:spPr>
          <a:xfrm>
            <a:off x="992124" y="955548"/>
            <a:ext cx="283464" cy="822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92708" y="854964"/>
            <a:ext cx="82296" cy="2834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78638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3232" y="196596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SEMINAR · PROJECT PHASE-I · SESSION 2026–27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2212848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713232" y="312724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AI-Based Food Safety Check for Patients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13232" y="3767328"/>
            <a:ext cx="4937760" cy="0"/>
          </a:xfrm>
          <a:prstGeom prst="line">
            <a:avLst/>
          </a:prstGeom>
          <a:noFill/>
          <a:ln w="254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0050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13232" y="426110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Priyanshu Kayarkar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[USN] · Semester VII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77640" y="400507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BY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977640" y="4261104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[Guide Name]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[Designation], Dept. of CSD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5257800"/>
            <a:ext cx="65836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4406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&amp; Design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732520" y="1371600"/>
            <a:ext cx="2377440" cy="466344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/>
        </p:spPr>
      </p:sp>
      <p:sp>
        <p:nvSpPr>
          <p:cNvPr id="20" name="Shape 18"/>
          <p:cNvSpPr/>
          <p:nvPr/>
        </p:nvSpPr>
        <p:spPr>
          <a:xfrm>
            <a:off x="8796528" y="1435608"/>
            <a:ext cx="2249424" cy="4535424"/>
          </a:xfrm>
          <a:prstGeom prst="roundRect">
            <a:avLst>
              <a:gd name="adj" fmla="val 894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942832" y="1600200"/>
            <a:ext cx="19568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afternoon,</a:t>
            </a:r>
            <a:endParaRPr lang="en-US" sz="7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8924544" y="2212848"/>
            <a:ext cx="1993392" cy="868680"/>
          </a:xfrm>
          <a:prstGeom prst="roundRect">
            <a:avLst>
              <a:gd name="adj" fmla="val 9474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2322576"/>
            <a:ext cx="17739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I eat this?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safety verdict for your conditions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24544" y="3246120"/>
            <a:ext cx="19933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70848" y="3246120"/>
            <a:ext cx="1700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any dish…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24544" y="3703320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/>
        </p:spPr>
      </p:sp>
      <p:sp>
        <p:nvSpPr>
          <p:cNvPr id="27" name="Text 25"/>
          <p:cNvSpPr/>
          <p:nvPr/>
        </p:nvSpPr>
        <p:spPr>
          <a:xfrm>
            <a:off x="8924544" y="3685032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Food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24544" y="4197096"/>
            <a:ext cx="19933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4544" y="4178808"/>
            <a:ext cx="1993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Food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942832" y="4745736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CHECKS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8924544" y="4983480"/>
            <a:ext cx="1993392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34272" y="513892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9180576" y="501091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 Tadka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180576" y="51755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8924544" y="5458968"/>
            <a:ext cx="1993392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34272" y="561441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9180576" y="54864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Paneer Butter Masala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180576" y="5650992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7973568" y="4956048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10728" y="5084064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6C8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10728" y="506577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RECOMMENDED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8110728" y="5394960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Paneer Butter Masala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10728" y="5605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sodium &amp; saturated fat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 / 15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572768"/>
            <a:ext cx="365760" cy="3657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353312" y="156362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53312" y="2084832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221992"/>
            <a:ext cx="365760" cy="365760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221284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353312" y="2734056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71216"/>
            <a:ext cx="365760" cy="3657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353312" y="28620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Definition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353312" y="3383280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520440"/>
            <a:ext cx="365760" cy="365760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11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353312" y="351129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&amp; Objectives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353312" y="4032504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4169664"/>
            <a:ext cx="365760" cy="3657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53312" y="41605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Review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353312" y="4681728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818888"/>
            <a:ext cx="365760" cy="365760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353312" y="480974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Gap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353312" y="5330952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5468112"/>
            <a:ext cx="365760" cy="3657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5458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353312" y="545896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353312" y="5980176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1572768"/>
            <a:ext cx="365760" cy="365760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15636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885432" y="156362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Methodology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885432" y="2084832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55080" y="2221992"/>
            <a:ext cx="365760" cy="3657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2128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885432" y="2212848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885432" y="2734056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2871216"/>
            <a:ext cx="365760" cy="365760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42" name="Text 40"/>
          <p:cNvSpPr/>
          <p:nvPr/>
        </p:nvSpPr>
        <p:spPr>
          <a:xfrm>
            <a:off x="6355080" y="2862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885432" y="28620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Output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885432" y="3383280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3520440"/>
            <a:ext cx="365760" cy="3657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6" name="Text 44"/>
          <p:cNvSpPr/>
          <p:nvPr/>
        </p:nvSpPr>
        <p:spPr>
          <a:xfrm>
            <a:off x="6355080" y="35112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85432" y="3511296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885432" y="4032504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55080" y="4169664"/>
            <a:ext cx="365760" cy="365760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50" name="Text 48"/>
          <p:cNvSpPr/>
          <p:nvPr/>
        </p:nvSpPr>
        <p:spPr>
          <a:xfrm>
            <a:off x="635508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885432" y="4160520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885432" y="4681728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55080" y="4818888"/>
            <a:ext cx="365760" cy="365760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54" name="Text 52"/>
          <p:cNvSpPr/>
          <p:nvPr/>
        </p:nvSpPr>
        <p:spPr>
          <a:xfrm>
            <a:off x="6355080" y="48097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885432" y="4809744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885432" y="5330952"/>
            <a:ext cx="448056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612648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prevalence of chronic conditions such as diabetes, chronic kidney disease, hypertension, celiac disease and food allergies has turned everyday eating into a constant safety decision. Patients must interpret nutrition labels against their own restrictions — a task that generic calorie-counting applications do not address.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is a cross-platform application that combines </a:t>
            </a:r>
            <a:pPr algn="l"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AI-based food recognition</a:t>
            </a:r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</a:t>
            </a:r>
            <a:pPr algn="l"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personalized, disease-aware nutrition engine</a:t>
            </a:r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 photograph or the name of a dish is processed by a vision model, mapped to nutrient factors, and evaluated by a multi-condition rule engine derived from clinical guidelines.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system returns an explainable </a:t>
            </a:r>
            <a:pPr algn="l"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/ Moderation / Not Recommended</a:t>
            </a:r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verdict together with </a:t>
            </a:r>
            <a:pPr algn="l"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localized alternatives</a:t>
            </a:r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making dietary safety instant, personal and accessible on any device.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0" y="1463040"/>
            <a:ext cx="4690872" cy="4800600"/>
          </a:xfrm>
          <a:prstGeom prst="roundRect">
            <a:avLst>
              <a:gd name="adj" fmla="val 1754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160934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PIPELINE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35240" y="1956816"/>
            <a:ext cx="3319272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90104" y="1956816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 Photo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294876" y="2414016"/>
            <a:ext cx="0" cy="292608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635240" y="2706624"/>
            <a:ext cx="3319272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0104" y="2706624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Vision Model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94876" y="3163824"/>
            <a:ext cx="0" cy="292608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456432"/>
            <a:ext cx="3319272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0104" y="3456432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Nutrition Analysis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294876" y="3913632"/>
            <a:ext cx="0" cy="292608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206240"/>
            <a:ext cx="3319272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90104" y="420624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Rule Engine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294876" y="4663440"/>
            <a:ext cx="0" cy="292608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635240" y="4956048"/>
            <a:ext cx="1033272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BE8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4937760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778240" y="4956048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12700">
            <a:solidFill>
              <a:srgbClr val="F2DB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0" y="493776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0122408" y="4956048"/>
            <a:ext cx="832104" cy="384048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6C8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22408" y="4937760"/>
            <a:ext cx="8321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294876" y="4535424"/>
            <a:ext cx="0" cy="420624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NutriCheck?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29992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7" name="Shape 5"/>
          <p:cNvSpPr/>
          <p:nvPr/>
        </p:nvSpPr>
        <p:spPr>
          <a:xfrm>
            <a:off x="832104" y="1792224"/>
            <a:ext cx="256032" cy="25603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7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28" y="1869948"/>
            <a:ext cx="100584" cy="100584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673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Food Scanner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84248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Photograph any dish; the vision model identifies it in seconds.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1508760"/>
            <a:ext cx="29992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691640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13" name="Shape 11"/>
          <p:cNvSpPr/>
          <p:nvPr/>
        </p:nvSpPr>
        <p:spPr>
          <a:xfrm>
            <a:off x="4096512" y="1783080"/>
            <a:ext cx="128016" cy="128016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4041648" y="1938528"/>
            <a:ext cx="237744" cy="137160"/>
          </a:xfrm>
          <a:prstGeom prst="roundRect">
            <a:avLst>
              <a:gd name="adj" fmla="val 46667"/>
            </a:avLst>
          </a:prstGeom>
          <a:solidFill>
            <a:srgbClr val="0B7A6B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733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Profile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1984248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Conditions, allergies and prescriptions captured once at onboarding.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191256"/>
            <a:ext cx="29992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3741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41248" y="3493008"/>
            <a:ext cx="237744" cy="64008"/>
          </a:xfrm>
          <a:prstGeom prst="roundRect">
            <a:avLst>
              <a:gd name="adj" fmla="val 50000"/>
            </a:avLst>
          </a:prstGeom>
          <a:solidFill>
            <a:srgbClr val="0B7A6B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3611880"/>
            <a:ext cx="109728" cy="64008"/>
          </a:xfrm>
          <a:prstGeom prst="roundRect">
            <a:avLst>
              <a:gd name="adj" fmla="val 50000"/>
            </a:avLst>
          </a:prstGeom>
          <a:solidFill>
            <a:srgbClr val="0B7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3730752"/>
            <a:ext cx="-18288" cy="64008"/>
          </a:xfrm>
          <a:prstGeom prst="roundRect">
            <a:avLst>
              <a:gd name="adj" fmla="val -175000"/>
            </a:avLst>
          </a:prstGeom>
          <a:solidFill>
            <a:srgbClr val="0B7A6B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355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25880" y="366674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nutrient factor is weighed against the patient's conditions.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3191256"/>
            <a:ext cx="29992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920" y="3374136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26" name="Shape 24"/>
          <p:cNvSpPr/>
          <p:nvPr/>
        </p:nvSpPr>
        <p:spPr>
          <a:xfrm>
            <a:off x="4069080" y="3511296"/>
            <a:ext cx="182880" cy="182880"/>
          </a:xfrm>
          <a:prstGeom prst="diamond">
            <a:avLst/>
          </a:prstGeom>
          <a:solidFill>
            <a:srgbClr val="0B7A6B"/>
          </a:solidFill>
          <a:ln/>
        </p:spPr>
      </p:sp>
      <p:sp>
        <p:nvSpPr>
          <p:cNvPr id="27" name="Text 25"/>
          <p:cNvSpPr/>
          <p:nvPr/>
        </p:nvSpPr>
        <p:spPr>
          <a:xfrm>
            <a:off x="4526280" y="33558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Safer Alternatives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26280" y="3666744"/>
            <a:ext cx="208483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Localized swaps are suggested whenever a verdict is unsafe.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48640" y="50292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 CONDITIONS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5321808"/>
            <a:ext cx="114300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5303520"/>
            <a:ext cx="1143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856232" y="5321808"/>
            <a:ext cx="7772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56232" y="5303520"/>
            <a:ext cx="777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CKD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98064" y="5321808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98064" y="530352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Hypertension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25696" y="5321808"/>
            <a:ext cx="96012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25696" y="5303520"/>
            <a:ext cx="960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Celiac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550408" y="5321808"/>
            <a:ext cx="146304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50408" y="5303520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 Allergy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092440" y="1508760"/>
            <a:ext cx="2286000" cy="4480560"/>
          </a:xfrm>
          <a:prstGeom prst="roundRect">
            <a:avLst>
              <a:gd name="adj" fmla="val 11200"/>
            </a:avLst>
          </a:prstGeom>
          <a:solidFill>
            <a:srgbClr val="111827"/>
          </a:solidFill>
          <a:ln/>
        </p:spPr>
      </p:sp>
      <p:sp>
        <p:nvSpPr>
          <p:cNvPr id="41" name="Shape 39"/>
          <p:cNvSpPr/>
          <p:nvPr/>
        </p:nvSpPr>
        <p:spPr>
          <a:xfrm>
            <a:off x="8156448" y="1572768"/>
            <a:ext cx="2157984" cy="4352544"/>
          </a:xfrm>
          <a:prstGeom prst="roundRect">
            <a:avLst>
              <a:gd name="adj" fmla="val 9322"/>
            </a:avLst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8302752" y="1755648"/>
            <a:ext cx="18653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Profile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284464" y="2139696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/>
        </p:spPr>
      </p:sp>
      <p:sp>
        <p:nvSpPr>
          <p:cNvPr id="44" name="Text 42"/>
          <p:cNvSpPr/>
          <p:nvPr/>
        </p:nvSpPr>
        <p:spPr>
          <a:xfrm>
            <a:off x="8284464" y="21214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Diabetes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272016" y="2139696"/>
            <a:ext cx="65836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72016" y="2121408"/>
            <a:ext cx="6583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CKD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84464" y="2596896"/>
            <a:ext cx="1901952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94192" y="2670048"/>
            <a:ext cx="1682496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Potassium intake</a:t>
            </a:r>
            <a:endParaRPr lang="en-US" sz="8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— high in today's picks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284464" y="3438144"/>
            <a:ext cx="1901952" cy="310896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/>
        </p:spPr>
      </p:sp>
      <p:sp>
        <p:nvSpPr>
          <p:cNvPr id="50" name="Text 48"/>
          <p:cNvSpPr/>
          <p:nvPr/>
        </p:nvSpPr>
        <p:spPr>
          <a:xfrm>
            <a:off x="8284464" y="3429000"/>
            <a:ext cx="19019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284464" y="3895344"/>
            <a:ext cx="1901952" cy="123444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403336" y="4069080"/>
            <a:ext cx="82296" cy="822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3" name="Text 51"/>
          <p:cNvSpPr/>
          <p:nvPr/>
        </p:nvSpPr>
        <p:spPr>
          <a:xfrm>
            <a:off x="8558784" y="4005072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Carbohydrates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403336" y="4416552"/>
            <a:ext cx="82296" cy="8229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8558784" y="4352544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Sodium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8403336" y="4764024"/>
            <a:ext cx="82296" cy="8229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8558784" y="4700016"/>
            <a:ext cx="16276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Protein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284464" y="5285232"/>
            <a:ext cx="1901952" cy="347472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/>
        </p:spPr>
      </p:sp>
      <p:sp>
        <p:nvSpPr>
          <p:cNvPr id="59" name="Text 57"/>
          <p:cNvSpPr/>
          <p:nvPr/>
        </p:nvSpPr>
        <p:spPr>
          <a:xfrm>
            <a:off x="8284464" y="5276088"/>
            <a:ext cx="1901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Profile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Definition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Problems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1975104"/>
            <a:ext cx="54864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3969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Guessing whether a dish is personally safe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61518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confusing nutrition labels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0906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calorie apps ignore medical context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56616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Remembering every doctor restriction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04164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personalized recommendations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45352" y="1463040"/>
            <a:ext cx="539496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6276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Solution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19672" y="1975104"/>
            <a:ext cx="54864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9672" y="2139696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food scanning by photo or name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19672" y="2615184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Disease-aware, multi-condition analysis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19672" y="3090672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explanations for every verdict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9672" y="3566160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Nutrient-based reasoning per condition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9672" y="4041648"/>
            <a:ext cx="4892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 </a:t>
            </a:r>
            <a:pPr algn="l" indent="0" marL="0">
              <a:buNone/>
            </a:pPr>
            <a:r>
              <a:rPr lang="en-US" sz="11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Indian alternatives suggested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463040" y="5074920"/>
            <a:ext cx="9262872" cy="1051560"/>
          </a:xfrm>
          <a:prstGeom prst="roundRect">
            <a:avLst>
              <a:gd name="adj" fmla="val 7826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4956048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2377440" y="507492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Generic diet apps answer “How much?”  —  </a:t>
            </a:r>
            <a:pPr algn="ctr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answers “Can I eat this?”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 &amp;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1094415" cy="960120"/>
          </a:xfrm>
          <a:prstGeom prst="roundRect">
            <a:avLst>
              <a:gd name="adj" fmla="val 8571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713232" cy="320040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19072"/>
            <a:ext cx="7132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91640" y="1417320"/>
            <a:ext cx="9784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 an AI-powered mobile application that identifies food and determines whether it is safe according to a patient's medical condition.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70048"/>
            <a:ext cx="356616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52928"/>
            <a:ext cx="329184" cy="329184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43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285292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food identification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34747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Vision-model recognition from a single photo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11396" y="2670048"/>
            <a:ext cx="356616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4276" y="2852928"/>
            <a:ext cx="329184" cy="329184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16" name="Text 14"/>
          <p:cNvSpPr/>
          <p:nvPr/>
        </p:nvSpPr>
        <p:spPr>
          <a:xfrm>
            <a:off x="4494276" y="2843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3188" y="285292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dietary profile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30852" y="34747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Conditions, allergies and doctor notes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74152" y="2670048"/>
            <a:ext cx="356616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57032" y="2852928"/>
            <a:ext cx="329184" cy="329184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21" name="Text 19"/>
          <p:cNvSpPr/>
          <p:nvPr/>
        </p:nvSpPr>
        <p:spPr>
          <a:xfrm>
            <a:off x="8257032" y="2843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95944" y="285292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scanning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93608" y="34747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extraction of diagnoses from Rx photos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356616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626864"/>
            <a:ext cx="329184" cy="329184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70432" y="46268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Nutritional analysis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8096" y="5248656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Per-dish nutrient factors mapped to guidelines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11396" y="4443984"/>
            <a:ext cx="356616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94276" y="4626864"/>
            <a:ext cx="329184" cy="329184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31" name="Text 29"/>
          <p:cNvSpPr/>
          <p:nvPr/>
        </p:nvSpPr>
        <p:spPr>
          <a:xfrm>
            <a:off x="4494276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3188" y="46268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Three-level verdict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30852" y="5248656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· Moderation · Not Recommended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074152" y="4443984"/>
            <a:ext cx="3566160" cy="1591056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57032" y="4626864"/>
            <a:ext cx="329184" cy="329184"/>
          </a:xfrm>
          <a:prstGeom prst="ellipse">
            <a:avLst/>
          </a:prstGeom>
          <a:solidFill>
            <a:srgbClr val="E6F5F2"/>
          </a:solidFill>
          <a:ln/>
        </p:spPr>
      </p:sp>
      <p:sp>
        <p:nvSpPr>
          <p:cNvPr id="36" name="Text 34"/>
          <p:cNvSpPr/>
          <p:nvPr/>
        </p:nvSpPr>
        <p:spPr>
          <a:xfrm>
            <a:off x="8257032" y="4617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95944" y="4626864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&amp; accessibility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293608" y="5248656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Searchable log; Android, iOS and web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22960"/>
                <a:gridCol w="5394960"/>
                <a:gridCol w="42336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 / Contribution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7A6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[1]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CNN-based food image recognition for dietary assessment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Calorie logging only — no disease-aware rules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[2]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Knowledge-based nutrition recommender systems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Single-condition focus; rigid static rules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[3]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Ontology-driven medical food analysis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text entry; no vision input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[4]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Transformer models for mixed-meal recognition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accuracy on Indian dishes; no personalization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7A6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[5]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47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LLM-assisted personalized diet guidance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Unverifiable outputs; weak explainability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Summarized for seminar presentation — full citations listed under References.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Gap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SYSTEMS — LIMITATIONS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8249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1051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Calorie counting only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2860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notion of medical safety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85950" y="2980944"/>
            <a:ext cx="0" cy="32918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60420" y="168249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5012" y="181051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multi-condition support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5012" y="22860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disease at a time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97730" y="2980944"/>
            <a:ext cx="0" cy="32918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72200" y="168249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81051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prescription understanding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36792" y="22860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Profiles built fully by hand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509510" y="2980944"/>
            <a:ext cx="0" cy="32918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983980" y="168249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8572" y="181051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personalization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8572" y="228600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advice for everyone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0321290" y="2980944"/>
            <a:ext cx="0" cy="329184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48640" y="3401568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INNOVATION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69417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82219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vision food recognition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" y="429768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dishes from photos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60420" y="369417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5012" y="382219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Multi-condition rule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525012" y="429768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Most-restrictive verdict wins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369417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382219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 OCR onboarding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36792" y="429768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 photo builds the profile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83980" y="3694176"/>
            <a:ext cx="2674620" cy="1207008"/>
          </a:xfrm>
          <a:prstGeom prst="roundRect">
            <a:avLst>
              <a:gd name="adj" fmla="val 6818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8572" y="3822192"/>
            <a:ext cx="23500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localized alternatives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148572" y="4297680"/>
            <a:ext cx="235000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Regional, realistic swaps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63040" y="53492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645920" y="5522976"/>
            <a:ext cx="128016" cy="128016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37" name="Text 35"/>
          <p:cNvSpPr/>
          <p:nvPr/>
        </p:nvSpPr>
        <p:spPr>
          <a:xfrm>
            <a:off x="1847088" y="5349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86200" y="53492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9080" y="5522976"/>
            <a:ext cx="128016" cy="128016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0" name="Text 38"/>
          <p:cNvSpPr/>
          <p:nvPr/>
        </p:nvSpPr>
        <p:spPr>
          <a:xfrm>
            <a:off x="4270248" y="5349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309360" y="53492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5522976"/>
            <a:ext cx="128016" cy="128016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3" name="Text 41"/>
          <p:cNvSpPr/>
          <p:nvPr/>
        </p:nvSpPr>
        <p:spPr>
          <a:xfrm>
            <a:off x="6693408" y="5349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Cross-platform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732520" y="534924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15400" y="5522976"/>
            <a:ext cx="128016" cy="128016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6" name="Text 44"/>
          <p:cNvSpPr/>
          <p:nvPr/>
        </p:nvSpPr>
        <p:spPr>
          <a:xfrm>
            <a:off x="9116568" y="5349240"/>
            <a:ext cx="1783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15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07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&amp; Software Requirements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658368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27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1993392"/>
            <a:ext cx="548640" cy="0"/>
          </a:xfrm>
          <a:prstGeom prst="line">
            <a:avLst/>
          </a:prstGeom>
          <a:noFill/>
          <a:ln w="25400">
            <a:solidFill>
              <a:srgbClr val="0F9D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2128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32257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313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53312" y="22128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(Expo)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31920" y="2212848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41648" y="232257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23134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462272" y="221284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2962656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2688" y="307238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53312" y="29626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Express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931920" y="2962656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41648" y="307238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1648" y="30632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62272" y="296265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HeroUI Native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3712464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382219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53312" y="37124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931920" y="3712464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41648" y="382219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41648" y="3813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462272" y="371246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API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2960" y="4462272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2688" y="45720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4562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353312" y="44622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Authentication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931920" y="4462272"/>
            <a:ext cx="2880360" cy="548640"/>
          </a:xfrm>
          <a:prstGeom prst="roundRect">
            <a:avLst>
              <a:gd name="adj" fmla="val 15000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41648" y="457200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45628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462272" y="44622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AsyncStorage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7342632" y="1463040"/>
            <a:ext cx="4297680" cy="388620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16952" y="16276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7616952" y="1993392"/>
            <a:ext cx="548640" cy="0"/>
          </a:xfrm>
          <a:prstGeom prst="line">
            <a:avLst/>
          </a:prstGeom>
          <a:noFill/>
          <a:ln w="25400">
            <a:solidFill>
              <a:srgbClr val="0F9D8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16952" y="2286000"/>
            <a:ext cx="109728" cy="10972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4" name="Text 42"/>
          <p:cNvSpPr/>
          <p:nvPr/>
        </p:nvSpPr>
        <p:spPr>
          <a:xfrm>
            <a:off x="7818120" y="21671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Smartphone — Android / iOS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Camera-equipped device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616952" y="2907792"/>
            <a:ext cx="109728" cy="10972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6" name="Text 44"/>
          <p:cNvSpPr/>
          <p:nvPr/>
        </p:nvSpPr>
        <p:spPr>
          <a:xfrm>
            <a:off x="7818120" y="278892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Camera module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Food &amp; prescription capture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616952" y="3529584"/>
            <a:ext cx="109728" cy="10972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48" name="Text 46"/>
          <p:cNvSpPr/>
          <p:nvPr/>
        </p:nvSpPr>
        <p:spPr>
          <a:xfrm>
            <a:off x="7818120" y="341071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 connection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Cloud AI inference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616952" y="4151376"/>
            <a:ext cx="109728" cy="10972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50" name="Text 48"/>
          <p:cNvSpPr/>
          <p:nvPr/>
        </p:nvSpPr>
        <p:spPr>
          <a:xfrm>
            <a:off x="7818120" y="4032504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server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Hosts Express REST API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616952" y="4773168"/>
            <a:ext cx="109728" cy="109728"/>
          </a:xfrm>
          <a:prstGeom prst="ellipse">
            <a:avLst/>
          </a:prstGeom>
          <a:solidFill>
            <a:srgbClr val="0F9D8A"/>
          </a:solidFill>
          <a:ln/>
        </p:spPr>
      </p:sp>
      <p:sp>
        <p:nvSpPr>
          <p:cNvPr id="52" name="Text 50"/>
          <p:cNvSpPr/>
          <p:nvPr/>
        </p:nvSpPr>
        <p:spPr>
          <a:xfrm>
            <a:off x="7818120" y="4654296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 support  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In-app completion alerts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tooling is free-tier friendly and runs on standard student hardware.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15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 · CAPTURE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66420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6642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87168" y="1947672"/>
            <a:ext cx="246888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43784" y="166420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8648" y="16642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/ Onboarding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82312" y="1947672"/>
            <a:ext cx="246888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38928" y="166420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93792" y="16642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Profile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77456" y="1947672"/>
            <a:ext cx="246888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34072" y="166420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16642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Food Search or Scan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372600" y="1947672"/>
            <a:ext cx="246888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29216" y="166420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E6F5F2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0" y="166420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Vision Model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716768" y="2231136"/>
            <a:ext cx="0" cy="804672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548640" y="3127248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 · ANALYZE &amp; DECIDE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290304" y="340156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45168" y="3401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Nutrition Database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95160" y="340156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3401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Multi-condition Rule Engine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33688" y="3685032"/>
            <a:ext cx="356616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00016" y="340156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401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Explanation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38544" y="3685032"/>
            <a:ext cx="356616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404872" y="340156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9736" y="3401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 · MODERATE · AVOID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3685032"/>
            <a:ext cx="356616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3401568"/>
            <a:ext cx="193852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3401568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 Saved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487168" y="3685032"/>
            <a:ext cx="-82296" cy="0"/>
          </a:xfrm>
          <a:prstGeom prst="line">
            <a:avLst/>
          </a:prstGeom>
          <a:noFill/>
          <a:ln w="22225">
            <a:solidFill>
              <a:srgbClr val="0F9D8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3968496"/>
            <a:ext cx="0" cy="0"/>
          </a:xfrm>
          <a:prstGeom prst="line">
            <a:avLst/>
          </a:prstGeom>
          <a:noFill/>
          <a:ln/>
        </p:spPr>
      </p:sp>
      <p:sp>
        <p:nvSpPr>
          <p:cNvPr id="37" name="Shape 35"/>
          <p:cNvSpPr/>
          <p:nvPr/>
        </p:nvSpPr>
        <p:spPr>
          <a:xfrm>
            <a:off x="548640" y="443484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434840"/>
            <a:ext cx="54864" cy="1051560"/>
          </a:xfrm>
          <a:prstGeom prst="line">
            <a:avLst/>
          </a:prstGeom>
          <a:noFill/>
          <a:ln w="38100">
            <a:solidFill>
              <a:srgbClr val="0F9D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45537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core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49808" y="482803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 runs locally — verdicts never depend on AI availability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11396" y="443484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311396" y="4434840"/>
            <a:ext cx="54864" cy="1051560"/>
          </a:xfrm>
          <a:prstGeom prst="line">
            <a:avLst/>
          </a:prstGeom>
          <a:noFill/>
          <a:ln w="38100">
            <a:solidFill>
              <a:srgbClr val="0F9D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12564" y="45537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 keys only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12564" y="482803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 keys never ship inside the app bundle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074152" y="4434840"/>
            <a:ext cx="3566160" cy="1051560"/>
          </a:xfrm>
          <a:prstGeom prst="roundRect">
            <a:avLst>
              <a:gd name="adj" fmla="val 782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74152" y="4434840"/>
            <a:ext cx="54864" cy="1051560"/>
          </a:xfrm>
          <a:prstGeom prst="line">
            <a:avLst/>
          </a:prstGeom>
          <a:noFill/>
          <a:ln w="38100">
            <a:solidFill>
              <a:srgbClr val="0F9D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4553712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fallback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275320" y="4828032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AI keys, text checks still work via the local engine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48640" y="5806440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completed check is saved to history — searchable, re-openable, deletable.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09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463040"/>
            <a:ext cx="9418320" cy="786384"/>
          </a:xfrm>
          <a:prstGeom prst="roundRect">
            <a:avLst>
              <a:gd name="adj" fmla="val 1046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72768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572768" y="18653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App (Expo)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06240" y="1655064"/>
            <a:ext cx="76809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645920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38928" y="1655064"/>
            <a:ext cx="76809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8928" y="1645920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71616" y="1655064"/>
            <a:ext cx="1056132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71616" y="1645920"/>
            <a:ext cx="10561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92340" y="1655064"/>
            <a:ext cx="1056132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2340" y="1645920"/>
            <a:ext cx="10561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927080" y="165506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2249424"/>
            <a:ext cx="0" cy="19659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1600" y="2446020"/>
            <a:ext cx="94183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572768" y="25374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Layer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572768" y="28483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Services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06240" y="2638044"/>
            <a:ext cx="76809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2628900"/>
            <a:ext cx="768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38928" y="2638044"/>
            <a:ext cx="96012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38928" y="2628900"/>
            <a:ext cx="960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2638044"/>
            <a:ext cx="115214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628900"/>
            <a:ext cx="1152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580376" y="2638044"/>
            <a:ext cx="1056132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80376" y="2628900"/>
            <a:ext cx="10561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801100" y="2638044"/>
            <a:ext cx="16322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01100" y="2628900"/>
            <a:ext cx="16322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927080" y="263804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3232404"/>
            <a:ext cx="0" cy="19659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371600" y="3429000"/>
            <a:ext cx="9418320" cy="786384"/>
          </a:xfrm>
          <a:prstGeom prst="roundRect">
            <a:avLst>
              <a:gd name="adj" fmla="val 1046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72768" y="35204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572768" y="38313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REST API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06240" y="3621024"/>
            <a:ext cx="115214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0" y="3611880"/>
            <a:ext cx="11521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Auth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22976" y="3621024"/>
            <a:ext cx="1728216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22976" y="3611880"/>
            <a:ext cx="172821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Multer Uploads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927080" y="362102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80760" y="4215384"/>
            <a:ext cx="0" cy="19659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371600" y="4411980"/>
            <a:ext cx="94183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72768" y="45034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572768" y="48143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Layer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206240" y="4604004"/>
            <a:ext cx="1632204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4594860"/>
            <a:ext cx="16322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Vision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03036" y="4604004"/>
            <a:ext cx="1920240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03036" y="4594860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Nutrition Engine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087868" y="4604004"/>
            <a:ext cx="2016252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87868" y="4594860"/>
            <a:ext cx="20162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 Fallback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27080" y="460400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80760" y="5198364"/>
            <a:ext cx="0" cy="196596"/>
          </a:xfrm>
          <a:prstGeom prst="line">
            <a:avLst/>
          </a:prstGeom>
          <a:noFill/>
          <a:ln w="2222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371600" y="5394960"/>
            <a:ext cx="9418320" cy="786384"/>
          </a:xfrm>
          <a:prstGeom prst="roundRect">
            <a:avLst>
              <a:gd name="adj" fmla="val 1046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572768" y="54864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1572768" y="5797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Persistence &amp; Knowledge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206240" y="5586984"/>
            <a:ext cx="1536192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06240" y="5577840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907024" y="5586984"/>
            <a:ext cx="1824228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07024" y="5577840"/>
            <a:ext cx="18242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Foods DB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895844" y="5586984"/>
            <a:ext cx="1536192" cy="402336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95844" y="5577840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Storage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0927080" y="5586984"/>
            <a:ext cx="914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Experimental Output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57300" y="1554480"/>
            <a:ext cx="2148840" cy="4343400"/>
          </a:xfrm>
          <a:prstGeom prst="roundRect">
            <a:avLst>
              <a:gd name="adj" fmla="val 11915"/>
            </a:avLst>
          </a:prstGeom>
          <a:solidFill>
            <a:srgbClr val="111827"/>
          </a:solidFill>
          <a:ln/>
        </p:spPr>
      </p:sp>
      <p:sp>
        <p:nvSpPr>
          <p:cNvPr id="6" name="Shape 4"/>
          <p:cNvSpPr/>
          <p:nvPr/>
        </p:nvSpPr>
        <p:spPr>
          <a:xfrm>
            <a:off x="1321308" y="1618488"/>
            <a:ext cx="2020824" cy="4215384"/>
          </a:xfrm>
          <a:prstGeom prst="roundRect">
            <a:avLst>
              <a:gd name="adj" fmla="val 9955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67612" y="1783080"/>
            <a:ext cx="17282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afternoon,</a:t>
            </a:r>
            <a:endParaRPr lang="en-US" sz="7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Priya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49324" y="2395728"/>
            <a:ext cx="1764792" cy="868680"/>
          </a:xfrm>
          <a:prstGeom prst="roundRect">
            <a:avLst>
              <a:gd name="adj" fmla="val 9474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9052" y="2505456"/>
            <a:ext cx="154533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 I eat this?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safety verdict for your conditions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49324" y="3429000"/>
            <a:ext cx="176479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5628" y="3429000"/>
            <a:ext cx="1472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any dish…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49324" y="3886200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/>
        </p:spPr>
      </p:sp>
      <p:sp>
        <p:nvSpPr>
          <p:cNvPr id="13" name="Text 11"/>
          <p:cNvSpPr/>
          <p:nvPr/>
        </p:nvSpPr>
        <p:spPr>
          <a:xfrm>
            <a:off x="1449324" y="3867912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Food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449324" y="4379976"/>
            <a:ext cx="17647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F9D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49324" y="4361688"/>
            <a:ext cx="17647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 Food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67612" y="4928616"/>
            <a:ext cx="1728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CHECKS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449324" y="5166360"/>
            <a:ext cx="1764792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59052" y="5321808"/>
            <a:ext cx="91440" cy="914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1705356" y="519379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 Tadka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705356" y="5358384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449324" y="5641848"/>
            <a:ext cx="1764792" cy="402336"/>
          </a:xfrm>
          <a:prstGeom prst="roundRect">
            <a:avLst>
              <a:gd name="adj" fmla="val 2045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59052" y="579729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1705356" y="566928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Paneer Butter Masala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705356" y="5833872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868680" y="6035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68680" y="62727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the question in seconds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0056" y="1554480"/>
            <a:ext cx="2148840" cy="4343400"/>
          </a:xfrm>
          <a:prstGeom prst="roundRect">
            <a:avLst>
              <a:gd name="adj" fmla="val 11915"/>
            </a:avLst>
          </a:prstGeom>
          <a:solidFill>
            <a:srgbClr val="111827"/>
          </a:solidFill>
          <a:ln/>
        </p:spPr>
      </p:sp>
      <p:sp>
        <p:nvSpPr>
          <p:cNvPr id="28" name="Shape 26"/>
          <p:cNvSpPr/>
          <p:nvPr/>
        </p:nvSpPr>
        <p:spPr>
          <a:xfrm>
            <a:off x="5084064" y="1618488"/>
            <a:ext cx="2020824" cy="4215384"/>
          </a:xfrm>
          <a:prstGeom prst="roundRect">
            <a:avLst>
              <a:gd name="adj" fmla="val 9955"/>
            </a:avLst>
          </a:prstGeom>
          <a:solidFill>
            <a:srgbClr val="111827"/>
          </a:solidFill>
          <a:ln/>
        </p:spPr>
      </p:sp>
      <p:sp>
        <p:nvSpPr>
          <p:cNvPr id="29" name="Shape 27"/>
          <p:cNvSpPr/>
          <p:nvPr/>
        </p:nvSpPr>
        <p:spPr>
          <a:xfrm>
            <a:off x="5312664" y="2121408"/>
            <a:ext cx="1563624" cy="1563624"/>
          </a:xfrm>
          <a:prstGeom prst="roundRect">
            <a:avLst>
              <a:gd name="adj" fmla="val 7018"/>
            </a:avLst>
          </a:prstGeom>
          <a:solidFill>
            <a:srgbClr val="1F2937"/>
          </a:solidFill>
          <a:ln w="25400">
            <a:solidFill>
              <a:srgbClr val="0F9D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29884" y="2738628"/>
            <a:ext cx="329184" cy="329184"/>
          </a:xfrm>
          <a:prstGeom prst="ellipse">
            <a:avLst/>
          </a:prstGeom>
          <a:solidFill>
            <a:srgbClr val="374151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75504" y="3858768"/>
            <a:ext cx="18379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Identifying food…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58384" y="4224528"/>
            <a:ext cx="1472184" cy="82296"/>
          </a:xfrm>
          <a:prstGeom prst="roundRect">
            <a:avLst>
              <a:gd name="adj" fmla="val 50000"/>
            </a:avLst>
          </a:prstGeom>
          <a:solidFill>
            <a:srgbClr val="374151"/>
          </a:solidFill>
          <a:ln/>
        </p:spPr>
      </p:sp>
      <p:sp>
        <p:nvSpPr>
          <p:cNvPr id="33" name="Shape 31"/>
          <p:cNvSpPr/>
          <p:nvPr/>
        </p:nvSpPr>
        <p:spPr>
          <a:xfrm>
            <a:off x="5358384" y="4224528"/>
            <a:ext cx="912754" cy="82296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/>
        </p:spPr>
      </p:sp>
      <p:sp>
        <p:nvSpPr>
          <p:cNvPr id="34" name="Text 32"/>
          <p:cNvSpPr/>
          <p:nvPr/>
        </p:nvSpPr>
        <p:spPr>
          <a:xfrm>
            <a:off x="5175504" y="4453128"/>
            <a:ext cx="18379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Vision  →  Nutrition  →  Rules Engine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358384" y="5330952"/>
            <a:ext cx="1472184" cy="310896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58384" y="5312664"/>
            <a:ext cx="14721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Retake        Use Photo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31436" y="6035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Scanning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631436" y="62727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camera with AI progress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782812" y="1554480"/>
            <a:ext cx="2148840" cy="4343400"/>
          </a:xfrm>
          <a:prstGeom prst="roundRect">
            <a:avLst>
              <a:gd name="adj" fmla="val 11915"/>
            </a:avLst>
          </a:prstGeom>
          <a:solidFill>
            <a:srgbClr val="111827"/>
          </a:solidFill>
          <a:ln/>
        </p:spPr>
      </p:sp>
      <p:sp>
        <p:nvSpPr>
          <p:cNvPr id="40" name="Shape 38"/>
          <p:cNvSpPr/>
          <p:nvPr/>
        </p:nvSpPr>
        <p:spPr>
          <a:xfrm>
            <a:off x="8846820" y="1618488"/>
            <a:ext cx="2020824" cy="4215384"/>
          </a:xfrm>
          <a:prstGeom prst="roundRect">
            <a:avLst>
              <a:gd name="adj" fmla="val 9955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974836" y="1764792"/>
            <a:ext cx="1764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‹   Result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993124" y="2075688"/>
            <a:ext cx="17282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Paneer Butter Masala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974836" y="2459736"/>
            <a:ext cx="1764792" cy="329184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44" name="Text 42"/>
          <p:cNvSpPr/>
          <p:nvPr/>
        </p:nvSpPr>
        <p:spPr>
          <a:xfrm>
            <a:off x="8974836" y="2450592"/>
            <a:ext cx="1764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RECOMMENDED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74836" y="2935224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6C8C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74836" y="2916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Sodium ↑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9962388" y="293522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6C8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62388" y="29169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Sat. Fat ↑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8974836" y="3355848"/>
            <a:ext cx="1764792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066276" y="3410712"/>
            <a:ext cx="158191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sodium &amp; saturated fat conflict with your hypertension profile.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993124" y="4050792"/>
            <a:ext cx="17282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50" b="1" spc="15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SAFER ALTERNATIVES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8974836" y="4288536"/>
            <a:ext cx="48006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BE8D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974836" y="4270248"/>
            <a:ext cx="4800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546336" y="428853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BE8D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546336" y="42702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Roti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0186416" y="4288536"/>
            <a:ext cx="891540" cy="27432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12700">
            <a:solidFill>
              <a:srgbClr val="CBE8D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86416" y="4270248"/>
            <a:ext cx="8915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 Veg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974836" y="4727448"/>
            <a:ext cx="1764792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66276" y="4764024"/>
            <a:ext cx="15819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Checked against: Diabetes · Hypertension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8394192" y="6035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8394192" y="6272784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Verdict, reasons &amp; alternatives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15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83794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F5F2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1938528"/>
            <a:ext cx="310896" cy="31089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7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3836" y="2043684"/>
            <a:ext cx="100584" cy="100584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9" name="Text 7"/>
          <p:cNvSpPr/>
          <p:nvPr/>
        </p:nvSpPr>
        <p:spPr>
          <a:xfrm>
            <a:off x="1444752" y="18562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Restaurant menu scanning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25877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Point at any menu; get verdicts per item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29000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ED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11396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30852" y="183794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F5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22876" y="1929384"/>
            <a:ext cx="128016" cy="128016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8012" y="2084832"/>
            <a:ext cx="237744" cy="137160"/>
          </a:xfrm>
          <a:prstGeom prst="roundRect">
            <a:avLst>
              <a:gd name="adj" fmla="val 46667"/>
            </a:avLst>
          </a:prstGeom>
          <a:solidFill>
            <a:srgbClr val="0B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5207508" y="18562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Packaged-food recognition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67428" y="25877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scanning &amp; label parsing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191756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ED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74152" y="160020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3608" y="183794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F5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394192" y="1938528"/>
            <a:ext cx="310896" cy="31089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7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99348" y="2043684"/>
            <a:ext cx="100584" cy="100584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23" name="Text 21"/>
          <p:cNvSpPr/>
          <p:nvPr/>
        </p:nvSpPr>
        <p:spPr>
          <a:xfrm>
            <a:off x="8970264" y="185623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Wearable integration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30184" y="258775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CGM glucose trends refine verdicts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54512" y="30175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ED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8640" y="37490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398678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F5F2"/>
          </a:solidFill>
          <a:ln/>
        </p:spPr>
      </p:sp>
      <p:sp>
        <p:nvSpPr>
          <p:cNvPr id="28" name="Shape 26"/>
          <p:cNvSpPr/>
          <p:nvPr/>
        </p:nvSpPr>
        <p:spPr>
          <a:xfrm>
            <a:off x="960120" y="4078224"/>
            <a:ext cx="128016" cy="128016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5256" y="4233672"/>
            <a:ext cx="237744" cy="137160"/>
          </a:xfrm>
          <a:prstGeom prst="roundRect">
            <a:avLst>
              <a:gd name="adj" fmla="val 46667"/>
            </a:avLst>
          </a:prstGeom>
          <a:solidFill>
            <a:srgbClr val="0B7A6B"/>
          </a:solidFill>
          <a:ln/>
        </p:spPr>
      </p:sp>
      <p:sp>
        <p:nvSpPr>
          <p:cNvPr id="30" name="Text 28"/>
          <p:cNvSpPr/>
          <p:nvPr/>
        </p:nvSpPr>
        <p:spPr>
          <a:xfrm>
            <a:off x="1444752" y="400507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Clinician dashboard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4672" y="47365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Doctors review patient food history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429000" y="5166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ED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11396" y="37490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30852" y="398678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F5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631436" y="4087368"/>
            <a:ext cx="310896" cy="310896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0B7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36592" y="4192524"/>
            <a:ext cx="100584" cy="100584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37" name="Text 35"/>
          <p:cNvSpPr/>
          <p:nvPr/>
        </p:nvSpPr>
        <p:spPr>
          <a:xfrm>
            <a:off x="5207508" y="400507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patient sync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67428" y="47365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profiles across devices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91756" y="5166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ED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74152" y="374904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93608" y="3986784"/>
            <a:ext cx="512064" cy="512064"/>
          </a:xfrm>
          <a:prstGeom prst="roundRect">
            <a:avLst>
              <a:gd name="adj" fmla="val 21429"/>
            </a:avLst>
          </a:prstGeom>
          <a:solidFill>
            <a:srgbClr val="E6F5F2"/>
          </a:solidFill>
          <a:ln/>
        </p:spPr>
      </p:sp>
      <p:sp>
        <p:nvSpPr>
          <p:cNvPr id="42" name="Shape 40"/>
          <p:cNvSpPr/>
          <p:nvPr/>
        </p:nvSpPr>
        <p:spPr>
          <a:xfrm>
            <a:off x="8485632" y="4078224"/>
            <a:ext cx="128016" cy="128016"/>
          </a:xfrm>
          <a:prstGeom prst="ellipse">
            <a:avLst/>
          </a:prstGeom>
          <a:solidFill>
            <a:srgbClr val="0B7A6B"/>
          </a:solidFill>
          <a:ln/>
        </p:spPr>
      </p:sp>
      <p:sp>
        <p:nvSpPr>
          <p:cNvPr id="43" name="Shape 41"/>
          <p:cNvSpPr/>
          <p:nvPr/>
        </p:nvSpPr>
        <p:spPr>
          <a:xfrm>
            <a:off x="8430768" y="4233672"/>
            <a:ext cx="237744" cy="137160"/>
          </a:xfrm>
          <a:prstGeom prst="roundRect">
            <a:avLst>
              <a:gd name="adj" fmla="val 46667"/>
            </a:avLst>
          </a:prstGeom>
          <a:solidFill>
            <a:srgbClr val="0B7A6B"/>
          </a:solidFill>
          <a:ln/>
        </p:spPr>
      </p:sp>
      <p:sp>
        <p:nvSpPr>
          <p:cNvPr id="44" name="Text 42"/>
          <p:cNvSpPr/>
          <p:nvPr/>
        </p:nvSpPr>
        <p:spPr>
          <a:xfrm>
            <a:off x="8970264" y="4005072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Multi-language support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8330184" y="473659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Hindi and regional Indian languages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954512" y="5166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9ED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15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4982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17922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9888" y="1792224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food safety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89888" y="2157984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or name to verdict in seconds, powered by vision AI plus deterministic rules.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90488" y="1554480"/>
            <a:ext cx="544982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9944" y="179222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9944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31736" y="1792224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medical analysis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031736" y="2157984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nutrient factor evaluated against the patient's own condition set.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544982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35753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89888" y="3575304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Explainable nutrient reasoning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89888" y="3941064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Sodium, potassium, sugar — each verdict comes with its why.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0488" y="3337560"/>
            <a:ext cx="5449824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3575304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E6F5F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9944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31736" y="3575304"/>
            <a:ext cx="4389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Accessible healthcare utility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031736" y="3941064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codebase serving Android, iOS and web patients alike.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463040" y="5257800"/>
            <a:ext cx="9262872" cy="914400"/>
          </a:xfrm>
          <a:prstGeom prst="roundRect">
            <a:avLst>
              <a:gd name="adj" fmla="val 9000"/>
            </a:avLst>
          </a:prstGeom>
          <a:solidFill>
            <a:srgbClr val="E6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5257800"/>
            <a:ext cx="8165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7A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Helping patients make safer food decisions in seconds through explainable AI.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200" kern="0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25296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  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U.S. Department of Agriculture, “FoodData Central Database,” Agricultural Research Service, 2024. [Online]. Available: https://fdc.nal.usda.gov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20370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  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DeepMind, “Gemini API — Vision and Multimodal Generation Documentation,” Google AI Studio, 2025.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80720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  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Platforms and Expo Team, “React Native and Expo Framework Documentation,” 2025. [Online]. Available: https://docs.expo.dev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4107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  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 Health Organization, “Healthy Diet — Key Facts,” WHO Fact Sheet, Geneva, 2020.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01421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  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American Diabetes Association, “Standards of Care in Diabetes — Nutrition Therapy,” Diabetes Care, vol. 47, 2024.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   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Kidney Foundation, “KDOQI Clinical Practice Guideline for Nutrition in CKD: 2020 Update,” American Journal of Kidney Diseases, vol. 77, no. 4, 2020.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5221224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F9D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   </a:t>
            </a:r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D47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NIAID-Sponsored Expert Panel, “Guidelines for the Diagnosis and Management of Food Allergy in the United States,” Journal of Allergy and Clinical Immunology, 2023 update.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5989320"/>
            <a:ext cx="10515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— Questions &amp; Discussion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6473952"/>
            <a:ext cx="110944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NutriCheck — External Seminar (Project Phase-I) · Session 2026–27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814255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NutriCheck: AI-Based Food Safety Check for Patients</dc:title>
  <dc:subject>PptxGenJS Presentation</dc:subject>
  <dc:creator>NutriCheck Seminar</dc:creator>
  <cp:lastModifiedBy>NutriCheck Seminar</cp:lastModifiedBy>
  <cp:revision>1</cp:revision>
  <dcterms:created xsi:type="dcterms:W3CDTF">2026-08-23T12:29:57Z</dcterms:created>
  <dcterms:modified xsi:type="dcterms:W3CDTF">2026-08-23T12:29:57Z</dcterms:modified>
</cp:coreProperties>
</file>
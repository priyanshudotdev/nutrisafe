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6858000"/>
  <p:notesSz cx="6858000" cy="9144000"/>
  <p:embeddedFontLst>
    <p:embeddedFont>
      <p:font typeface="Times New Roman" charset="1" panose="02020603050405020304"/>
      <p:regular r:id="rId25"/>
    </p:embeddedFont>
    <p:embeddedFont>
      <p:font typeface="Times New Roman Bold" charset="1" panose="02020803070505020304"/>
      <p:regular r:id="rId26"/>
    </p:embeddedFont>
    <p:embeddedFont>
      <p:font typeface="Calibri (MS)" charset="1" panose="020F0502020204030204"/>
      <p:regular r:id="rId27"/>
    </p:embeddedFont>
    <p:embeddedFont>
      <p:font typeface="Arial Bold" charset="1" panose="020B0704020202020204"/>
      <p:regular r:id="rId28"/>
    </p:embeddedFont>
    <p:embeddedFont>
      <p:font typeface="Calibri (MS) Bold" charset="1" panose="020F0702030404030204"/>
      <p:regular r:id="rId29"/>
    </p:embeddedFont>
    <p:embeddedFont>
      <p:font typeface="Canva Sans Bold" charset="1" panose="020B0803030501040103"/>
      <p:regular r:id="rId30"/>
    </p:embeddedFont>
    <p:embeddedFont>
      <p:font typeface="Canva Sans" charset="1" panose="020B0503030501040103"/>
      <p:regular r:id="rId31"/>
    </p:embeddedFont>
    <p:embeddedFont>
      <p:font typeface="Lato" charset="1" panose="020F0502020204030203"/>
      <p:regular r:id="rId32"/>
    </p:embeddedFont>
    <p:embeddedFont>
      <p:font typeface="Lato Heavy" charset="1" panose="020F05020202040302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jpe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11.png" Type="http://schemas.openxmlformats.org/officeDocument/2006/relationships/image"/><Relationship Id="rId20" Target="../media/image29.png" Type="http://schemas.openxmlformats.org/officeDocument/2006/relationships/image"/><Relationship Id="rId21" Target="../media/image30.svg" Type="http://schemas.openxmlformats.org/officeDocument/2006/relationships/image"/><Relationship Id="rId22" Target="../media/image31.png" Type="http://schemas.openxmlformats.org/officeDocument/2006/relationships/image"/><Relationship Id="rId23" Target="../media/image32.svg" Type="http://schemas.openxmlformats.org/officeDocument/2006/relationships/image"/><Relationship Id="rId24" Target="../media/image33.png" Type="http://schemas.openxmlformats.org/officeDocument/2006/relationships/image"/><Relationship Id="rId25" Target="../media/image34.svg" Type="http://schemas.openxmlformats.org/officeDocument/2006/relationships/image"/><Relationship Id="rId26" Target="../media/image35.png" Type="http://schemas.openxmlformats.org/officeDocument/2006/relationships/image"/><Relationship Id="rId27" Target="../media/image36.svg" Type="http://schemas.openxmlformats.org/officeDocument/2006/relationships/image"/><Relationship Id="rId28" Target="../media/image37.png" Type="http://schemas.openxmlformats.org/officeDocument/2006/relationships/image"/><Relationship Id="rId29" Target="../media/image38.png" Type="http://schemas.openxmlformats.org/officeDocument/2006/relationships/image"/><Relationship Id="rId3" Target="../media/image12.svg" Type="http://schemas.openxmlformats.org/officeDocument/2006/relationships/image"/><Relationship Id="rId30" Target="../media/image39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15.jpe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40.png" Type="http://schemas.openxmlformats.org/officeDocument/2006/relationships/image"/><Relationship Id="rId12" Target="../media/image41.svg" Type="http://schemas.openxmlformats.org/officeDocument/2006/relationships/image"/><Relationship Id="rId13" Target="../media/image42.png" Type="http://schemas.openxmlformats.org/officeDocument/2006/relationships/image"/><Relationship Id="rId14" Target="../media/image43.svg" Type="http://schemas.openxmlformats.org/officeDocument/2006/relationships/image"/><Relationship Id="rId15" Target="../media/image44.png" Type="http://schemas.openxmlformats.org/officeDocument/2006/relationships/image"/><Relationship Id="rId16" Target="../media/image45.svg" Type="http://schemas.openxmlformats.org/officeDocument/2006/relationships/image"/><Relationship Id="rId17" Target="../media/image37.png" Type="http://schemas.openxmlformats.org/officeDocument/2006/relationships/image"/><Relationship Id="rId18" Target="../media/image38.png" Type="http://schemas.openxmlformats.org/officeDocument/2006/relationships/image"/><Relationship Id="rId19" Target="../media/image39.png" Type="http://schemas.openxmlformats.org/officeDocument/2006/relationships/image"/><Relationship Id="rId2" Target="../media/image11.png" Type="http://schemas.openxmlformats.org/officeDocument/2006/relationships/image"/><Relationship Id="rId20" Target="../media/image46.png" Type="http://schemas.openxmlformats.org/officeDocument/2006/relationships/image"/><Relationship Id="rId21" Target="../media/image47.svg" Type="http://schemas.openxmlformats.org/officeDocument/2006/relationships/image"/><Relationship Id="rId22" Target="../media/image48.png" Type="http://schemas.openxmlformats.org/officeDocument/2006/relationships/image"/><Relationship Id="rId23" Target="../media/image49.svg" Type="http://schemas.openxmlformats.org/officeDocument/2006/relationships/image"/><Relationship Id="rId24" Target="../media/image50.png" Type="http://schemas.openxmlformats.org/officeDocument/2006/relationships/image"/><Relationship Id="rId25" Target="../media/image51.svg" Type="http://schemas.openxmlformats.org/officeDocument/2006/relationships/image"/><Relationship Id="rId26" Target="../media/image52.png" Type="http://schemas.openxmlformats.org/officeDocument/2006/relationships/image"/><Relationship Id="rId27" Target="../media/image53.svg" Type="http://schemas.openxmlformats.org/officeDocument/2006/relationships/image"/><Relationship Id="rId28" Target="../media/image54.png" Type="http://schemas.openxmlformats.org/officeDocument/2006/relationships/image"/><Relationship Id="rId29" Target="../media/image55.svg" Type="http://schemas.openxmlformats.org/officeDocument/2006/relationships/image"/><Relationship Id="rId3" Target="../media/image12.svg" Type="http://schemas.openxmlformats.org/officeDocument/2006/relationships/image"/><Relationship Id="rId4" Target="../media/image15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56.png" Type="http://schemas.openxmlformats.org/officeDocument/2006/relationships/image"/><Relationship Id="rId12" Target="../media/image57.png" Type="http://schemas.openxmlformats.org/officeDocument/2006/relationships/image"/><Relationship Id="rId13" Target="../media/image58.png" Type="http://schemas.openxmlformats.org/officeDocument/2006/relationships/image"/><Relationship Id="rId14" Target="../media/image59.svg" Type="http://schemas.openxmlformats.org/officeDocument/2006/relationships/image"/><Relationship Id="rId15" Target="../media/image60.png" Type="http://schemas.openxmlformats.org/officeDocument/2006/relationships/image"/><Relationship Id="rId16" Target="../media/image61.png" Type="http://schemas.openxmlformats.org/officeDocument/2006/relationships/image"/><Relationship Id="rId17" Target="../media/image62.svg" Type="http://schemas.openxmlformats.org/officeDocument/2006/relationships/image"/><Relationship Id="rId18" Target="../media/image63.png" Type="http://schemas.openxmlformats.org/officeDocument/2006/relationships/image"/><Relationship Id="rId19" Target="../media/image64.svg" Type="http://schemas.openxmlformats.org/officeDocument/2006/relationships/image"/><Relationship Id="rId2" Target="../media/image11.png" Type="http://schemas.openxmlformats.org/officeDocument/2006/relationships/image"/><Relationship Id="rId20" Target="../media/image37.png" Type="http://schemas.openxmlformats.org/officeDocument/2006/relationships/image"/><Relationship Id="rId21" Target="../media/image38.png" Type="http://schemas.openxmlformats.org/officeDocument/2006/relationships/image"/><Relationship Id="rId22" Target="../media/image39.png" Type="http://schemas.openxmlformats.org/officeDocument/2006/relationships/image"/><Relationship Id="rId23" Target="../media/image25.png" Type="http://schemas.openxmlformats.org/officeDocument/2006/relationships/image"/><Relationship Id="rId24" Target="../media/image26.svg" Type="http://schemas.openxmlformats.org/officeDocument/2006/relationships/image"/><Relationship Id="rId25" Target="../media/image65.png" Type="http://schemas.openxmlformats.org/officeDocument/2006/relationships/image"/><Relationship Id="rId26" Target="../media/image66.svg" Type="http://schemas.openxmlformats.org/officeDocument/2006/relationships/image"/><Relationship Id="rId27" Target="../media/image67.png" Type="http://schemas.openxmlformats.org/officeDocument/2006/relationships/image"/><Relationship Id="rId28" Target="../media/image68.svg" Type="http://schemas.openxmlformats.org/officeDocument/2006/relationships/image"/><Relationship Id="rId29" Target="../media/image69.png" Type="http://schemas.openxmlformats.org/officeDocument/2006/relationships/image"/><Relationship Id="rId3" Target="../media/image12.svg" Type="http://schemas.openxmlformats.org/officeDocument/2006/relationships/image"/><Relationship Id="rId30" Target="../media/image70.svg" Type="http://schemas.openxmlformats.org/officeDocument/2006/relationships/image"/><Relationship Id="rId31" Target="../media/image71.png" Type="http://schemas.openxmlformats.org/officeDocument/2006/relationships/image"/><Relationship Id="rId4" Target="../media/image15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72.png" Type="http://schemas.openxmlformats.org/officeDocument/2006/relationships/image"/><Relationship Id="rId12" Target="../media/image73.png" Type="http://schemas.openxmlformats.org/officeDocument/2006/relationships/image"/><Relationship Id="rId13" Target="../media/image74.svg" Type="http://schemas.openxmlformats.org/officeDocument/2006/relationships/image"/><Relationship Id="rId14" Target="../media/image75.png" Type="http://schemas.openxmlformats.org/officeDocument/2006/relationships/image"/><Relationship Id="rId15" Target="../media/image76.svg" Type="http://schemas.openxmlformats.org/officeDocument/2006/relationships/image"/><Relationship Id="rId16" Target="../media/image77.png" Type="http://schemas.openxmlformats.org/officeDocument/2006/relationships/image"/><Relationship Id="rId17" Target="../media/image78.svg" Type="http://schemas.openxmlformats.org/officeDocument/2006/relationships/image"/><Relationship Id="rId18" Target="../media/image79.png" Type="http://schemas.openxmlformats.org/officeDocument/2006/relationships/image"/><Relationship Id="rId19" Target="../media/image80.png" Type="http://schemas.openxmlformats.org/officeDocument/2006/relationships/image"/><Relationship Id="rId2" Target="../media/image11.png" Type="http://schemas.openxmlformats.org/officeDocument/2006/relationships/image"/><Relationship Id="rId20" Target="../media/image81.png" Type="http://schemas.openxmlformats.org/officeDocument/2006/relationships/image"/><Relationship Id="rId3" Target="../media/image12.svg" Type="http://schemas.openxmlformats.org/officeDocument/2006/relationships/image"/><Relationship Id="rId4" Target="../media/image15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82.png" Type="http://schemas.openxmlformats.org/officeDocument/2006/relationships/image"/><Relationship Id="rId12" Target="../media/image22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83.png" Type="http://schemas.openxmlformats.org/officeDocument/2006/relationships/image"/><Relationship Id="rId12" Target="../media/image84.svg" Type="http://schemas.openxmlformats.org/officeDocument/2006/relationships/image"/><Relationship Id="rId13" Target="../media/image27.png" Type="http://schemas.openxmlformats.org/officeDocument/2006/relationships/image"/><Relationship Id="rId14" Target="../media/image28.svg" Type="http://schemas.openxmlformats.org/officeDocument/2006/relationships/image"/><Relationship Id="rId15" Target="../media/image85.png" Type="http://schemas.openxmlformats.org/officeDocument/2006/relationships/image"/><Relationship Id="rId16" Target="../media/image86.png" Type="http://schemas.openxmlformats.org/officeDocument/2006/relationships/image"/><Relationship Id="rId17" Target="../media/image87.svg" Type="http://schemas.openxmlformats.org/officeDocument/2006/relationships/image"/><Relationship Id="rId18" Target="../media/image88.png" Type="http://schemas.openxmlformats.org/officeDocument/2006/relationships/image"/><Relationship Id="rId19" Target="../media/image89.png" Type="http://schemas.openxmlformats.org/officeDocument/2006/relationships/image"/><Relationship Id="rId2" Target="../media/image11.png" Type="http://schemas.openxmlformats.org/officeDocument/2006/relationships/image"/><Relationship Id="rId20" Target="../media/image90.svg" Type="http://schemas.openxmlformats.org/officeDocument/2006/relationships/image"/><Relationship Id="rId21" Target="../media/image91.png" Type="http://schemas.openxmlformats.org/officeDocument/2006/relationships/image"/><Relationship Id="rId22" Target="../media/image92.png" Type="http://schemas.openxmlformats.org/officeDocument/2006/relationships/image"/><Relationship Id="rId23" Target="../media/image93.svg" Type="http://schemas.openxmlformats.org/officeDocument/2006/relationships/image"/><Relationship Id="rId24" Target="../media/image73.png" Type="http://schemas.openxmlformats.org/officeDocument/2006/relationships/image"/><Relationship Id="rId25" Target="../media/image74.svg" Type="http://schemas.openxmlformats.org/officeDocument/2006/relationships/image"/><Relationship Id="rId26" Target="../media/image75.png" Type="http://schemas.openxmlformats.org/officeDocument/2006/relationships/image"/><Relationship Id="rId27" Target="../media/image76.svg" Type="http://schemas.openxmlformats.org/officeDocument/2006/relationships/image"/><Relationship Id="rId28" Target="../media/image77.png" Type="http://schemas.openxmlformats.org/officeDocument/2006/relationships/image"/><Relationship Id="rId29" Target="../media/image78.svg" Type="http://schemas.openxmlformats.org/officeDocument/2006/relationships/image"/><Relationship Id="rId3" Target="../media/image12.svg" Type="http://schemas.openxmlformats.org/officeDocument/2006/relationships/image"/><Relationship Id="rId4" Target="../media/image15.jpe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4.png" Type="http://schemas.openxmlformats.org/officeDocument/2006/relationships/image"/><Relationship Id="rId5" Target="../media/image95.svg" Type="http://schemas.openxmlformats.org/officeDocument/2006/relationships/image"/><Relationship Id="rId6" Target="../media/image15.jpe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4.png" Type="http://schemas.openxmlformats.org/officeDocument/2006/relationships/image"/><Relationship Id="rId5" Target="../media/image95.svg" Type="http://schemas.openxmlformats.org/officeDocument/2006/relationships/image"/><Relationship Id="rId6" Target="../media/image15.jpe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15.jpe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98.png" Type="http://schemas.openxmlformats.org/officeDocument/2006/relationships/image"/><Relationship Id="rId12" Target="../media/image99.svg" Type="http://schemas.openxmlformats.org/officeDocument/2006/relationships/image"/><Relationship Id="rId13" Target="../media/image100.png" Type="http://schemas.openxmlformats.org/officeDocument/2006/relationships/image"/><Relationship Id="rId14" Target="../media/image101.svg" Type="http://schemas.openxmlformats.org/officeDocument/2006/relationships/image"/><Relationship Id="rId15" Target="../media/image102.png" Type="http://schemas.openxmlformats.org/officeDocument/2006/relationships/image"/><Relationship Id="rId16" Target="../media/image103.svg" Type="http://schemas.openxmlformats.org/officeDocument/2006/relationships/image"/><Relationship Id="rId17" Target="../media/image104.png" Type="http://schemas.openxmlformats.org/officeDocument/2006/relationships/image"/><Relationship Id="rId18" Target="../media/image105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06.png" Type="http://schemas.openxmlformats.org/officeDocument/2006/relationships/image"/><Relationship Id="rId12" Target="../media/image107.png" Type="http://schemas.openxmlformats.org/officeDocument/2006/relationships/image"/><Relationship Id="rId13" Target="../media/image108.svg" Type="http://schemas.openxmlformats.org/officeDocument/2006/relationships/image"/><Relationship Id="rId14" Target="../media/image109.png" Type="http://schemas.openxmlformats.org/officeDocument/2006/relationships/image"/><Relationship Id="rId15" Target="../media/image110.png" Type="http://schemas.openxmlformats.org/officeDocument/2006/relationships/image"/><Relationship Id="rId16" Target="../media/image111.png" Type="http://schemas.openxmlformats.org/officeDocument/2006/relationships/image"/><Relationship Id="rId17" Target="../media/image112.png" Type="http://schemas.openxmlformats.org/officeDocument/2006/relationships/image"/><Relationship Id="rId18" Target="../media/image113.png" Type="http://schemas.openxmlformats.org/officeDocument/2006/relationships/image"/><Relationship Id="rId19" Target="../media/image114.png" Type="http://schemas.openxmlformats.org/officeDocument/2006/relationships/image"/><Relationship Id="rId2" Target="../media/image11.png" Type="http://schemas.openxmlformats.org/officeDocument/2006/relationships/image"/><Relationship Id="rId20" Target="../media/image115.png" Type="http://schemas.openxmlformats.org/officeDocument/2006/relationships/image"/><Relationship Id="rId21" Target="../media/image116.png" Type="http://schemas.openxmlformats.org/officeDocument/2006/relationships/image"/><Relationship Id="rId22" Target="../media/image117.png" Type="http://schemas.openxmlformats.org/officeDocument/2006/relationships/image"/><Relationship Id="rId23" Target="../media/image118.png" Type="http://schemas.openxmlformats.org/officeDocument/2006/relationships/image"/><Relationship Id="rId24" Target="../media/image119.png" Type="http://schemas.openxmlformats.org/officeDocument/2006/relationships/image"/><Relationship Id="rId25" Target="../media/image120.png" Type="http://schemas.openxmlformats.org/officeDocument/2006/relationships/image"/><Relationship Id="rId26" Target="../media/image121.png" Type="http://schemas.openxmlformats.org/officeDocument/2006/relationships/image"/><Relationship Id="rId27" Target="../media/image122.png" Type="http://schemas.openxmlformats.org/officeDocument/2006/relationships/image"/><Relationship Id="rId28" Target="../media/image123.png" Type="http://schemas.openxmlformats.org/officeDocument/2006/relationships/image"/><Relationship Id="rId29" Target="../media/image124.png" Type="http://schemas.openxmlformats.org/officeDocument/2006/relationships/image"/><Relationship Id="rId3" Target="../media/image12.svg" Type="http://schemas.openxmlformats.org/officeDocument/2006/relationships/image"/><Relationship Id="rId30" Target="../media/image125.png" Type="http://schemas.openxmlformats.org/officeDocument/2006/relationships/image"/><Relationship Id="rId31" Target="../media/image37.png" Type="http://schemas.openxmlformats.org/officeDocument/2006/relationships/image"/><Relationship Id="rId32" Target="../media/image38.png" Type="http://schemas.openxmlformats.org/officeDocument/2006/relationships/image"/><Relationship Id="rId33" Target="../media/image39.png" Type="http://schemas.openxmlformats.org/officeDocument/2006/relationships/image"/><Relationship Id="rId4" Target="../media/image15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7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28.png" Type="http://schemas.openxmlformats.org/officeDocument/2006/relationships/image"/><Relationship Id="rId12" Target="../media/image129.png" Type="http://schemas.openxmlformats.org/officeDocument/2006/relationships/image"/><Relationship Id="rId13" Target="../media/image130.png" Type="http://schemas.openxmlformats.org/officeDocument/2006/relationships/image"/><Relationship Id="rId14" Target="../media/image131.png" Type="http://schemas.openxmlformats.org/officeDocument/2006/relationships/image"/><Relationship Id="rId15" Target="../media/image132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jpeg" Type="http://schemas.openxmlformats.org/officeDocument/2006/relationships/image"/><Relationship Id="rId5" Target="../media/image133.png" Type="http://schemas.openxmlformats.org/officeDocument/2006/relationships/image"/><Relationship Id="rId6" Target="../media/image13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https://www.rackspace.com/blog/2025-state-cloud-report" TargetMode="External" Type="http://schemas.openxmlformats.org/officeDocument/2006/relationships/hyperlink"/><Relationship Id="rId12" Target="https://developer.hashicorp.com/terraform/intro/vs/cloudformation" TargetMode="External" Type="http://schemas.openxmlformats.org/officeDocument/2006/relationships/hyperlink"/><Relationship Id="rId13" Target="https://www.hashicorp.com/en/state-of-the-cloud." TargetMode="External" Type="http://schemas.openxmlformats.org/officeDocument/2006/relationships/hyperlink"/><Relationship Id="rId14" Target="https://learn.microsoft.com/en-us/azure/well-architected/operational-excellence/infrastructure-as-code-design" TargetMode="External" Type="http://schemas.openxmlformats.org/officeDocument/2006/relationships/hyperlink"/><Relationship Id="rId15" Target="https://github.com/aws-cloudformation/cfn-lint" TargetMode="External" Type="http://schemas.openxmlformats.org/officeDocument/2006/relationships/hyperlink"/><Relationship Id="rId16" Target="https://docs.aws.amazon.com/AWSCloudFormation/latest/UserGuide/stacks.html" TargetMode="External" Type="http://schemas.openxmlformats.org/officeDocument/2006/relationships/hyperlink"/><Relationship Id="rId17" Target="https://github.com/aws-cloudformation/aws-cloudformation-templates" TargetMode="External" Type="http://schemas.openxmlformats.org/officeDocument/2006/relationships/hyperlink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jpe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5.png" Type="http://schemas.openxmlformats.org/officeDocument/2006/relationships/image"/><Relationship Id="rId5" Target="../media/image136.svg" Type="http://schemas.openxmlformats.org/officeDocument/2006/relationships/image"/><Relationship Id="rId6" Target="../media/image15.jpe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1470022"/>
          </a:xfrm>
          <a:custGeom>
            <a:avLst/>
            <a:gdLst/>
            <a:ahLst/>
            <a:cxnLst/>
            <a:rect r="r" b="b" t="t" l="l"/>
            <a:pathLst>
              <a:path h="1470022" w="9144000">
                <a:moveTo>
                  <a:pt x="0" y="0"/>
                </a:moveTo>
                <a:lnTo>
                  <a:pt x="9144000" y="0"/>
                </a:lnTo>
                <a:lnTo>
                  <a:pt x="9144000" y="1470022"/>
                </a:lnTo>
                <a:lnTo>
                  <a:pt x="0" y="1470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1470022"/>
          </a:xfrm>
          <a:custGeom>
            <a:avLst/>
            <a:gdLst/>
            <a:ahLst/>
            <a:cxnLst/>
            <a:rect r="r" b="b" t="t" l="l"/>
            <a:pathLst>
              <a:path h="1470022" w="9144000">
                <a:moveTo>
                  <a:pt x="0" y="0"/>
                </a:moveTo>
                <a:lnTo>
                  <a:pt x="9144000" y="0"/>
                </a:lnTo>
                <a:lnTo>
                  <a:pt x="9144000" y="1470022"/>
                </a:lnTo>
                <a:lnTo>
                  <a:pt x="0" y="1470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9144000" cy="1371600"/>
          </a:xfrm>
          <a:custGeom>
            <a:avLst/>
            <a:gdLst/>
            <a:ahLst/>
            <a:cxnLst/>
            <a:rect r="r" b="b" t="t" l="l"/>
            <a:pathLst>
              <a:path h="1371600" w="9144000">
                <a:moveTo>
                  <a:pt x="0" y="0"/>
                </a:moveTo>
                <a:lnTo>
                  <a:pt x="9144000" y="0"/>
                </a:lnTo>
                <a:lnTo>
                  <a:pt x="91440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28723" y="646678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7800" y="921125"/>
            <a:ext cx="7467600" cy="382153"/>
          </a:xfrm>
          <a:custGeom>
            <a:avLst/>
            <a:gdLst/>
            <a:ahLst/>
            <a:cxnLst/>
            <a:rect r="r" b="b" t="t" l="l"/>
            <a:pathLst>
              <a:path h="382153" w="7467600">
                <a:moveTo>
                  <a:pt x="0" y="0"/>
                </a:moveTo>
                <a:lnTo>
                  <a:pt x="7467600" y="0"/>
                </a:lnTo>
                <a:lnTo>
                  <a:pt x="7467600" y="382152"/>
                </a:lnTo>
                <a:lnTo>
                  <a:pt x="0" y="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75364" y="1445028"/>
            <a:ext cx="1547565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 2025-26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20000" y="4154919"/>
            <a:ext cx="58293" cy="31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12532" y="2323241"/>
            <a:ext cx="5273229" cy="47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3"/>
              </a:lnSpc>
            </a:pPr>
            <a:r>
              <a:rPr lang="en-US" b="true" sz="2799">
                <a:solidFill>
                  <a:srgbClr val="95373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External Seminar(Project Phase-I)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33628" y="2716178"/>
            <a:ext cx="4431037" cy="1167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3"/>
              </a:lnSpc>
            </a:pPr>
            <a:r>
              <a:rPr lang="en-US" b="true" sz="2799">
                <a:solidFill>
                  <a:srgbClr val="95373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</a:t>
            </a:r>
          </a:p>
          <a:p>
            <a:pPr algn="ctr">
              <a:lnSpc>
                <a:spcPts val="2800"/>
              </a:lnSpc>
            </a:pPr>
            <a:r>
              <a:rPr lang="en-US" b="true" sz="20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CLOUD ASSISTIVE PLATFORM:</a:t>
            </a:r>
          </a:p>
          <a:p>
            <a:pPr algn="ctr">
              <a:lnSpc>
                <a:spcPts val="2800"/>
              </a:lnSpc>
            </a:pPr>
            <a:r>
              <a:rPr lang="en-US" b="true" sz="20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CLOUD-MAN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15065" y="5188020"/>
            <a:ext cx="1068162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75364" y="3968058"/>
            <a:ext cx="1372686" cy="59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 Group No: 07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17697" y="911247"/>
            <a:ext cx="5997492" cy="41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1F1F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Computer Science and Design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11314" y="645794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46589" y="6457940"/>
            <a:ext cx="7865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17470" y="5495153"/>
            <a:ext cx="2063353" cy="31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Bhushan U. Bawankar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832" y="1262253"/>
            <a:ext cx="4724400" cy="4344781"/>
          </a:xfrm>
          <a:custGeom>
            <a:avLst/>
            <a:gdLst/>
            <a:ahLst/>
            <a:cxnLst/>
            <a:rect r="r" b="b" t="t" l="l"/>
            <a:pathLst>
              <a:path h="4344781" w="4724400">
                <a:moveTo>
                  <a:pt x="0" y="0"/>
                </a:moveTo>
                <a:lnTo>
                  <a:pt x="4724400" y="0"/>
                </a:lnTo>
                <a:lnTo>
                  <a:pt x="4724400" y="4344781"/>
                </a:lnTo>
                <a:lnTo>
                  <a:pt x="0" y="43447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06267" y="249431"/>
            <a:ext cx="2131466" cy="391163"/>
          </a:xfrm>
          <a:custGeom>
            <a:avLst/>
            <a:gdLst/>
            <a:ahLst/>
            <a:cxnLst/>
            <a:rect r="r" b="b" t="t" l="l"/>
            <a:pathLst>
              <a:path h="391163" w="2131466">
                <a:moveTo>
                  <a:pt x="0" y="0"/>
                </a:moveTo>
                <a:lnTo>
                  <a:pt x="2131466" y="0"/>
                </a:lnTo>
                <a:lnTo>
                  <a:pt x="2131466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28723" y="646678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4858" y="1319765"/>
            <a:ext cx="248183" cy="383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2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1. 2. 3. 4. 5. 6. 7. 8. 9.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257" y="5077997"/>
            <a:ext cx="406122" cy="41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b="true" sz="2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  <a:r>
              <a:rPr lang="en-US" b="true" sz="2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800" y="1301420"/>
            <a:ext cx="4274207" cy="547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Abstract 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Definition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Aim &amp; Objectives 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Literature Review 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Patent Search 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 Gap 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Hardware Software Requirement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methadology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Experimental Results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 of Action 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 and Future Scope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References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12359" y="231753"/>
            <a:ext cx="1139742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46589" y="6457940"/>
            <a:ext cx="7865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11314" y="645794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671" y="5616559"/>
            <a:ext cx="399693" cy="33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b="true" sz="2299" spc="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  <a:r>
              <a:rPr lang="en-US" sz="2299" spc="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421" y="6010656"/>
            <a:ext cx="412194" cy="33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b="true" sz="2299" spc="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671" y="6352794"/>
            <a:ext cx="414814" cy="33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b="true" sz="2299" spc="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8262" y="2344566"/>
            <a:ext cx="997582" cy="452123"/>
          </a:xfrm>
          <a:custGeom>
            <a:avLst/>
            <a:gdLst/>
            <a:ahLst/>
            <a:cxnLst/>
            <a:rect r="r" b="b" t="t" l="l"/>
            <a:pathLst>
              <a:path h="452123" w="997582">
                <a:moveTo>
                  <a:pt x="0" y="0"/>
                </a:moveTo>
                <a:lnTo>
                  <a:pt x="997582" y="0"/>
                </a:lnTo>
                <a:lnTo>
                  <a:pt x="997582" y="452123"/>
                </a:lnTo>
                <a:lnTo>
                  <a:pt x="0" y="452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83739" y="249431"/>
            <a:ext cx="4176512" cy="391163"/>
          </a:xfrm>
          <a:custGeom>
            <a:avLst/>
            <a:gdLst/>
            <a:ahLst/>
            <a:cxnLst/>
            <a:rect r="r" b="b" t="t" l="l"/>
            <a:pathLst>
              <a:path h="391163" w="4176512">
                <a:moveTo>
                  <a:pt x="0" y="0"/>
                </a:moveTo>
                <a:lnTo>
                  <a:pt x="4176512" y="0"/>
                </a:lnTo>
                <a:lnTo>
                  <a:pt x="4176512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28723" y="646678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59682" y="905176"/>
            <a:ext cx="1592989" cy="1061927"/>
          </a:xfrm>
          <a:custGeom>
            <a:avLst/>
            <a:gdLst/>
            <a:ahLst/>
            <a:cxnLst/>
            <a:rect r="r" b="b" t="t" l="l"/>
            <a:pathLst>
              <a:path h="1061927" w="1592989">
                <a:moveTo>
                  <a:pt x="0" y="0"/>
                </a:moveTo>
                <a:lnTo>
                  <a:pt x="1592989" y="0"/>
                </a:lnTo>
                <a:lnTo>
                  <a:pt x="1592989" y="1061927"/>
                </a:lnTo>
                <a:lnTo>
                  <a:pt x="0" y="10619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17058" r="0" b="-1757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85844" y="231753"/>
            <a:ext cx="106046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Abstract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46589" y="6457940"/>
            <a:ext cx="7865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11314" y="645794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78300" y="1995678"/>
            <a:ext cx="8614691" cy="1724698"/>
            <a:chOff x="0" y="0"/>
            <a:chExt cx="3403335" cy="6813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03335" cy="681362"/>
            </a:xfrm>
            <a:custGeom>
              <a:avLst/>
              <a:gdLst/>
              <a:ahLst/>
              <a:cxnLst/>
              <a:rect r="r" b="b" t="t" l="l"/>
              <a:pathLst>
                <a:path h="681362" w="3403335">
                  <a:moveTo>
                    <a:pt x="0" y="0"/>
                  </a:moveTo>
                  <a:lnTo>
                    <a:pt x="3403335" y="0"/>
                  </a:lnTo>
                  <a:lnTo>
                    <a:pt x="3403335" y="681362"/>
                  </a:lnTo>
                  <a:lnTo>
                    <a:pt x="0" y="681362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03335" cy="719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64370" y="2101678"/>
            <a:ext cx="8442550" cy="153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rapid adoption of cloud computing has become a cornerstone of modern IT infrastructure, with over </a:t>
            </a:r>
            <a:r>
              <a:rPr lang="en-US" sz="1172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60% of organizations</a:t>
            </a:r>
            <a:r>
              <a:rPr lang="en-US" sz="1172" spc="1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now utilizing </a:t>
            </a:r>
            <a:r>
              <a:rPr lang="en-US" sz="1172" spc="19" b="true">
                <a:solidFill>
                  <a:srgbClr val="0069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multi-cloud environments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Howe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prominent platform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such as </a:t>
            </a:r>
            <a:r>
              <a:rPr lang="en-US" sz="1172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AWS, Azure, and GCP</a:t>
            </a:r>
            <a:r>
              <a:rPr lang="en-US" sz="1172" spc="1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 significant barriers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ent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 due to their high complexity, m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kin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 difficult for beginners to navigate. Current industry challenges include a </a:t>
            </a:r>
            <a:r>
              <a:rPr lang="en-US" sz="1172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steep learning curve</a:t>
            </a:r>
            <a:r>
              <a:rPr lang="en-US" sz="1172" spc="19" b="true">
                <a:solidFill>
                  <a:srgbClr val="03989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due to </a:t>
            </a:r>
            <a:r>
              <a:rPr lang="en-US" sz="1172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poor documentation</a:t>
            </a:r>
            <a:r>
              <a:rPr lang="en-US" sz="1172" spc="1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clarity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lack of centralize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nagemen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tools which slows troubleshooting,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nd</a:t>
            </a:r>
            <a:r>
              <a:rPr lang="en-US" sz="1172" spc="19">
                <a:solidFill>
                  <a:srgbClr val="036E7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172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operational complexit</a:t>
            </a:r>
            <a:r>
              <a:rPr lang="en-US" sz="1172" spc="1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that necessitates dependency on skilled profession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Furthermor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manual configuration of networking,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ecurity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Identity and Acce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Management (IAM) leads t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requen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deployment errors,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ith statistics indicating that </a:t>
            </a:r>
            <a:r>
              <a:rPr lang="en-US" sz="1172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82% of cloud misconfiguration errors</a:t>
            </a:r>
            <a:r>
              <a:rPr lang="en-US" sz="1172" spc="19" b="true">
                <a:solidFill>
                  <a:srgbClr val="03989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caused by </a:t>
            </a:r>
            <a:r>
              <a:rPr lang="en-US" sz="1172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human mistakes</a:t>
            </a:r>
            <a:r>
              <a:rPr lang="en-US" sz="1172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These issues result in a lack of visibility regarding cost and security risks prior to deployment, often leading to resource wastage and security vulnerabilities.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78300" y="4086584"/>
            <a:ext cx="8614691" cy="2140315"/>
            <a:chOff x="0" y="0"/>
            <a:chExt cx="3403335" cy="8455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03335" cy="845557"/>
            </a:xfrm>
            <a:custGeom>
              <a:avLst/>
              <a:gdLst/>
              <a:ahLst/>
              <a:cxnLst/>
              <a:rect r="r" b="b" t="t" l="l"/>
              <a:pathLst>
                <a:path h="845557" w="3403335">
                  <a:moveTo>
                    <a:pt x="0" y="0"/>
                  </a:moveTo>
                  <a:lnTo>
                    <a:pt x="3403335" y="0"/>
                  </a:lnTo>
                  <a:lnTo>
                    <a:pt x="3403335" y="845557"/>
                  </a:lnTo>
                  <a:lnTo>
                    <a:pt x="0" y="845557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403335" cy="883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60853" y="4716631"/>
            <a:ext cx="1200426" cy="1250398"/>
            <a:chOff x="0" y="0"/>
            <a:chExt cx="1600568" cy="16671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901360" y="0"/>
              <a:ext cx="699207" cy="648515"/>
            </a:xfrm>
            <a:custGeom>
              <a:avLst/>
              <a:gdLst/>
              <a:ahLst/>
              <a:cxnLst/>
              <a:rect r="r" b="b" t="t" l="l"/>
              <a:pathLst>
                <a:path h="648515" w="699207">
                  <a:moveTo>
                    <a:pt x="0" y="0"/>
                  </a:moveTo>
                  <a:lnTo>
                    <a:pt x="699208" y="0"/>
                  </a:lnTo>
                  <a:lnTo>
                    <a:pt x="699208" y="648515"/>
                  </a:lnTo>
                  <a:lnTo>
                    <a:pt x="0" y="648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true" flipV="false" rot="0">
              <a:off x="183403" y="430081"/>
              <a:ext cx="832098" cy="832098"/>
            </a:xfrm>
            <a:custGeom>
              <a:avLst/>
              <a:gdLst/>
              <a:ahLst/>
              <a:cxnLst/>
              <a:rect r="r" b="b" t="t" l="l"/>
              <a:pathLst>
                <a:path h="832098" w="832098">
                  <a:moveTo>
                    <a:pt x="832097" y="0"/>
                  </a:moveTo>
                  <a:lnTo>
                    <a:pt x="0" y="0"/>
                  </a:lnTo>
                  <a:lnTo>
                    <a:pt x="0" y="832098"/>
                  </a:lnTo>
                  <a:lnTo>
                    <a:pt x="832097" y="832098"/>
                  </a:lnTo>
                  <a:lnTo>
                    <a:pt x="832097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0" y="1262179"/>
              <a:ext cx="1600568" cy="40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91"/>
                </a:lnSpc>
              </a:pPr>
              <a:r>
                <a:rPr lang="en-US" sz="1018" spc="1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Natural Language</a:t>
              </a:r>
            </a:p>
            <a:p>
              <a:pPr algn="ctr">
                <a:lnSpc>
                  <a:spcPts val="1191"/>
                </a:lnSpc>
              </a:pPr>
              <a:r>
                <a:rPr lang="en-US" sz="1018" spc="1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Request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483739" y="4415414"/>
            <a:ext cx="2978225" cy="1603133"/>
            <a:chOff x="0" y="0"/>
            <a:chExt cx="3970967" cy="21375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806031" y="890407"/>
              <a:ext cx="1330109" cy="602831"/>
            </a:xfrm>
            <a:custGeom>
              <a:avLst/>
              <a:gdLst/>
              <a:ahLst/>
              <a:cxnLst/>
              <a:rect r="r" b="b" t="t" l="l"/>
              <a:pathLst>
                <a:path h="602831" w="1330109">
                  <a:moveTo>
                    <a:pt x="0" y="0"/>
                  </a:moveTo>
                  <a:lnTo>
                    <a:pt x="1330109" y="0"/>
                  </a:lnTo>
                  <a:lnTo>
                    <a:pt x="1330109" y="602831"/>
                  </a:lnTo>
                  <a:lnTo>
                    <a:pt x="0" y="602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-140814">
              <a:off x="1705751" y="14678"/>
              <a:ext cx="731874" cy="731874"/>
            </a:xfrm>
            <a:custGeom>
              <a:avLst/>
              <a:gdLst/>
              <a:ahLst/>
              <a:cxnLst/>
              <a:rect r="r" b="b" t="t" l="l"/>
              <a:pathLst>
                <a:path h="731874" w="731874">
                  <a:moveTo>
                    <a:pt x="0" y="0"/>
                  </a:moveTo>
                  <a:lnTo>
                    <a:pt x="731874" y="0"/>
                  </a:lnTo>
                  <a:lnTo>
                    <a:pt x="731874" y="731874"/>
                  </a:lnTo>
                  <a:lnTo>
                    <a:pt x="0" y="731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0">
              <a:off x="3103007" y="1073106"/>
              <a:ext cx="519736" cy="519736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3989E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3225541" y="1199136"/>
              <a:ext cx="274667" cy="267676"/>
            </a:xfrm>
            <a:custGeom>
              <a:avLst/>
              <a:gdLst/>
              <a:ahLst/>
              <a:cxnLst/>
              <a:rect r="r" b="b" t="t" l="l"/>
              <a:pathLst>
                <a:path h="267676" w="274667">
                  <a:moveTo>
                    <a:pt x="0" y="0"/>
                  </a:moveTo>
                  <a:lnTo>
                    <a:pt x="274667" y="0"/>
                  </a:lnTo>
                  <a:lnTo>
                    <a:pt x="274667" y="267676"/>
                  </a:lnTo>
                  <a:lnTo>
                    <a:pt x="0" y="267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0" id="30"/>
            <p:cNvGrpSpPr/>
            <p:nvPr/>
          </p:nvGrpSpPr>
          <p:grpSpPr>
            <a:xfrm rot="0">
              <a:off x="439240" y="1078786"/>
              <a:ext cx="519736" cy="519736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3989E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537795" y="1182840"/>
              <a:ext cx="322627" cy="311628"/>
            </a:xfrm>
            <a:custGeom>
              <a:avLst/>
              <a:gdLst/>
              <a:ahLst/>
              <a:cxnLst/>
              <a:rect r="r" b="b" t="t" l="l"/>
              <a:pathLst>
                <a:path h="311628" w="322627">
                  <a:moveTo>
                    <a:pt x="0" y="0"/>
                  </a:moveTo>
                  <a:lnTo>
                    <a:pt x="322626" y="0"/>
                  </a:lnTo>
                  <a:lnTo>
                    <a:pt x="322626" y="311628"/>
                  </a:lnTo>
                  <a:lnTo>
                    <a:pt x="0" y="311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4" id="34"/>
            <p:cNvGrpSpPr/>
            <p:nvPr/>
          </p:nvGrpSpPr>
          <p:grpSpPr>
            <a:xfrm rot="0">
              <a:off x="1833494" y="1073106"/>
              <a:ext cx="519736" cy="519736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3989E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1978007" y="1177089"/>
              <a:ext cx="230710" cy="311770"/>
            </a:xfrm>
            <a:custGeom>
              <a:avLst/>
              <a:gdLst/>
              <a:ahLst/>
              <a:cxnLst/>
              <a:rect r="r" b="b" t="t" l="l"/>
              <a:pathLst>
                <a:path h="311770" w="230710">
                  <a:moveTo>
                    <a:pt x="0" y="0"/>
                  </a:moveTo>
                  <a:lnTo>
                    <a:pt x="230709" y="0"/>
                  </a:lnTo>
                  <a:lnTo>
                    <a:pt x="230709" y="311770"/>
                  </a:lnTo>
                  <a:lnTo>
                    <a:pt x="0" y="31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0" y="1709647"/>
              <a:ext cx="1331670" cy="427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87"/>
                </a:lnSpc>
              </a:pPr>
              <a:r>
                <a:rPr lang="en-US" sz="1100" spc="1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Infrastructure</a:t>
              </a:r>
            </a:p>
            <a:p>
              <a:pPr algn="ctr">
                <a:lnSpc>
                  <a:spcPts val="1287"/>
                </a:lnSpc>
              </a:pPr>
              <a:r>
                <a:rPr lang="en-US" sz="1100" spc="1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Planner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577770" y="1709647"/>
              <a:ext cx="996993" cy="402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035" spc="1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Cost</a:t>
              </a:r>
            </a:p>
            <a:p>
              <a:pPr algn="ctr">
                <a:lnSpc>
                  <a:spcPts val="1211"/>
                </a:lnSpc>
              </a:pPr>
              <a:r>
                <a:rPr lang="en-US" sz="1035" spc="1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Predictor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754783" y="1709647"/>
              <a:ext cx="1216184" cy="402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035" spc="1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Security/Risk</a:t>
              </a:r>
            </a:p>
            <a:p>
              <a:pPr algn="ctr">
                <a:lnSpc>
                  <a:spcPts val="1211"/>
                </a:lnSpc>
              </a:pPr>
              <a:r>
                <a:rPr lang="en-US" sz="1035" spc="1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Analyzer</a:t>
              </a:r>
            </a:p>
          </p:txBody>
        </p:sp>
        <p:sp>
          <p:nvSpPr>
            <p:cNvPr name="AutoShape 41" id="41"/>
            <p:cNvSpPr/>
            <p:nvPr/>
          </p:nvSpPr>
          <p:spPr>
            <a:xfrm flipH="true">
              <a:off x="3350175" y="386795"/>
              <a:ext cx="0" cy="686311"/>
            </a:xfrm>
            <a:prstGeom prst="line">
              <a:avLst/>
            </a:prstGeom>
            <a:ln cap="flat" w="29406">
              <a:solidFill>
                <a:srgbClr val="88888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2459250" y="386795"/>
              <a:ext cx="903625" cy="0"/>
            </a:xfrm>
            <a:prstGeom prst="line">
              <a:avLst/>
            </a:prstGeom>
            <a:ln cap="flat" w="29406">
              <a:solidFill>
                <a:srgbClr val="88888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699108" y="380445"/>
              <a:ext cx="1028317" cy="6350"/>
            </a:xfrm>
            <a:prstGeom prst="line">
              <a:avLst/>
            </a:prstGeom>
            <a:ln cap="flat" w="29406">
              <a:solidFill>
                <a:srgbClr val="88888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699108" y="367745"/>
              <a:ext cx="0" cy="711041"/>
            </a:xfrm>
            <a:prstGeom prst="line">
              <a:avLst/>
            </a:prstGeom>
            <a:ln cap="flat" w="29406">
              <a:solidFill>
                <a:srgbClr val="88888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flipH="true">
              <a:off x="2086673" y="746245"/>
              <a:ext cx="0" cy="326678"/>
            </a:xfrm>
            <a:prstGeom prst="line">
              <a:avLst/>
            </a:prstGeom>
            <a:ln cap="flat" w="29406">
              <a:solidFill>
                <a:srgbClr val="888888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5536398" y="5058489"/>
            <a:ext cx="1762165" cy="893642"/>
            <a:chOff x="0" y="0"/>
            <a:chExt cx="2349554" cy="1191523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844834" y="0"/>
              <a:ext cx="659886" cy="659886"/>
              <a:chOff x="0" y="0"/>
              <a:chExt cx="812800" cy="812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3989E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9208" lIns="39208" bIns="39208" rIns="39208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Freeform 50" id="50"/>
            <p:cNvSpPr/>
            <p:nvPr/>
          </p:nvSpPr>
          <p:spPr>
            <a:xfrm flipH="false" flipV="false" rot="0">
              <a:off x="1028946" y="147654"/>
              <a:ext cx="291662" cy="364577"/>
            </a:xfrm>
            <a:custGeom>
              <a:avLst/>
              <a:gdLst/>
              <a:ahLst/>
              <a:cxnLst/>
              <a:rect r="r" b="b" t="t" l="l"/>
              <a:pathLst>
                <a:path h="364577" w="291662">
                  <a:moveTo>
                    <a:pt x="0" y="0"/>
                  </a:moveTo>
                  <a:lnTo>
                    <a:pt x="291662" y="0"/>
                  </a:lnTo>
                  <a:lnTo>
                    <a:pt x="291662" y="364578"/>
                  </a:lnTo>
                  <a:lnTo>
                    <a:pt x="0" y="364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0" y="789386"/>
              <a:ext cx="2349554" cy="402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035" spc="1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IAC</a:t>
              </a:r>
            </a:p>
            <a:p>
              <a:pPr algn="ctr">
                <a:lnSpc>
                  <a:spcPts val="1211"/>
                </a:lnSpc>
              </a:pPr>
              <a:r>
                <a:rPr lang="en-US" sz="1035" spc="1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(Infrastructure as a Code )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3202971" y="3853031"/>
            <a:ext cx="2738058" cy="20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0"/>
              </a:lnSpc>
            </a:pPr>
            <a:r>
              <a:rPr lang="en-US" b="true" sz="1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 &amp; Workflow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240841" y="4192448"/>
            <a:ext cx="1690006" cy="176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b="true" sz="1200" spc="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Layer &amp; NLP Engine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7374763" y="4681696"/>
            <a:ext cx="1484680" cy="1317677"/>
            <a:chOff x="0" y="0"/>
            <a:chExt cx="1979573" cy="175690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634586" y="0"/>
              <a:ext cx="560206" cy="489688"/>
            </a:xfrm>
            <a:custGeom>
              <a:avLst/>
              <a:gdLst/>
              <a:ahLst/>
              <a:cxnLst/>
              <a:rect r="r" b="b" t="t" l="l"/>
              <a:pathLst>
                <a:path h="489688" w="560206">
                  <a:moveTo>
                    <a:pt x="0" y="0"/>
                  </a:moveTo>
                  <a:lnTo>
                    <a:pt x="560206" y="0"/>
                  </a:lnTo>
                  <a:lnTo>
                    <a:pt x="560206" y="489688"/>
                  </a:lnTo>
                  <a:lnTo>
                    <a:pt x="0" y="489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-14400"/>
              </a:stretch>
            </a:blip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010825" y="670407"/>
              <a:ext cx="911249" cy="390683"/>
            </a:xfrm>
            <a:custGeom>
              <a:avLst/>
              <a:gdLst/>
              <a:ahLst/>
              <a:cxnLst/>
              <a:rect r="r" b="b" t="t" l="l"/>
              <a:pathLst>
                <a:path h="390683" w="911249">
                  <a:moveTo>
                    <a:pt x="0" y="0"/>
                  </a:moveTo>
                  <a:lnTo>
                    <a:pt x="911249" y="0"/>
                  </a:lnTo>
                  <a:lnTo>
                    <a:pt x="911249" y="390682"/>
                  </a:lnTo>
                  <a:lnTo>
                    <a:pt x="0" y="390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-75113" r="0" b="-58132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258387" y="601765"/>
              <a:ext cx="466406" cy="466406"/>
            </a:xfrm>
            <a:custGeom>
              <a:avLst/>
              <a:gdLst/>
              <a:ahLst/>
              <a:cxnLst/>
              <a:rect r="r" b="b" t="t" l="l"/>
              <a:pathLst>
                <a:path h="466406" w="466406">
                  <a:moveTo>
                    <a:pt x="0" y="0"/>
                  </a:moveTo>
                  <a:lnTo>
                    <a:pt x="466405" y="0"/>
                  </a:lnTo>
                  <a:lnTo>
                    <a:pt x="466405" y="466405"/>
                  </a:lnTo>
                  <a:lnTo>
                    <a:pt x="0" y="466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 rot="0">
              <a:off x="0" y="1354765"/>
              <a:ext cx="1979573" cy="402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035" spc="1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Multi-Cloud Deployment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>
            <a:off x="1845099" y="5351354"/>
            <a:ext cx="704189" cy="0"/>
          </a:xfrm>
          <a:prstGeom prst="line">
            <a:avLst/>
          </a:prstGeom>
          <a:ln cap="flat" w="19050">
            <a:solidFill>
              <a:srgbClr val="88888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0" id="60"/>
          <p:cNvSpPr/>
          <p:nvPr/>
        </p:nvSpPr>
        <p:spPr>
          <a:xfrm>
            <a:off x="5252671" y="5350059"/>
            <a:ext cx="704189" cy="0"/>
          </a:xfrm>
          <a:prstGeom prst="line">
            <a:avLst/>
          </a:prstGeom>
          <a:ln cap="flat" w="19050">
            <a:solidFill>
              <a:srgbClr val="88888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1" id="61"/>
          <p:cNvSpPr/>
          <p:nvPr/>
        </p:nvSpPr>
        <p:spPr>
          <a:xfrm>
            <a:off x="6726551" y="5350059"/>
            <a:ext cx="704189" cy="0"/>
          </a:xfrm>
          <a:prstGeom prst="line">
            <a:avLst/>
          </a:prstGeom>
          <a:ln cap="flat" w="19050">
            <a:solidFill>
              <a:srgbClr val="888888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83739" y="249431"/>
            <a:ext cx="4176512" cy="391163"/>
          </a:xfrm>
          <a:custGeom>
            <a:avLst/>
            <a:gdLst/>
            <a:ahLst/>
            <a:cxnLst/>
            <a:rect r="r" b="b" t="t" l="l"/>
            <a:pathLst>
              <a:path h="391163" w="4176512">
                <a:moveTo>
                  <a:pt x="0" y="0"/>
                </a:moveTo>
                <a:lnTo>
                  <a:pt x="4176512" y="0"/>
                </a:lnTo>
                <a:lnTo>
                  <a:pt x="4176512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28723" y="646678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8300" y="3819170"/>
            <a:ext cx="5254385" cy="2429230"/>
            <a:chOff x="0" y="0"/>
            <a:chExt cx="2075807" cy="9596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5807" cy="959696"/>
            </a:xfrm>
            <a:custGeom>
              <a:avLst/>
              <a:gdLst/>
              <a:ahLst/>
              <a:cxnLst/>
              <a:rect r="r" b="b" t="t" l="l"/>
              <a:pathLst>
                <a:path h="959696" w="2075807">
                  <a:moveTo>
                    <a:pt x="0" y="0"/>
                  </a:moveTo>
                  <a:lnTo>
                    <a:pt x="2075807" y="0"/>
                  </a:lnTo>
                  <a:lnTo>
                    <a:pt x="2075807" y="959696"/>
                  </a:lnTo>
                  <a:lnTo>
                    <a:pt x="0" y="95969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75807" cy="997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60853" y="4575109"/>
            <a:ext cx="576427" cy="576427"/>
          </a:xfrm>
          <a:custGeom>
            <a:avLst/>
            <a:gdLst/>
            <a:ahLst/>
            <a:cxnLst/>
            <a:rect r="r" b="b" t="t" l="l"/>
            <a:pathLst>
              <a:path h="576427" w="576427">
                <a:moveTo>
                  <a:pt x="0" y="0"/>
                </a:moveTo>
                <a:lnTo>
                  <a:pt x="576427" y="0"/>
                </a:lnTo>
                <a:lnTo>
                  <a:pt x="576427" y="576426"/>
                </a:lnTo>
                <a:lnTo>
                  <a:pt x="0" y="5764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2364" y="4575109"/>
            <a:ext cx="586512" cy="614441"/>
          </a:xfrm>
          <a:custGeom>
            <a:avLst/>
            <a:gdLst/>
            <a:ahLst/>
            <a:cxnLst/>
            <a:rect r="r" b="b" t="t" l="l"/>
            <a:pathLst>
              <a:path h="614441" w="586512">
                <a:moveTo>
                  <a:pt x="0" y="0"/>
                </a:moveTo>
                <a:lnTo>
                  <a:pt x="586512" y="0"/>
                </a:lnTo>
                <a:lnTo>
                  <a:pt x="586512" y="614440"/>
                </a:lnTo>
                <a:lnTo>
                  <a:pt x="0" y="6144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13169" y="4686543"/>
            <a:ext cx="467145" cy="464992"/>
          </a:xfrm>
          <a:custGeom>
            <a:avLst/>
            <a:gdLst/>
            <a:ahLst/>
            <a:cxnLst/>
            <a:rect r="r" b="b" t="t" l="l"/>
            <a:pathLst>
              <a:path h="464992" w="467145">
                <a:moveTo>
                  <a:pt x="0" y="0"/>
                </a:moveTo>
                <a:lnTo>
                  <a:pt x="467145" y="0"/>
                </a:lnTo>
                <a:lnTo>
                  <a:pt x="467145" y="464992"/>
                </a:lnTo>
                <a:lnTo>
                  <a:pt x="0" y="46499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274522" y="4114737"/>
            <a:ext cx="420154" cy="367266"/>
          </a:xfrm>
          <a:custGeom>
            <a:avLst/>
            <a:gdLst/>
            <a:ahLst/>
            <a:cxnLst/>
            <a:rect r="r" b="b" t="t" l="l"/>
            <a:pathLst>
              <a:path h="367266" w="420154">
                <a:moveTo>
                  <a:pt x="0" y="0"/>
                </a:moveTo>
                <a:lnTo>
                  <a:pt x="420154" y="0"/>
                </a:lnTo>
                <a:lnTo>
                  <a:pt x="420154" y="367266"/>
                </a:lnTo>
                <a:lnTo>
                  <a:pt x="0" y="367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-1440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785262" y="4149936"/>
            <a:ext cx="683437" cy="293012"/>
          </a:xfrm>
          <a:custGeom>
            <a:avLst/>
            <a:gdLst/>
            <a:ahLst/>
            <a:cxnLst/>
            <a:rect r="r" b="b" t="t" l="l"/>
            <a:pathLst>
              <a:path h="293012" w="683437">
                <a:moveTo>
                  <a:pt x="0" y="0"/>
                </a:moveTo>
                <a:lnTo>
                  <a:pt x="683437" y="0"/>
                </a:lnTo>
                <a:lnTo>
                  <a:pt x="683437" y="293012"/>
                </a:lnTo>
                <a:lnTo>
                  <a:pt x="0" y="29301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75113" r="0" b="-58132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829467" y="4114737"/>
            <a:ext cx="349804" cy="349804"/>
          </a:xfrm>
          <a:custGeom>
            <a:avLst/>
            <a:gdLst/>
            <a:ahLst/>
            <a:cxnLst/>
            <a:rect r="r" b="b" t="t" l="l"/>
            <a:pathLst>
              <a:path h="349804" w="349804">
                <a:moveTo>
                  <a:pt x="0" y="0"/>
                </a:moveTo>
                <a:lnTo>
                  <a:pt x="349805" y="0"/>
                </a:lnTo>
                <a:lnTo>
                  <a:pt x="349805" y="349804"/>
                </a:lnTo>
                <a:lnTo>
                  <a:pt x="0" y="34980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237408" y="5135213"/>
            <a:ext cx="573586" cy="468907"/>
          </a:xfrm>
          <a:custGeom>
            <a:avLst/>
            <a:gdLst/>
            <a:ahLst/>
            <a:cxnLst/>
            <a:rect r="r" b="b" t="t" l="l"/>
            <a:pathLst>
              <a:path h="468907" w="573586">
                <a:moveTo>
                  <a:pt x="0" y="0"/>
                </a:moveTo>
                <a:lnTo>
                  <a:pt x="573586" y="0"/>
                </a:lnTo>
                <a:lnTo>
                  <a:pt x="573586" y="468907"/>
                </a:lnTo>
                <a:lnTo>
                  <a:pt x="0" y="4689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656511" y="3819170"/>
            <a:ext cx="3228417" cy="2429230"/>
            <a:chOff x="0" y="0"/>
            <a:chExt cx="1275424" cy="9596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5424" cy="959696"/>
            </a:xfrm>
            <a:custGeom>
              <a:avLst/>
              <a:gdLst/>
              <a:ahLst/>
              <a:cxnLst/>
              <a:rect r="r" b="b" t="t" l="l"/>
              <a:pathLst>
                <a:path h="959696" w="1275424">
                  <a:moveTo>
                    <a:pt x="0" y="0"/>
                  </a:moveTo>
                  <a:lnTo>
                    <a:pt x="1275424" y="0"/>
                  </a:lnTo>
                  <a:lnTo>
                    <a:pt x="1275424" y="959696"/>
                  </a:lnTo>
                  <a:lnTo>
                    <a:pt x="0" y="95969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75424" cy="997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915743" y="4015781"/>
            <a:ext cx="475750" cy="475750"/>
          </a:xfrm>
          <a:custGeom>
            <a:avLst/>
            <a:gdLst/>
            <a:ahLst/>
            <a:cxnLst/>
            <a:rect r="r" b="b" t="t" l="l"/>
            <a:pathLst>
              <a:path h="475750" w="475750">
                <a:moveTo>
                  <a:pt x="0" y="0"/>
                </a:moveTo>
                <a:lnTo>
                  <a:pt x="475751" y="0"/>
                </a:lnTo>
                <a:lnTo>
                  <a:pt x="475751" y="475750"/>
                </a:lnTo>
                <a:lnTo>
                  <a:pt x="0" y="4757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>
            <a:off x="1173081" y="4919039"/>
            <a:ext cx="408370" cy="0"/>
          </a:xfrm>
          <a:prstGeom prst="line">
            <a:avLst/>
          </a:prstGeom>
          <a:ln cap="flat" w="19050">
            <a:solidFill>
              <a:srgbClr val="88888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>
            <a:off x="2316837" y="4928564"/>
            <a:ext cx="408370" cy="0"/>
          </a:xfrm>
          <a:prstGeom prst="line">
            <a:avLst/>
          </a:prstGeom>
          <a:ln cap="flat" w="19050">
            <a:solidFill>
              <a:srgbClr val="88888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6660251" y="4125618"/>
            <a:ext cx="196726" cy="196726"/>
          </a:xfrm>
          <a:custGeom>
            <a:avLst/>
            <a:gdLst/>
            <a:ahLst/>
            <a:cxnLst/>
            <a:rect r="r" b="b" t="t" l="l"/>
            <a:pathLst>
              <a:path h="196726" w="196726">
                <a:moveTo>
                  <a:pt x="0" y="0"/>
                </a:moveTo>
                <a:lnTo>
                  <a:pt x="196727" y="0"/>
                </a:lnTo>
                <a:lnTo>
                  <a:pt x="196727" y="196727"/>
                </a:lnTo>
                <a:lnTo>
                  <a:pt x="0" y="19672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>
            <a:off x="4501096" y="4510579"/>
            <a:ext cx="0" cy="523292"/>
          </a:xfrm>
          <a:prstGeom prst="line">
            <a:avLst/>
          </a:prstGeom>
          <a:ln cap="flat" w="19050">
            <a:solidFill>
              <a:srgbClr val="88888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 flipH="true">
            <a:off x="4689914" y="4762967"/>
            <a:ext cx="50" cy="270904"/>
          </a:xfrm>
          <a:prstGeom prst="line">
            <a:avLst/>
          </a:prstGeom>
          <a:ln cap="flat" w="19050">
            <a:solidFill>
              <a:srgbClr val="88888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5951786" y="4807536"/>
            <a:ext cx="453346" cy="497499"/>
          </a:xfrm>
          <a:custGeom>
            <a:avLst/>
            <a:gdLst/>
            <a:ahLst/>
            <a:cxnLst/>
            <a:rect r="r" b="b" t="t" l="l"/>
            <a:pathLst>
              <a:path h="497499" w="453346">
                <a:moveTo>
                  <a:pt x="0" y="0"/>
                </a:moveTo>
                <a:lnTo>
                  <a:pt x="453345" y="0"/>
                </a:lnTo>
                <a:lnTo>
                  <a:pt x="453345" y="497499"/>
                </a:lnTo>
                <a:lnTo>
                  <a:pt x="0" y="49749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7" id="27"/>
          <p:cNvSpPr/>
          <p:nvPr/>
        </p:nvSpPr>
        <p:spPr>
          <a:xfrm>
            <a:off x="4307485" y="4762967"/>
            <a:ext cx="0" cy="270854"/>
          </a:xfrm>
          <a:prstGeom prst="line">
            <a:avLst/>
          </a:prstGeom>
          <a:ln cap="flat" w="19050">
            <a:solidFill>
              <a:srgbClr val="88888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4043291" y="4464541"/>
            <a:ext cx="264194" cy="304946"/>
          </a:xfrm>
          <a:prstGeom prst="line">
            <a:avLst/>
          </a:prstGeom>
          <a:ln cap="flat" w="19050">
            <a:solidFill>
              <a:srgbClr val="88888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4689964" y="4464541"/>
            <a:ext cx="269491" cy="304946"/>
          </a:xfrm>
          <a:prstGeom prst="line">
            <a:avLst/>
          </a:prstGeom>
          <a:ln cap="flat" w="19050">
            <a:solidFill>
              <a:srgbClr val="88888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6666494" y="4892265"/>
            <a:ext cx="196726" cy="196726"/>
          </a:xfrm>
          <a:custGeom>
            <a:avLst/>
            <a:gdLst/>
            <a:ahLst/>
            <a:cxnLst/>
            <a:rect r="r" b="b" t="t" l="l"/>
            <a:pathLst>
              <a:path h="196726" w="196726">
                <a:moveTo>
                  <a:pt x="0" y="0"/>
                </a:moveTo>
                <a:lnTo>
                  <a:pt x="196726" y="0"/>
                </a:lnTo>
                <a:lnTo>
                  <a:pt x="196726" y="196726"/>
                </a:lnTo>
                <a:lnTo>
                  <a:pt x="0" y="1967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015800" y="5634188"/>
            <a:ext cx="389332" cy="357698"/>
          </a:xfrm>
          <a:custGeom>
            <a:avLst/>
            <a:gdLst/>
            <a:ahLst/>
            <a:cxnLst/>
            <a:rect r="r" b="b" t="t" l="l"/>
            <a:pathLst>
              <a:path h="357698" w="389332">
                <a:moveTo>
                  <a:pt x="0" y="0"/>
                </a:moveTo>
                <a:lnTo>
                  <a:pt x="389331" y="0"/>
                </a:lnTo>
                <a:lnTo>
                  <a:pt x="389331" y="357699"/>
                </a:lnTo>
                <a:lnTo>
                  <a:pt x="0" y="35769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4085844" y="231753"/>
            <a:ext cx="106046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Abstract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446589" y="6457940"/>
            <a:ext cx="77258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611314" y="645794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36464" y="3561995"/>
            <a:ext cx="2738058" cy="20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0"/>
              </a:lnSpc>
            </a:pPr>
            <a:r>
              <a:rPr lang="en-US" b="true" sz="1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Unified Governance &amp; Control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43379" y="5284885"/>
            <a:ext cx="811376" cy="31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7"/>
              </a:lnSpc>
            </a:pPr>
            <a:r>
              <a:rPr lang="en-US" sz="1100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Workflow Controller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77266" y="5260449"/>
            <a:ext cx="1106473" cy="31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7"/>
              </a:lnSpc>
            </a:pPr>
            <a:r>
              <a:rPr lang="en-US" sz="1100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Approval</a:t>
            </a:r>
          </a:p>
          <a:p>
            <a:pPr algn="ctr">
              <a:lnSpc>
                <a:spcPts val="1287"/>
              </a:lnSpc>
            </a:pPr>
            <a:r>
              <a:rPr lang="en-US" sz="1100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Required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682574" y="5237260"/>
            <a:ext cx="649635" cy="15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7"/>
              </a:lnSpc>
            </a:pPr>
            <a:r>
              <a:rPr lang="en-US" sz="1100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Execute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942096" y="5658542"/>
            <a:ext cx="1118002" cy="31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7"/>
              </a:lnSpc>
            </a:pPr>
            <a:r>
              <a:rPr lang="en-US" sz="1100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Single Interface</a:t>
            </a:r>
          </a:p>
          <a:p>
            <a:pPr algn="ctr">
              <a:lnSpc>
                <a:spcPts val="1287"/>
              </a:lnSpc>
            </a:pPr>
            <a:r>
              <a:rPr lang="en-US" sz="1100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Adapter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248944" y="3561995"/>
            <a:ext cx="2043551" cy="20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0"/>
              </a:lnSpc>
            </a:pPr>
            <a:r>
              <a:rPr lang="en-US" b="true" sz="1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Benefits &amp; Impact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83558" y="4135143"/>
            <a:ext cx="1640289" cy="31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6"/>
              </a:lnSpc>
            </a:pPr>
            <a:r>
              <a:rPr lang="en-US" sz="1099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Unified Observability &amp; Cost Tracking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278300" y="1037197"/>
            <a:ext cx="8606628" cy="2486698"/>
            <a:chOff x="0" y="0"/>
            <a:chExt cx="3400149" cy="98239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00149" cy="982399"/>
            </a:xfrm>
            <a:custGeom>
              <a:avLst/>
              <a:gdLst/>
              <a:ahLst/>
              <a:cxnLst/>
              <a:rect r="r" b="b" t="t" l="l"/>
              <a:pathLst>
                <a:path h="982399" w="3400149">
                  <a:moveTo>
                    <a:pt x="0" y="0"/>
                  </a:moveTo>
                  <a:lnTo>
                    <a:pt x="3400149" y="0"/>
                  </a:lnTo>
                  <a:lnTo>
                    <a:pt x="3400149" y="982399"/>
                  </a:lnTo>
                  <a:lnTo>
                    <a:pt x="0" y="982399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400149" cy="1020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358047" y="1107977"/>
            <a:ext cx="8485234" cy="2261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1"/>
              </a:lnSpc>
            </a:pP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address these critical inefficiencies, this pr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ject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introduces </a:t>
            </a:r>
            <a:r>
              <a:rPr lang="en-US" sz="1138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CloudMan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an AI-assisted, human-in-the-loo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multi-cloud deployment and management platform. T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primar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aim of CloudMan i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democratize cloud infrastructure provisioning by abstracting techn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ical 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complexities while ma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taining transparency. The system utilizes a sophisticated architecture driven by a </a:t>
            </a:r>
            <a:r>
              <a:rPr lang="en-US" sz="1138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Natural Language Processor</a:t>
            </a:r>
            <a:r>
              <a:rPr lang="en-US" sz="1138" spc="1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an AI Layer</a:t>
            </a:r>
            <a:r>
              <a:rPr lang="en-US" sz="1138" spc="1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that includes an </a:t>
            </a:r>
            <a:r>
              <a:rPr lang="en-US" sz="1138" spc="1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sz="1138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nfrastructure Planner</a:t>
            </a:r>
            <a:r>
              <a:rPr lang="en-US" sz="1138" spc="19">
                <a:solidFill>
                  <a:srgbClr val="036E72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1138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Cost Estimator</a:t>
            </a:r>
            <a:r>
              <a:rPr lang="en-US" sz="1138" spc="1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1138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Security/Risk Analyzer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Through a user-friendly web application, users can articulate requirements in natural language, which the system converts into executable </a:t>
            </a:r>
            <a:r>
              <a:rPr lang="en-US" sz="1138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Infrastructure as Code (IaC)</a:t>
            </a:r>
            <a:r>
              <a:rPr lang="en-US" sz="1138" spc="1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generations.</a:t>
            </a:r>
          </a:p>
          <a:p>
            <a:pPr algn="l">
              <a:lnSpc>
                <a:spcPts val="1331"/>
              </a:lnSpc>
            </a:pPr>
          </a:p>
          <a:p>
            <a:pPr algn="l">
              <a:lnSpc>
                <a:spcPts val="1331"/>
              </a:lnSpc>
            </a:pP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CloudMan ensures reliability and control through an 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Orchestration Layer that enforces a </a:t>
            </a:r>
            <a:r>
              <a:rPr lang="en-US" sz="1138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workflow controller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requires user approval before execution, mitigating the risk of automated errors. The platform integrates adapters for AWS, Azure, and GCP, allowing for seamless, centralized management across different providers through a </a:t>
            </a:r>
            <a:r>
              <a:rPr lang="en-US" sz="1138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single interface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By 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roviding unified observ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bilit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 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including </a:t>
            </a:r>
            <a:r>
              <a:rPr lang="en-US" sz="1138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cost tracking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logs, and alerting CloudM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 effectively 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olves the problem of multi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cloud fragmentation. Ultimatel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this platf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rm </a:t>
            </a:r>
            <a:r>
              <a:rPr lang="en-US" sz="1138" spc="19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reduces the learning curve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 beginner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138" spc="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nsures secure, error free, and cost-optimized cloud deployments.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89800" y="4901790"/>
            <a:ext cx="1640289" cy="31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6"/>
              </a:lnSpc>
            </a:pPr>
            <a:r>
              <a:rPr lang="en-US" sz="1099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Reduced Learning</a:t>
            </a:r>
          </a:p>
          <a:p>
            <a:pPr algn="ctr">
              <a:lnSpc>
                <a:spcPts val="1286"/>
              </a:lnSpc>
            </a:pPr>
            <a:r>
              <a:rPr lang="en-US" sz="1099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Curve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6701465" y="5669997"/>
            <a:ext cx="196726" cy="196726"/>
          </a:xfrm>
          <a:custGeom>
            <a:avLst/>
            <a:gdLst/>
            <a:ahLst/>
            <a:cxnLst/>
            <a:rect r="r" b="b" t="t" l="l"/>
            <a:pathLst>
              <a:path h="196726" w="196726">
                <a:moveTo>
                  <a:pt x="0" y="0"/>
                </a:moveTo>
                <a:lnTo>
                  <a:pt x="196726" y="0"/>
                </a:lnTo>
                <a:lnTo>
                  <a:pt x="196726" y="196726"/>
                </a:lnTo>
                <a:lnTo>
                  <a:pt x="0" y="1967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6924771" y="5679522"/>
            <a:ext cx="1640289" cy="15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6"/>
              </a:lnSpc>
            </a:pPr>
            <a:r>
              <a:rPr lang="en-US" sz="1099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Centralized Platform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83739" y="249431"/>
            <a:ext cx="4176512" cy="391163"/>
          </a:xfrm>
          <a:custGeom>
            <a:avLst/>
            <a:gdLst/>
            <a:ahLst/>
            <a:cxnLst/>
            <a:rect r="r" b="b" t="t" l="l"/>
            <a:pathLst>
              <a:path h="391163" w="4176512">
                <a:moveTo>
                  <a:pt x="0" y="0"/>
                </a:moveTo>
                <a:lnTo>
                  <a:pt x="4176512" y="0"/>
                </a:lnTo>
                <a:lnTo>
                  <a:pt x="4176512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28723" y="646678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484" y="1230826"/>
            <a:ext cx="4318727" cy="1534484"/>
            <a:chOff x="0" y="0"/>
            <a:chExt cx="1706164" cy="606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164" cy="606216"/>
            </a:xfrm>
            <a:custGeom>
              <a:avLst/>
              <a:gdLst/>
              <a:ahLst/>
              <a:cxnLst/>
              <a:rect r="r" b="b" t="t" l="l"/>
              <a:pathLst>
                <a:path h="606216" w="1706164">
                  <a:moveTo>
                    <a:pt x="0" y="0"/>
                  </a:moveTo>
                  <a:lnTo>
                    <a:pt x="1706164" y="0"/>
                  </a:lnTo>
                  <a:lnTo>
                    <a:pt x="1706164" y="606216"/>
                  </a:lnTo>
                  <a:lnTo>
                    <a:pt x="0" y="60621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06164" cy="644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62484" y="3913397"/>
            <a:ext cx="3872612" cy="2250674"/>
          </a:xfrm>
          <a:custGeom>
            <a:avLst/>
            <a:gdLst/>
            <a:ahLst/>
            <a:cxnLst/>
            <a:rect r="r" b="b" t="t" l="l"/>
            <a:pathLst>
              <a:path h="2250674" w="3872612">
                <a:moveTo>
                  <a:pt x="0" y="0"/>
                </a:moveTo>
                <a:lnTo>
                  <a:pt x="3872612" y="0"/>
                </a:lnTo>
                <a:lnTo>
                  <a:pt x="3872612" y="2250673"/>
                </a:lnTo>
                <a:lnTo>
                  <a:pt x="0" y="22506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2648" r="0" b="-11200"/>
            </a:stretch>
          </a:blipFill>
          <a:ln w="14288" cap="sq">
            <a:solidFill>
              <a:srgbClr val="03989E"/>
            </a:solidFill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247583" y="3921526"/>
            <a:ext cx="2857060" cy="2250674"/>
          </a:xfrm>
          <a:custGeom>
            <a:avLst/>
            <a:gdLst/>
            <a:ahLst/>
            <a:cxnLst/>
            <a:rect r="r" b="b" t="t" l="l"/>
            <a:pathLst>
              <a:path h="2250674" w="2857060">
                <a:moveTo>
                  <a:pt x="0" y="0"/>
                </a:moveTo>
                <a:lnTo>
                  <a:pt x="2857060" y="0"/>
                </a:lnTo>
                <a:lnTo>
                  <a:pt x="2857060" y="2250674"/>
                </a:lnTo>
                <a:lnTo>
                  <a:pt x="0" y="22506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8766" r="0" b="-7391"/>
            </a:stretch>
          </a:blipFill>
          <a:ln w="14288" cap="sq">
            <a:solidFill>
              <a:srgbClr val="03989E"/>
            </a:soli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425924" y="1341686"/>
            <a:ext cx="685800" cy="364481"/>
          </a:xfrm>
          <a:custGeom>
            <a:avLst/>
            <a:gdLst/>
            <a:ahLst/>
            <a:cxnLst/>
            <a:rect r="r" b="b" t="t" l="l"/>
            <a:pathLst>
              <a:path h="364481" w="685800">
                <a:moveTo>
                  <a:pt x="0" y="0"/>
                </a:moveTo>
                <a:lnTo>
                  <a:pt x="685800" y="0"/>
                </a:lnTo>
                <a:lnTo>
                  <a:pt x="685800" y="364481"/>
                </a:lnTo>
                <a:lnTo>
                  <a:pt x="0" y="3644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25924" y="1861446"/>
            <a:ext cx="378944" cy="569451"/>
            <a:chOff x="0" y="0"/>
            <a:chExt cx="505258" cy="7592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5258" cy="759268"/>
            </a:xfrm>
            <a:custGeom>
              <a:avLst/>
              <a:gdLst/>
              <a:ahLst/>
              <a:cxnLst/>
              <a:rect r="r" b="b" t="t" l="l"/>
              <a:pathLst>
                <a:path h="759268" w="505258">
                  <a:moveTo>
                    <a:pt x="0" y="0"/>
                  </a:moveTo>
                  <a:lnTo>
                    <a:pt x="505258" y="0"/>
                  </a:lnTo>
                  <a:lnTo>
                    <a:pt x="505258" y="759268"/>
                  </a:lnTo>
                  <a:lnTo>
                    <a:pt x="0" y="759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76" y="161990"/>
              <a:ext cx="504682" cy="435288"/>
            </a:xfrm>
            <a:custGeom>
              <a:avLst/>
              <a:gdLst/>
              <a:ahLst/>
              <a:cxnLst/>
              <a:rect r="r" b="b" t="t" l="l"/>
              <a:pathLst>
                <a:path h="435288" w="504682">
                  <a:moveTo>
                    <a:pt x="0" y="0"/>
                  </a:moveTo>
                  <a:lnTo>
                    <a:pt x="504682" y="0"/>
                  </a:lnTo>
                  <a:lnTo>
                    <a:pt x="504682" y="435288"/>
                  </a:lnTo>
                  <a:lnTo>
                    <a:pt x="0" y="435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881843" y="2088144"/>
            <a:ext cx="459761" cy="459761"/>
          </a:xfrm>
          <a:custGeom>
            <a:avLst/>
            <a:gdLst/>
            <a:ahLst/>
            <a:cxnLst/>
            <a:rect r="r" b="b" t="t" l="l"/>
            <a:pathLst>
              <a:path h="459761" w="459761">
                <a:moveTo>
                  <a:pt x="0" y="0"/>
                </a:moveTo>
                <a:lnTo>
                  <a:pt x="459762" y="0"/>
                </a:lnTo>
                <a:lnTo>
                  <a:pt x="459762" y="459761"/>
                </a:lnTo>
                <a:lnTo>
                  <a:pt x="0" y="4597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198080" y="3913397"/>
            <a:ext cx="1698432" cy="2250674"/>
            <a:chOff x="0" y="0"/>
            <a:chExt cx="670986" cy="8891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0986" cy="889155"/>
            </a:xfrm>
            <a:custGeom>
              <a:avLst/>
              <a:gdLst/>
              <a:ahLst/>
              <a:cxnLst/>
              <a:rect r="r" b="b" t="t" l="l"/>
              <a:pathLst>
                <a:path h="889155" w="670986">
                  <a:moveTo>
                    <a:pt x="0" y="0"/>
                  </a:moveTo>
                  <a:lnTo>
                    <a:pt x="670986" y="0"/>
                  </a:lnTo>
                  <a:lnTo>
                    <a:pt x="670986" y="889155"/>
                  </a:lnTo>
                  <a:lnTo>
                    <a:pt x="0" y="88915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70986" cy="927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693756" y="5457934"/>
            <a:ext cx="707082" cy="618076"/>
          </a:xfrm>
          <a:custGeom>
            <a:avLst/>
            <a:gdLst/>
            <a:ahLst/>
            <a:cxnLst/>
            <a:rect r="r" b="b" t="t" l="l"/>
            <a:pathLst>
              <a:path h="618076" w="707082">
                <a:moveTo>
                  <a:pt x="0" y="0"/>
                </a:moveTo>
                <a:lnTo>
                  <a:pt x="707081" y="0"/>
                </a:lnTo>
                <a:lnTo>
                  <a:pt x="707081" y="618075"/>
                </a:lnTo>
                <a:lnTo>
                  <a:pt x="0" y="618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-1440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472216" y="4945771"/>
            <a:ext cx="1150162" cy="493112"/>
          </a:xfrm>
          <a:custGeom>
            <a:avLst/>
            <a:gdLst/>
            <a:ahLst/>
            <a:cxnLst/>
            <a:rect r="r" b="b" t="t" l="l"/>
            <a:pathLst>
              <a:path h="493112" w="1150162">
                <a:moveTo>
                  <a:pt x="0" y="0"/>
                </a:moveTo>
                <a:lnTo>
                  <a:pt x="1150161" y="0"/>
                </a:lnTo>
                <a:lnTo>
                  <a:pt x="1150161" y="493113"/>
                </a:lnTo>
                <a:lnTo>
                  <a:pt x="0" y="49311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-75113" r="0" b="-58132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752952" y="4281302"/>
            <a:ext cx="588689" cy="588689"/>
          </a:xfrm>
          <a:custGeom>
            <a:avLst/>
            <a:gdLst/>
            <a:ahLst/>
            <a:cxnLst/>
            <a:rect r="r" b="b" t="t" l="l"/>
            <a:pathLst>
              <a:path h="588689" w="588689">
                <a:moveTo>
                  <a:pt x="0" y="0"/>
                </a:moveTo>
                <a:lnTo>
                  <a:pt x="588689" y="0"/>
                </a:lnTo>
                <a:lnTo>
                  <a:pt x="588689" y="588688"/>
                </a:lnTo>
                <a:lnTo>
                  <a:pt x="0" y="58868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666936" y="1230826"/>
            <a:ext cx="4239102" cy="1534484"/>
            <a:chOff x="0" y="0"/>
            <a:chExt cx="1674707" cy="606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74707" cy="606216"/>
            </a:xfrm>
            <a:custGeom>
              <a:avLst/>
              <a:gdLst/>
              <a:ahLst/>
              <a:cxnLst/>
              <a:rect r="r" b="b" t="t" l="l"/>
              <a:pathLst>
                <a:path h="606216" w="1674707">
                  <a:moveTo>
                    <a:pt x="0" y="0"/>
                  </a:moveTo>
                  <a:lnTo>
                    <a:pt x="1674707" y="0"/>
                  </a:lnTo>
                  <a:lnTo>
                    <a:pt x="1674707" y="606216"/>
                  </a:lnTo>
                  <a:lnTo>
                    <a:pt x="0" y="60621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674707" cy="644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624376" y="1299993"/>
            <a:ext cx="2274175" cy="345642"/>
            <a:chOff x="0" y="0"/>
            <a:chExt cx="3032234" cy="46085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032234" cy="460856"/>
              <a:chOff x="0" y="0"/>
              <a:chExt cx="898440" cy="13655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98440" cy="136550"/>
              </a:xfrm>
              <a:custGeom>
                <a:avLst/>
                <a:gdLst/>
                <a:ahLst/>
                <a:cxnLst/>
                <a:rect r="r" b="b" t="t" l="l"/>
                <a:pathLst>
                  <a:path h="136550" w="898440">
                    <a:moveTo>
                      <a:pt x="27234" y="0"/>
                    </a:moveTo>
                    <a:lnTo>
                      <a:pt x="871206" y="0"/>
                    </a:lnTo>
                    <a:cubicBezTo>
                      <a:pt x="878428" y="0"/>
                      <a:pt x="885356" y="2869"/>
                      <a:pt x="890463" y="7977"/>
                    </a:cubicBezTo>
                    <a:cubicBezTo>
                      <a:pt x="895570" y="13084"/>
                      <a:pt x="898440" y="20011"/>
                      <a:pt x="898440" y="27234"/>
                    </a:cubicBezTo>
                    <a:lnTo>
                      <a:pt x="898440" y="109316"/>
                    </a:lnTo>
                    <a:cubicBezTo>
                      <a:pt x="898440" y="116539"/>
                      <a:pt x="895570" y="123466"/>
                      <a:pt x="890463" y="128573"/>
                    </a:cubicBezTo>
                    <a:cubicBezTo>
                      <a:pt x="885356" y="133681"/>
                      <a:pt x="878428" y="136550"/>
                      <a:pt x="871206" y="136550"/>
                    </a:cubicBezTo>
                    <a:lnTo>
                      <a:pt x="27234" y="136550"/>
                    </a:lnTo>
                    <a:cubicBezTo>
                      <a:pt x="20011" y="136550"/>
                      <a:pt x="13084" y="133681"/>
                      <a:pt x="7977" y="128573"/>
                    </a:cubicBezTo>
                    <a:cubicBezTo>
                      <a:pt x="2869" y="123466"/>
                      <a:pt x="0" y="116539"/>
                      <a:pt x="0" y="109316"/>
                    </a:cubicBezTo>
                    <a:lnTo>
                      <a:pt x="0" y="27234"/>
                    </a:lnTo>
                    <a:cubicBezTo>
                      <a:pt x="0" y="20011"/>
                      <a:pt x="2869" y="13084"/>
                      <a:pt x="7977" y="7977"/>
                    </a:cubicBezTo>
                    <a:cubicBezTo>
                      <a:pt x="13084" y="2869"/>
                      <a:pt x="20011" y="0"/>
                      <a:pt x="27234" y="0"/>
                    </a:cubicBezTo>
                    <a:close/>
                  </a:path>
                </a:pathLst>
              </a:custGeom>
              <a:solidFill>
                <a:srgbClr val="03989E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898440" cy="174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76690" y="129209"/>
              <a:ext cx="2678853" cy="211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87"/>
                </a:lnSpc>
              </a:pPr>
              <a:r>
                <a:rPr lang="en-US" sz="1100" spc="18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SAAS </a:t>
              </a:r>
              <a:r>
                <a:rPr lang="en-US" sz="1100" spc="18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(Software as a Service)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341166" y="1704402"/>
            <a:ext cx="2840595" cy="345642"/>
            <a:chOff x="0" y="0"/>
            <a:chExt cx="3787460" cy="46085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3787460" cy="460856"/>
              <a:chOff x="0" y="0"/>
              <a:chExt cx="1122210" cy="13655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122210" cy="136550"/>
              </a:xfrm>
              <a:custGeom>
                <a:avLst/>
                <a:gdLst/>
                <a:ahLst/>
                <a:cxnLst/>
                <a:rect r="r" b="b" t="t" l="l"/>
                <a:pathLst>
                  <a:path h="136550" w="1122210">
                    <a:moveTo>
                      <a:pt x="21804" y="0"/>
                    </a:moveTo>
                    <a:lnTo>
                      <a:pt x="1100407" y="0"/>
                    </a:lnTo>
                    <a:cubicBezTo>
                      <a:pt x="1106189" y="0"/>
                      <a:pt x="1111735" y="2297"/>
                      <a:pt x="1115824" y="6386"/>
                    </a:cubicBezTo>
                    <a:cubicBezTo>
                      <a:pt x="1119913" y="10475"/>
                      <a:pt x="1122210" y="16021"/>
                      <a:pt x="1122210" y="21804"/>
                    </a:cubicBezTo>
                    <a:lnTo>
                      <a:pt x="1122210" y="114746"/>
                    </a:lnTo>
                    <a:cubicBezTo>
                      <a:pt x="1122210" y="120529"/>
                      <a:pt x="1119913" y="126075"/>
                      <a:pt x="1115824" y="130164"/>
                    </a:cubicBezTo>
                    <a:cubicBezTo>
                      <a:pt x="1111735" y="134253"/>
                      <a:pt x="1106189" y="136550"/>
                      <a:pt x="1100407" y="136550"/>
                    </a:cubicBezTo>
                    <a:lnTo>
                      <a:pt x="21804" y="136550"/>
                    </a:lnTo>
                    <a:cubicBezTo>
                      <a:pt x="16021" y="136550"/>
                      <a:pt x="10475" y="134253"/>
                      <a:pt x="6386" y="130164"/>
                    </a:cubicBezTo>
                    <a:cubicBezTo>
                      <a:pt x="2297" y="126075"/>
                      <a:pt x="0" y="120529"/>
                      <a:pt x="0" y="114746"/>
                    </a:cubicBezTo>
                    <a:lnTo>
                      <a:pt x="0" y="21804"/>
                    </a:lnTo>
                    <a:cubicBezTo>
                      <a:pt x="0" y="16021"/>
                      <a:pt x="2297" y="10475"/>
                      <a:pt x="6386" y="6386"/>
                    </a:cubicBezTo>
                    <a:cubicBezTo>
                      <a:pt x="10475" y="2297"/>
                      <a:pt x="16021" y="0"/>
                      <a:pt x="21804" y="0"/>
                    </a:cubicBezTo>
                    <a:close/>
                  </a:path>
                </a:pathLst>
              </a:custGeom>
              <a:solidFill>
                <a:srgbClr val="318BA2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122210" cy="174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554303" y="129209"/>
              <a:ext cx="2678853" cy="211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87"/>
                </a:lnSpc>
              </a:pPr>
              <a:r>
                <a:rPr lang="en-US" sz="1100" spc="18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PAAS </a:t>
              </a:r>
              <a:r>
                <a:rPr lang="en-US" sz="1100" spc="18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(Platform as a Service)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181286" y="2107103"/>
            <a:ext cx="3160355" cy="345642"/>
            <a:chOff x="0" y="0"/>
            <a:chExt cx="4213807" cy="460856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4213807" cy="460856"/>
              <a:chOff x="0" y="0"/>
              <a:chExt cx="1248535" cy="13655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248535" cy="136550"/>
              </a:xfrm>
              <a:custGeom>
                <a:avLst/>
                <a:gdLst/>
                <a:ahLst/>
                <a:cxnLst/>
                <a:rect r="r" b="b" t="t" l="l"/>
                <a:pathLst>
                  <a:path h="136550" w="1248535">
                    <a:moveTo>
                      <a:pt x="19598" y="0"/>
                    </a:moveTo>
                    <a:lnTo>
                      <a:pt x="1228938" y="0"/>
                    </a:lnTo>
                    <a:cubicBezTo>
                      <a:pt x="1234135" y="0"/>
                      <a:pt x="1239120" y="2065"/>
                      <a:pt x="1242795" y="5740"/>
                    </a:cubicBezTo>
                    <a:cubicBezTo>
                      <a:pt x="1246471" y="9415"/>
                      <a:pt x="1248535" y="14400"/>
                      <a:pt x="1248535" y="19598"/>
                    </a:cubicBezTo>
                    <a:lnTo>
                      <a:pt x="1248535" y="116952"/>
                    </a:lnTo>
                    <a:cubicBezTo>
                      <a:pt x="1248535" y="122150"/>
                      <a:pt x="1246471" y="127135"/>
                      <a:pt x="1242795" y="130810"/>
                    </a:cubicBezTo>
                    <a:cubicBezTo>
                      <a:pt x="1239120" y="134485"/>
                      <a:pt x="1234135" y="136550"/>
                      <a:pt x="1228938" y="136550"/>
                    </a:cubicBezTo>
                    <a:lnTo>
                      <a:pt x="19598" y="136550"/>
                    </a:lnTo>
                    <a:cubicBezTo>
                      <a:pt x="14400" y="136550"/>
                      <a:pt x="9415" y="134485"/>
                      <a:pt x="5740" y="130810"/>
                    </a:cubicBezTo>
                    <a:cubicBezTo>
                      <a:pt x="2065" y="127135"/>
                      <a:pt x="0" y="122150"/>
                      <a:pt x="0" y="116952"/>
                    </a:cubicBezTo>
                    <a:lnTo>
                      <a:pt x="0" y="19598"/>
                    </a:lnTo>
                    <a:cubicBezTo>
                      <a:pt x="0" y="14400"/>
                      <a:pt x="2065" y="9415"/>
                      <a:pt x="5740" y="5740"/>
                    </a:cubicBezTo>
                    <a:cubicBezTo>
                      <a:pt x="9415" y="2065"/>
                      <a:pt x="14400" y="0"/>
                      <a:pt x="19598" y="0"/>
                    </a:cubicBezTo>
                    <a:close/>
                  </a:path>
                </a:pathLst>
              </a:custGeom>
              <a:solidFill>
                <a:srgbClr val="01627B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248535" cy="174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549280" y="129209"/>
              <a:ext cx="3115246" cy="211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87"/>
                </a:lnSpc>
              </a:pPr>
              <a:r>
                <a:rPr lang="en-US" sz="1100" spc="18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IAAS </a:t>
              </a:r>
              <a:r>
                <a:rPr lang="en-US" sz="1100" spc="18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(Infrastructure as a Service)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true" flipV="false" rot="0">
            <a:off x="1226274" y="3032010"/>
            <a:ext cx="624073" cy="624073"/>
          </a:xfrm>
          <a:custGeom>
            <a:avLst/>
            <a:gdLst/>
            <a:ahLst/>
            <a:cxnLst/>
            <a:rect r="r" b="b" t="t" l="l"/>
            <a:pathLst>
              <a:path h="624073" w="624073">
                <a:moveTo>
                  <a:pt x="624073" y="0"/>
                </a:moveTo>
                <a:lnTo>
                  <a:pt x="0" y="0"/>
                </a:lnTo>
                <a:lnTo>
                  <a:pt x="0" y="624073"/>
                </a:lnTo>
                <a:lnTo>
                  <a:pt x="624073" y="624073"/>
                </a:lnTo>
                <a:lnTo>
                  <a:pt x="624073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794356" y="3108210"/>
            <a:ext cx="686405" cy="485631"/>
          </a:xfrm>
          <a:custGeom>
            <a:avLst/>
            <a:gdLst/>
            <a:ahLst/>
            <a:cxnLst/>
            <a:rect r="r" b="b" t="t" l="l"/>
            <a:pathLst>
              <a:path h="485631" w="686405">
                <a:moveTo>
                  <a:pt x="0" y="0"/>
                </a:moveTo>
                <a:lnTo>
                  <a:pt x="686405" y="0"/>
                </a:lnTo>
                <a:lnTo>
                  <a:pt x="686405" y="485632"/>
                </a:lnTo>
                <a:lnTo>
                  <a:pt x="0" y="48563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2659080" y="3108210"/>
            <a:ext cx="1426831" cy="171220"/>
          </a:xfrm>
          <a:custGeom>
            <a:avLst/>
            <a:gdLst/>
            <a:ahLst/>
            <a:cxnLst/>
            <a:rect r="r" b="b" t="t" l="l"/>
            <a:pathLst>
              <a:path h="171220" w="1426831">
                <a:moveTo>
                  <a:pt x="0" y="0"/>
                </a:moveTo>
                <a:lnTo>
                  <a:pt x="1426831" y="0"/>
                </a:lnTo>
                <a:lnTo>
                  <a:pt x="1426831" y="171220"/>
                </a:lnTo>
                <a:lnTo>
                  <a:pt x="0" y="17122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true" flipV="false" rot="0">
            <a:off x="2659080" y="3279430"/>
            <a:ext cx="1426831" cy="171220"/>
          </a:xfrm>
          <a:custGeom>
            <a:avLst/>
            <a:gdLst/>
            <a:ahLst/>
            <a:cxnLst/>
            <a:rect r="r" b="b" t="t" l="l"/>
            <a:pathLst>
              <a:path h="171220" w="1426831">
                <a:moveTo>
                  <a:pt x="1426831" y="0"/>
                </a:moveTo>
                <a:lnTo>
                  <a:pt x="0" y="0"/>
                </a:lnTo>
                <a:lnTo>
                  <a:pt x="0" y="171219"/>
                </a:lnTo>
                <a:lnTo>
                  <a:pt x="1426831" y="171219"/>
                </a:lnTo>
                <a:lnTo>
                  <a:pt x="1426831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4122636" y="3032010"/>
            <a:ext cx="898729" cy="477646"/>
          </a:xfrm>
          <a:custGeom>
            <a:avLst/>
            <a:gdLst/>
            <a:ahLst/>
            <a:cxnLst/>
            <a:rect r="r" b="b" t="t" l="l"/>
            <a:pathLst>
              <a:path h="477646" w="898729">
                <a:moveTo>
                  <a:pt x="0" y="0"/>
                </a:moveTo>
                <a:lnTo>
                  <a:pt x="898728" y="0"/>
                </a:lnTo>
                <a:lnTo>
                  <a:pt x="898728" y="477646"/>
                </a:lnTo>
                <a:lnTo>
                  <a:pt x="0" y="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6751440" y="2851035"/>
            <a:ext cx="446640" cy="739777"/>
          </a:xfrm>
          <a:custGeom>
            <a:avLst/>
            <a:gdLst/>
            <a:ahLst/>
            <a:cxnLst/>
            <a:rect r="r" b="b" t="t" l="l"/>
            <a:pathLst>
              <a:path h="739777" w="446640">
                <a:moveTo>
                  <a:pt x="0" y="0"/>
                </a:moveTo>
                <a:lnTo>
                  <a:pt x="446640" y="0"/>
                </a:lnTo>
                <a:lnTo>
                  <a:pt x="446640" y="739777"/>
                </a:lnTo>
                <a:lnTo>
                  <a:pt x="0" y="73977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5126811" y="3099613"/>
            <a:ext cx="1426831" cy="171220"/>
          </a:xfrm>
          <a:custGeom>
            <a:avLst/>
            <a:gdLst/>
            <a:ahLst/>
            <a:cxnLst/>
            <a:rect r="r" b="b" t="t" l="l"/>
            <a:pathLst>
              <a:path h="171220" w="1426831">
                <a:moveTo>
                  <a:pt x="0" y="0"/>
                </a:moveTo>
                <a:lnTo>
                  <a:pt x="1426830" y="0"/>
                </a:lnTo>
                <a:lnTo>
                  <a:pt x="1426830" y="171220"/>
                </a:lnTo>
                <a:lnTo>
                  <a:pt x="0" y="17122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5126811" y="3270833"/>
            <a:ext cx="1426831" cy="171220"/>
          </a:xfrm>
          <a:custGeom>
            <a:avLst/>
            <a:gdLst/>
            <a:ahLst/>
            <a:cxnLst/>
            <a:rect r="r" b="b" t="t" l="l"/>
            <a:pathLst>
              <a:path h="171220" w="1426831">
                <a:moveTo>
                  <a:pt x="1426830" y="0"/>
                </a:moveTo>
                <a:lnTo>
                  <a:pt x="0" y="0"/>
                </a:lnTo>
                <a:lnTo>
                  <a:pt x="0" y="171220"/>
                </a:lnTo>
                <a:lnTo>
                  <a:pt x="1426830" y="171220"/>
                </a:lnTo>
                <a:lnTo>
                  <a:pt x="142683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7252634" y="2976558"/>
            <a:ext cx="439164" cy="605744"/>
          </a:xfrm>
          <a:custGeom>
            <a:avLst/>
            <a:gdLst/>
            <a:ahLst/>
            <a:cxnLst/>
            <a:rect r="r" b="b" t="t" l="l"/>
            <a:pathLst>
              <a:path h="605744" w="439164">
                <a:moveTo>
                  <a:pt x="0" y="0"/>
                </a:moveTo>
                <a:lnTo>
                  <a:pt x="439164" y="0"/>
                </a:lnTo>
                <a:lnTo>
                  <a:pt x="439164" y="605744"/>
                </a:lnTo>
                <a:lnTo>
                  <a:pt x="0" y="60574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3807126" y="241935"/>
            <a:ext cx="154817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446589" y="6457940"/>
            <a:ext cx="77258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53268" y="944462"/>
            <a:ext cx="2188162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cloud computing ?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03592" y="1445631"/>
            <a:ext cx="3115632" cy="103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Delivery of </a:t>
            </a:r>
            <a:r>
              <a:rPr lang="en-US" sz="1200" spc="20" b="true">
                <a:solidFill>
                  <a:srgbClr val="03989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servers, storage, databases, and software</a:t>
            </a:r>
            <a:r>
              <a:rPr lang="en-US" sz="1200" spc="2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over the internet. </a:t>
            </a:r>
          </a:p>
          <a:p>
            <a:pPr algn="l">
              <a:lnSpc>
                <a:spcPts val="1404"/>
              </a:lnSpc>
            </a:pPr>
          </a:p>
          <a:p>
            <a:pPr algn="l">
              <a:lnSpc>
                <a:spcPts val="1404"/>
              </a:lnSpc>
            </a:pPr>
            <a:r>
              <a:rPr lang="en-US" sz="1200" spc="20" b="true">
                <a:solidFill>
                  <a:srgbClr val="03989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physical infrastructure</a:t>
            </a:r>
            <a:r>
              <a:rPr lang="en-US" sz="1200" spc="2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required.</a:t>
            </a:r>
          </a:p>
          <a:p>
            <a:pPr algn="l">
              <a:lnSpc>
                <a:spcPts val="1404"/>
              </a:lnSpc>
            </a:pPr>
          </a:p>
          <a:p>
            <a:pPr algn="l">
              <a:lnSpc>
                <a:spcPts val="1404"/>
              </a:lnSpc>
            </a:pP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On-demand, scalable, </a:t>
            </a:r>
            <a:r>
              <a:rPr lang="en-US" sz="1200" spc="20" b="true">
                <a:solidFill>
                  <a:srgbClr val="03989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pay-as-you-use</a:t>
            </a: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437344" y="3978407"/>
            <a:ext cx="1219905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 Providers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689311" y="944462"/>
            <a:ext cx="2175302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 Service Models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287529" y="2538380"/>
            <a:ext cx="3054112" cy="13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9"/>
              </a:lnSpc>
            </a:pPr>
            <a:r>
              <a:rPr lang="en-US" sz="948" spc="1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From renting hardware to using finished software.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343923" y="3600337"/>
            <a:ext cx="474576" cy="15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3"/>
              </a:lnSpc>
            </a:pPr>
            <a:r>
              <a:rPr lang="en-US" sz="1156" spc="1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611314" y="645794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83739" y="249431"/>
            <a:ext cx="4176512" cy="391163"/>
          </a:xfrm>
          <a:custGeom>
            <a:avLst/>
            <a:gdLst/>
            <a:ahLst/>
            <a:cxnLst/>
            <a:rect r="r" b="b" t="t" l="l"/>
            <a:pathLst>
              <a:path h="391163" w="4176512">
                <a:moveTo>
                  <a:pt x="0" y="0"/>
                </a:moveTo>
                <a:lnTo>
                  <a:pt x="4176512" y="0"/>
                </a:lnTo>
                <a:lnTo>
                  <a:pt x="4176512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09673" y="6457255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89439" y="6457255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442" y="1260664"/>
            <a:ext cx="4077277" cy="5129915"/>
            <a:chOff x="0" y="0"/>
            <a:chExt cx="1610776" cy="20266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10776" cy="2026633"/>
            </a:xfrm>
            <a:custGeom>
              <a:avLst/>
              <a:gdLst/>
              <a:ahLst/>
              <a:cxnLst/>
              <a:rect r="r" b="b" t="t" l="l"/>
              <a:pathLst>
                <a:path h="2026633" w="1610776">
                  <a:moveTo>
                    <a:pt x="0" y="0"/>
                  </a:moveTo>
                  <a:lnTo>
                    <a:pt x="1610776" y="0"/>
                  </a:lnTo>
                  <a:lnTo>
                    <a:pt x="1610776" y="2026633"/>
                  </a:lnTo>
                  <a:lnTo>
                    <a:pt x="0" y="202663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10776" cy="206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320369" y="3464670"/>
            <a:ext cx="4679766" cy="2925910"/>
            <a:chOff x="0" y="0"/>
            <a:chExt cx="1848796" cy="11559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48796" cy="1155915"/>
            </a:xfrm>
            <a:custGeom>
              <a:avLst/>
              <a:gdLst/>
              <a:ahLst/>
              <a:cxnLst/>
              <a:rect r="r" b="b" t="t" l="l"/>
              <a:pathLst>
                <a:path h="1155915" w="1848796">
                  <a:moveTo>
                    <a:pt x="0" y="0"/>
                  </a:moveTo>
                  <a:lnTo>
                    <a:pt x="1848796" y="0"/>
                  </a:lnTo>
                  <a:lnTo>
                    <a:pt x="1848796" y="1155915"/>
                  </a:lnTo>
                  <a:lnTo>
                    <a:pt x="0" y="1155915"/>
                  </a:lnTo>
                  <a:close/>
                </a:path>
              </a:pathLst>
            </a:custGeom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48796" cy="1194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320369" y="1260664"/>
            <a:ext cx="4679766" cy="2092360"/>
          </a:xfrm>
          <a:custGeom>
            <a:avLst/>
            <a:gdLst/>
            <a:ahLst/>
            <a:cxnLst/>
            <a:rect r="r" b="b" t="t" l="l"/>
            <a:pathLst>
              <a:path h="2092360" w="4679766">
                <a:moveTo>
                  <a:pt x="0" y="0"/>
                </a:moveTo>
                <a:lnTo>
                  <a:pt x="4679765" y="0"/>
                </a:lnTo>
                <a:lnTo>
                  <a:pt x="4679765" y="2092360"/>
                </a:lnTo>
                <a:lnTo>
                  <a:pt x="0" y="20923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047" t="0" r="-2047" b="-19901"/>
            </a:stretch>
          </a:blipFill>
          <a:ln w="14288" cap="sq">
            <a:solidFill>
              <a:srgbClr val="03989E"/>
            </a:solidFill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678195" y="5520591"/>
            <a:ext cx="839802" cy="809264"/>
          </a:xfrm>
          <a:custGeom>
            <a:avLst/>
            <a:gdLst/>
            <a:ahLst/>
            <a:cxnLst/>
            <a:rect r="r" b="b" t="t" l="l"/>
            <a:pathLst>
              <a:path h="809264" w="839802">
                <a:moveTo>
                  <a:pt x="0" y="0"/>
                </a:moveTo>
                <a:lnTo>
                  <a:pt x="839803" y="0"/>
                </a:lnTo>
                <a:lnTo>
                  <a:pt x="839803" y="809264"/>
                </a:lnTo>
                <a:lnTo>
                  <a:pt x="0" y="8092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43609" y="5520591"/>
            <a:ext cx="919171" cy="785474"/>
          </a:xfrm>
          <a:custGeom>
            <a:avLst/>
            <a:gdLst/>
            <a:ahLst/>
            <a:cxnLst/>
            <a:rect r="r" b="b" t="t" l="l"/>
            <a:pathLst>
              <a:path h="785474" w="919171">
                <a:moveTo>
                  <a:pt x="0" y="0"/>
                </a:moveTo>
                <a:lnTo>
                  <a:pt x="919171" y="0"/>
                </a:lnTo>
                <a:lnTo>
                  <a:pt x="919171" y="785474"/>
                </a:lnTo>
                <a:lnTo>
                  <a:pt x="0" y="7854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288391" y="5667517"/>
            <a:ext cx="478911" cy="638547"/>
          </a:xfrm>
          <a:custGeom>
            <a:avLst/>
            <a:gdLst/>
            <a:ahLst/>
            <a:cxnLst/>
            <a:rect r="r" b="b" t="t" l="l"/>
            <a:pathLst>
              <a:path h="638547" w="478911">
                <a:moveTo>
                  <a:pt x="0" y="0"/>
                </a:moveTo>
                <a:lnTo>
                  <a:pt x="478910" y="0"/>
                </a:lnTo>
                <a:lnTo>
                  <a:pt x="478910" y="638548"/>
                </a:lnTo>
                <a:lnTo>
                  <a:pt x="0" y="63854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00044" y="231753"/>
            <a:ext cx="2387994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Definition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742" y="4848257"/>
            <a:ext cx="3902228" cy="86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1200" spc="20">
                <a:solidFill>
                  <a:srgbClr val="100F0D"/>
                </a:solidFill>
                <a:latin typeface="Canva Sans"/>
                <a:ea typeface="Canva Sans"/>
                <a:cs typeface="Canva Sans"/>
                <a:sym typeface="Canva Sans"/>
              </a:rPr>
              <a:t>ully autonomous systems risk deploying incorrect resources without a mandatory </a:t>
            </a:r>
            <a:r>
              <a:rPr lang="en-US" sz="1200" spc="20" b="true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human-in-the-loop</a:t>
            </a:r>
            <a:r>
              <a:rPr lang="en-US" sz="1200" spc="20">
                <a:solidFill>
                  <a:srgbClr val="100F0D"/>
                </a:solidFill>
                <a:latin typeface="Canva Sans"/>
                <a:ea typeface="Canva Sans"/>
                <a:cs typeface="Canva Sans"/>
                <a:sym typeface="Canva Sans"/>
              </a:rPr>
              <a:t> approval mechanism.</a:t>
            </a:r>
          </a:p>
          <a:p>
            <a:pPr algn="l">
              <a:lnSpc>
                <a:spcPts val="1404"/>
              </a:lnSpc>
            </a:pPr>
          </a:p>
          <a:p>
            <a:pPr algn="l">
              <a:lnSpc>
                <a:spcPts val="1404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62109" y="3435957"/>
            <a:ext cx="3853493" cy="51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4"/>
              </a:lnSpc>
            </a:pP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suffer from</a:t>
            </a:r>
            <a:r>
              <a:rPr lang="en-US" b="true" sz="1200" spc="20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1200" spc="2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resource wastage </a:t>
            </a: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because there is no clear visibility of service costs prior to actual deployment.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217" y="4142107"/>
            <a:ext cx="3921278" cy="51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4"/>
              </a:lnSpc>
            </a:pP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Provisioning resources without </a:t>
            </a:r>
            <a:r>
              <a:rPr lang="en-US" b="true" sz="1200" spc="2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integrated security</a:t>
            </a:r>
            <a:r>
              <a:rPr lang="en-US" sz="1200" spc="20">
                <a:solidFill>
                  <a:srgbClr val="036E7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1200" spc="2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</a:t>
            </a:r>
            <a:r>
              <a:rPr lang="en-US" sz="1200" spc="20">
                <a:solidFill>
                  <a:srgbClr val="036E7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often results in exposed data and significant security risks.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34941" y="992066"/>
            <a:ext cx="81371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53394" y="992066"/>
            <a:ext cx="81371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394960" y="3543524"/>
            <a:ext cx="3202040" cy="1480944"/>
          </a:xfrm>
          <a:custGeom>
            <a:avLst/>
            <a:gdLst/>
            <a:ahLst/>
            <a:cxnLst/>
            <a:rect r="r" b="b" t="t" l="l"/>
            <a:pathLst>
              <a:path h="1480944" w="3202040">
                <a:moveTo>
                  <a:pt x="0" y="0"/>
                </a:moveTo>
                <a:lnTo>
                  <a:pt x="3202040" y="0"/>
                </a:lnTo>
                <a:lnTo>
                  <a:pt x="3202040" y="1480944"/>
                </a:lnTo>
                <a:lnTo>
                  <a:pt x="0" y="148094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562578" y="3864085"/>
            <a:ext cx="3202040" cy="1645048"/>
          </a:xfrm>
          <a:custGeom>
            <a:avLst/>
            <a:gdLst/>
            <a:ahLst/>
            <a:cxnLst/>
            <a:rect r="r" b="b" t="t" l="l"/>
            <a:pathLst>
              <a:path h="1645048" w="3202040">
                <a:moveTo>
                  <a:pt x="0" y="0"/>
                </a:moveTo>
                <a:lnTo>
                  <a:pt x="3202041" y="0"/>
                </a:lnTo>
                <a:lnTo>
                  <a:pt x="3202041" y="1645049"/>
                </a:lnTo>
                <a:lnTo>
                  <a:pt x="0" y="164504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572000" y="4686610"/>
            <a:ext cx="3004622" cy="1645048"/>
          </a:xfrm>
          <a:custGeom>
            <a:avLst/>
            <a:gdLst/>
            <a:ahLst/>
            <a:cxnLst/>
            <a:rect r="r" b="b" t="t" l="l"/>
            <a:pathLst>
              <a:path h="1645048" w="3004622">
                <a:moveTo>
                  <a:pt x="0" y="0"/>
                </a:moveTo>
                <a:lnTo>
                  <a:pt x="3004622" y="0"/>
                </a:lnTo>
                <a:lnTo>
                  <a:pt x="3004622" y="1645048"/>
                </a:lnTo>
                <a:lnTo>
                  <a:pt x="0" y="164504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2107" t="-3544" r="-2590" b="-409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611314" y="651418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46589" y="6514180"/>
            <a:ext cx="77258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8217" y="1317507"/>
            <a:ext cx="3921278" cy="51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4"/>
              </a:lnSpc>
            </a:pPr>
            <a:r>
              <a:rPr lang="en-US" sz="1200">
                <a:solidFill>
                  <a:srgbClr val="100F0D"/>
                </a:solidFill>
                <a:latin typeface="Canva Sans"/>
                <a:ea typeface="Canva Sans"/>
                <a:cs typeface="Canva Sans"/>
                <a:sym typeface="Canva Sans"/>
              </a:rPr>
              <a:t>AWS platforms present a </a:t>
            </a:r>
            <a:r>
              <a:rPr lang="en-US" b="true" sz="120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steep</a:t>
            </a:r>
            <a:r>
              <a:rPr lang="en-US" sz="1200">
                <a:solidFill>
                  <a:srgbClr val="036E7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120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</a:t>
            </a:r>
            <a:r>
              <a:rPr lang="en-US" b="true" sz="120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ning</a:t>
            </a:r>
            <a:r>
              <a:rPr lang="en-US" sz="1200">
                <a:solidFill>
                  <a:srgbClr val="100F0D"/>
                </a:solidFill>
                <a:latin typeface="Canva Sans"/>
                <a:ea typeface="Canva Sans"/>
                <a:cs typeface="Canva Sans"/>
                <a:sym typeface="Canva Sans"/>
              </a:rPr>
              <a:t> curve and high entry barriers for beginners due to their inherent complexity.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7742" y="2023657"/>
            <a:ext cx="3902228" cy="51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4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Manual configuration of </a:t>
            </a:r>
            <a:r>
              <a:rPr lang="en-US" b="true" sz="120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netw</a:t>
            </a:r>
            <a:r>
              <a:rPr lang="en-US" b="true" sz="120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orking</a:t>
            </a:r>
            <a:r>
              <a:rPr lang="en-US" sz="1200">
                <a:solidFill>
                  <a:srgbClr val="036E7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</a:t>
            </a:r>
            <a:r>
              <a:rPr lang="en-US" b="true" sz="120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leads to frequent mistakes, causing 82% of all cloud misconfigurations.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8217" y="2729807"/>
            <a:ext cx="3921278" cy="51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4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lack of</a:t>
            </a:r>
            <a:r>
              <a:rPr lang="en-US" b="true" sz="1200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120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natural la</a:t>
            </a:r>
            <a:r>
              <a:rPr lang="en-US" b="true" sz="120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nguage</a:t>
            </a:r>
            <a:r>
              <a:rPr lang="en-US" sz="1200">
                <a:solidFill>
                  <a:srgbClr val="036E7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interfaces makes it difficult to convert high-level requirements into executable </a:t>
            </a:r>
            <a:r>
              <a:rPr lang="en-US" b="true" sz="120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Infrastructure-as-Code.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83739" y="249431"/>
            <a:ext cx="4176512" cy="391163"/>
          </a:xfrm>
          <a:custGeom>
            <a:avLst/>
            <a:gdLst/>
            <a:ahLst/>
            <a:cxnLst/>
            <a:rect r="r" b="b" t="t" l="l"/>
            <a:pathLst>
              <a:path h="391163" w="4176512">
                <a:moveTo>
                  <a:pt x="0" y="0"/>
                </a:moveTo>
                <a:lnTo>
                  <a:pt x="4176512" y="0"/>
                </a:lnTo>
                <a:lnTo>
                  <a:pt x="4176512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28723" y="646678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259811" y="1317926"/>
            <a:ext cx="5574426" cy="1147554"/>
            <a:chOff x="0" y="0"/>
            <a:chExt cx="2202242" cy="4533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2243" cy="453355"/>
            </a:xfrm>
            <a:custGeom>
              <a:avLst/>
              <a:gdLst/>
              <a:ahLst/>
              <a:cxnLst/>
              <a:rect r="r" b="b" t="t" l="l"/>
              <a:pathLst>
                <a:path h="453355" w="2202243">
                  <a:moveTo>
                    <a:pt x="0" y="0"/>
                  </a:moveTo>
                  <a:lnTo>
                    <a:pt x="2202243" y="0"/>
                  </a:lnTo>
                  <a:lnTo>
                    <a:pt x="2202243" y="453355"/>
                  </a:lnTo>
                  <a:lnTo>
                    <a:pt x="0" y="45335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02242" cy="481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74515" y="2870397"/>
            <a:ext cx="8659722" cy="3541427"/>
          </a:xfrm>
          <a:custGeom>
            <a:avLst/>
            <a:gdLst/>
            <a:ahLst/>
            <a:cxnLst/>
            <a:rect r="r" b="b" t="t" l="l"/>
            <a:pathLst>
              <a:path h="3541427" w="8659722">
                <a:moveTo>
                  <a:pt x="0" y="0"/>
                </a:moveTo>
                <a:lnTo>
                  <a:pt x="8659722" y="0"/>
                </a:lnTo>
                <a:lnTo>
                  <a:pt x="8659722" y="3541427"/>
                </a:lnTo>
                <a:lnTo>
                  <a:pt x="0" y="35414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8282" t="-24435" r="-5100" b="-52659"/>
            </a:stretch>
          </a:blipFill>
          <a:ln w="14288" cap="sq">
            <a:solidFill>
              <a:srgbClr val="03989E"/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3376555" y="231753"/>
            <a:ext cx="2389981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Aim and 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46589" y="6457940"/>
            <a:ext cx="77258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51527" y="1460792"/>
            <a:ext cx="5390994" cy="86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4"/>
              </a:lnSpc>
            </a:pP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aim of Phase 1 of CloudMan is to build an AI-assisted platform that converts </a:t>
            </a:r>
            <a:r>
              <a:rPr lang="en-US" b="true" sz="1200" spc="2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natural language</a:t>
            </a:r>
            <a:r>
              <a:rPr lang="en-US" b="true" sz="1200" spc="20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cloud requirements into </a:t>
            </a:r>
            <a:r>
              <a:rPr lang="en-US" b="true" sz="1200" spc="2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structured deployment plans</a:t>
            </a: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 selected Amazon Web Services services like </a:t>
            </a:r>
            <a:r>
              <a:rPr lang="en-US" b="true" sz="1200" spc="2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Amazon EC2</a:t>
            </a: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b="true" sz="1200" spc="20">
                <a:solidFill>
                  <a:srgbClr val="036E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Amazon S3</a:t>
            </a:r>
            <a:r>
              <a:rPr lang="en-US" sz="12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ensuring cost awareness, security checks, and user approval before deployment.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71668" y="1068065"/>
            <a:ext cx="48027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11314" y="645794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81025" y="1132084"/>
            <a:ext cx="2278996" cy="1519238"/>
          </a:xfrm>
          <a:custGeom>
            <a:avLst/>
            <a:gdLst/>
            <a:ahLst/>
            <a:cxnLst/>
            <a:rect r="r" b="b" t="t" l="l"/>
            <a:pathLst>
              <a:path h="1519238" w="2278996">
                <a:moveTo>
                  <a:pt x="0" y="0"/>
                </a:moveTo>
                <a:lnTo>
                  <a:pt x="2278996" y="0"/>
                </a:lnTo>
                <a:lnTo>
                  <a:pt x="2278996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7058" r="0" b="-1757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351527" y="2593854"/>
            <a:ext cx="2022918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06267" y="249431"/>
            <a:ext cx="2131466" cy="391163"/>
          </a:xfrm>
          <a:custGeom>
            <a:avLst/>
            <a:gdLst/>
            <a:ahLst/>
            <a:cxnLst/>
            <a:rect r="r" b="b" t="t" l="l"/>
            <a:pathLst>
              <a:path h="391163" w="2131466">
                <a:moveTo>
                  <a:pt x="0" y="0"/>
                </a:moveTo>
                <a:lnTo>
                  <a:pt x="2131466" y="0"/>
                </a:lnTo>
                <a:lnTo>
                  <a:pt x="2131466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28723" y="646678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97582" y="1249934"/>
            <a:ext cx="1743927" cy="1699401"/>
            <a:chOff x="0" y="0"/>
            <a:chExt cx="688959" cy="6713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8959" cy="671368"/>
            </a:xfrm>
            <a:custGeom>
              <a:avLst/>
              <a:gdLst/>
              <a:ahLst/>
              <a:cxnLst/>
              <a:rect r="r" b="b" t="t" l="l"/>
              <a:pathLst>
                <a:path h="671368" w="688959">
                  <a:moveTo>
                    <a:pt x="0" y="0"/>
                  </a:moveTo>
                  <a:lnTo>
                    <a:pt x="688959" y="0"/>
                  </a:lnTo>
                  <a:lnTo>
                    <a:pt x="688959" y="671368"/>
                  </a:lnTo>
                  <a:lnTo>
                    <a:pt x="0" y="671368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88959" cy="709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694946" y="1414966"/>
            <a:ext cx="598863" cy="550954"/>
          </a:xfrm>
          <a:custGeom>
            <a:avLst/>
            <a:gdLst/>
            <a:ahLst/>
            <a:cxnLst/>
            <a:rect r="r" b="b" t="t" l="l"/>
            <a:pathLst>
              <a:path h="550954" w="598863">
                <a:moveTo>
                  <a:pt x="0" y="0"/>
                </a:moveTo>
                <a:lnTo>
                  <a:pt x="598863" y="0"/>
                </a:lnTo>
                <a:lnTo>
                  <a:pt x="598863" y="550954"/>
                </a:lnTo>
                <a:lnTo>
                  <a:pt x="0" y="5509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122484" y="1223017"/>
            <a:ext cx="1743927" cy="1699401"/>
            <a:chOff x="0" y="0"/>
            <a:chExt cx="688959" cy="671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959" cy="671368"/>
            </a:xfrm>
            <a:custGeom>
              <a:avLst/>
              <a:gdLst/>
              <a:ahLst/>
              <a:cxnLst/>
              <a:rect r="r" b="b" t="t" l="l"/>
              <a:pathLst>
                <a:path h="671368" w="688959">
                  <a:moveTo>
                    <a:pt x="0" y="0"/>
                  </a:moveTo>
                  <a:lnTo>
                    <a:pt x="688959" y="0"/>
                  </a:lnTo>
                  <a:lnTo>
                    <a:pt x="688959" y="671368"/>
                  </a:lnTo>
                  <a:lnTo>
                    <a:pt x="0" y="671368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88959" cy="709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617784" y="1393460"/>
            <a:ext cx="644680" cy="644680"/>
          </a:xfrm>
          <a:custGeom>
            <a:avLst/>
            <a:gdLst/>
            <a:ahLst/>
            <a:cxnLst/>
            <a:rect r="r" b="b" t="t" l="l"/>
            <a:pathLst>
              <a:path h="644680" w="644680">
                <a:moveTo>
                  <a:pt x="0" y="0"/>
                </a:moveTo>
                <a:lnTo>
                  <a:pt x="644680" y="0"/>
                </a:lnTo>
                <a:lnTo>
                  <a:pt x="644680" y="644680"/>
                </a:lnTo>
                <a:lnTo>
                  <a:pt x="0" y="64468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197582" y="4789631"/>
            <a:ext cx="1743927" cy="1556080"/>
            <a:chOff x="0" y="0"/>
            <a:chExt cx="688959" cy="6147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959" cy="614747"/>
            </a:xfrm>
            <a:custGeom>
              <a:avLst/>
              <a:gdLst/>
              <a:ahLst/>
              <a:cxnLst/>
              <a:rect r="r" b="b" t="t" l="l"/>
              <a:pathLst>
                <a:path h="614747" w="688959">
                  <a:moveTo>
                    <a:pt x="0" y="0"/>
                  </a:moveTo>
                  <a:lnTo>
                    <a:pt x="688959" y="0"/>
                  </a:lnTo>
                  <a:lnTo>
                    <a:pt x="688959" y="614747"/>
                  </a:lnTo>
                  <a:lnTo>
                    <a:pt x="0" y="614747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88959" cy="652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702585" y="4951556"/>
            <a:ext cx="687388" cy="687388"/>
          </a:xfrm>
          <a:custGeom>
            <a:avLst/>
            <a:gdLst/>
            <a:ahLst/>
            <a:cxnLst/>
            <a:rect r="r" b="b" t="t" l="l"/>
            <a:pathLst>
              <a:path h="687388" w="687388">
                <a:moveTo>
                  <a:pt x="0" y="0"/>
                </a:moveTo>
                <a:lnTo>
                  <a:pt x="687387" y="0"/>
                </a:lnTo>
                <a:lnTo>
                  <a:pt x="687387" y="687388"/>
                </a:lnTo>
                <a:lnTo>
                  <a:pt x="0" y="68738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055328" y="4789631"/>
            <a:ext cx="1743927" cy="1556080"/>
            <a:chOff x="0" y="0"/>
            <a:chExt cx="688959" cy="61474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959" cy="614747"/>
            </a:xfrm>
            <a:custGeom>
              <a:avLst/>
              <a:gdLst/>
              <a:ahLst/>
              <a:cxnLst/>
              <a:rect r="r" b="b" t="t" l="l"/>
              <a:pathLst>
                <a:path h="614747" w="688959">
                  <a:moveTo>
                    <a:pt x="0" y="0"/>
                  </a:moveTo>
                  <a:lnTo>
                    <a:pt x="688959" y="0"/>
                  </a:lnTo>
                  <a:lnTo>
                    <a:pt x="688959" y="614747"/>
                  </a:lnTo>
                  <a:lnTo>
                    <a:pt x="0" y="614747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88959" cy="652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972222" y="4797537"/>
            <a:ext cx="1705271" cy="1546605"/>
            <a:chOff x="0" y="0"/>
            <a:chExt cx="673687" cy="6110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3687" cy="611005"/>
            </a:xfrm>
            <a:custGeom>
              <a:avLst/>
              <a:gdLst/>
              <a:ahLst/>
              <a:cxnLst/>
              <a:rect r="r" b="b" t="t" l="l"/>
              <a:pathLst>
                <a:path h="611005" w="673687">
                  <a:moveTo>
                    <a:pt x="0" y="0"/>
                  </a:moveTo>
                  <a:lnTo>
                    <a:pt x="673687" y="0"/>
                  </a:lnTo>
                  <a:lnTo>
                    <a:pt x="673687" y="611005"/>
                  </a:lnTo>
                  <a:lnTo>
                    <a:pt x="0" y="61100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73687" cy="649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601110" y="5021410"/>
            <a:ext cx="561986" cy="547681"/>
          </a:xfrm>
          <a:custGeom>
            <a:avLst/>
            <a:gdLst/>
            <a:ahLst/>
            <a:cxnLst/>
            <a:rect r="r" b="b" t="t" l="l"/>
            <a:pathLst>
              <a:path h="547681" w="561986">
                <a:moveTo>
                  <a:pt x="0" y="0"/>
                </a:moveTo>
                <a:lnTo>
                  <a:pt x="561986" y="0"/>
                </a:lnTo>
                <a:lnTo>
                  <a:pt x="561986" y="547681"/>
                </a:lnTo>
                <a:lnTo>
                  <a:pt x="0" y="54768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927291" y="5464066"/>
            <a:ext cx="455423" cy="225228"/>
          </a:xfrm>
          <a:custGeom>
            <a:avLst/>
            <a:gdLst/>
            <a:ahLst/>
            <a:cxnLst/>
            <a:rect r="r" b="b" t="t" l="l"/>
            <a:pathLst>
              <a:path h="225228" w="455423">
                <a:moveTo>
                  <a:pt x="0" y="0"/>
                </a:moveTo>
                <a:lnTo>
                  <a:pt x="455423" y="0"/>
                </a:lnTo>
                <a:lnTo>
                  <a:pt x="455423" y="225228"/>
                </a:lnTo>
                <a:lnTo>
                  <a:pt x="0" y="22522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7548396" y="4951556"/>
            <a:ext cx="429316" cy="593276"/>
          </a:xfrm>
          <a:custGeom>
            <a:avLst/>
            <a:gdLst/>
            <a:ahLst/>
            <a:cxnLst/>
            <a:rect r="r" b="b" t="t" l="l"/>
            <a:pathLst>
              <a:path h="593276" w="429316">
                <a:moveTo>
                  <a:pt x="429316" y="0"/>
                </a:moveTo>
                <a:lnTo>
                  <a:pt x="0" y="0"/>
                </a:lnTo>
                <a:lnTo>
                  <a:pt x="0" y="593277"/>
                </a:lnTo>
                <a:lnTo>
                  <a:pt x="429316" y="593277"/>
                </a:lnTo>
                <a:lnTo>
                  <a:pt x="429316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438565" y="3660191"/>
            <a:ext cx="1065446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Benefits</a:t>
            </a:r>
          </a:p>
        </p:txBody>
      </p:sp>
      <p:sp>
        <p:nvSpPr>
          <p:cNvPr name="AutoShape 29" id="29"/>
          <p:cNvSpPr/>
          <p:nvPr/>
        </p:nvSpPr>
        <p:spPr>
          <a:xfrm>
            <a:off x="4069546" y="3993000"/>
            <a:ext cx="371018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4079070" y="3993042"/>
            <a:ext cx="4151" cy="777489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1" id="31"/>
          <p:cNvSpPr/>
          <p:nvPr/>
        </p:nvSpPr>
        <p:spPr>
          <a:xfrm>
            <a:off x="7770203" y="3993000"/>
            <a:ext cx="0" cy="77596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 flipH="true">
            <a:off x="5943964" y="3993084"/>
            <a:ext cx="1190" cy="777446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H="true">
            <a:off x="5941584" y="3444630"/>
            <a:ext cx="2381" cy="26929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>
            <a:off x="4060021" y="3444635"/>
            <a:ext cx="371018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7770203" y="2949335"/>
            <a:ext cx="0" cy="504825"/>
          </a:xfrm>
          <a:prstGeom prst="line">
            <a:avLst/>
          </a:prstGeom>
          <a:ln cap="flat" w="19050">
            <a:solidFill>
              <a:srgbClr val="000000"/>
            </a:solidFill>
            <a:prstDash val="sysDash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 flipV="true">
            <a:off x="4069546" y="2949335"/>
            <a:ext cx="4151" cy="504825"/>
          </a:xfrm>
          <a:prstGeom prst="line">
            <a:avLst/>
          </a:prstGeom>
          <a:ln cap="flat" w="19050">
            <a:solidFill>
              <a:srgbClr val="000000"/>
            </a:solidFill>
            <a:prstDash val="sysDash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>
            <a:off x="6866410" y="2072718"/>
            <a:ext cx="22596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grpSp>
        <p:nvGrpSpPr>
          <p:cNvPr name="Group 38" id="38"/>
          <p:cNvGrpSpPr/>
          <p:nvPr/>
        </p:nvGrpSpPr>
        <p:grpSpPr>
          <a:xfrm rot="0">
            <a:off x="7092376" y="1223017"/>
            <a:ext cx="1743927" cy="1699401"/>
            <a:chOff x="0" y="0"/>
            <a:chExt cx="688959" cy="6713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8959" cy="671368"/>
            </a:xfrm>
            <a:custGeom>
              <a:avLst/>
              <a:gdLst/>
              <a:ahLst/>
              <a:cxnLst/>
              <a:rect r="r" b="b" t="t" l="l"/>
              <a:pathLst>
                <a:path h="671368" w="688959">
                  <a:moveTo>
                    <a:pt x="0" y="0"/>
                  </a:moveTo>
                  <a:lnTo>
                    <a:pt x="688959" y="0"/>
                  </a:lnTo>
                  <a:lnTo>
                    <a:pt x="688959" y="671368"/>
                  </a:lnTo>
                  <a:lnTo>
                    <a:pt x="0" y="671368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88959" cy="709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AutoShape 41" id="41"/>
          <p:cNvSpPr/>
          <p:nvPr/>
        </p:nvSpPr>
        <p:spPr>
          <a:xfrm>
            <a:off x="4926676" y="2103989"/>
            <a:ext cx="22596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7565069" y="1414966"/>
            <a:ext cx="684261" cy="684261"/>
          </a:xfrm>
          <a:custGeom>
            <a:avLst/>
            <a:gdLst/>
            <a:ahLst/>
            <a:cxnLst/>
            <a:rect r="r" b="b" t="t" l="l"/>
            <a:pathLst>
              <a:path h="684261" w="684261">
                <a:moveTo>
                  <a:pt x="0" y="0"/>
                </a:moveTo>
                <a:lnTo>
                  <a:pt x="684261" y="0"/>
                </a:lnTo>
                <a:lnTo>
                  <a:pt x="684261" y="684261"/>
                </a:lnTo>
                <a:lnTo>
                  <a:pt x="0" y="68426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343741" y="2099363"/>
            <a:ext cx="1451609" cy="13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11"/>
              </a:lnSpc>
            </a:pPr>
            <a:r>
              <a:rPr lang="en-US" b="true" sz="949" spc="1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Natural Language Input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419651" y="2253789"/>
            <a:ext cx="1299790" cy="12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6"/>
              </a:lnSpc>
            </a:pPr>
            <a:r>
              <a:rPr lang="en-US" sz="835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“Deploy a React App.....”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391435" y="2539261"/>
            <a:ext cx="1299790" cy="25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"/>
              </a:lnSpc>
            </a:pPr>
            <a:r>
              <a:rPr lang="en-US" sz="835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describes cloud requirements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261041" y="2123865"/>
            <a:ext cx="1365846" cy="27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1"/>
              </a:lnSpc>
            </a:pPr>
            <a:r>
              <a:rPr lang="en-US" b="true" sz="949" spc="1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Planning &amp; Validation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94070" y="2517843"/>
            <a:ext cx="1299790" cy="3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"/>
              </a:lnSpc>
            </a:pPr>
            <a:r>
              <a:rPr lang="en-US" sz="835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Generates deployment plan with cost &amp; security checks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923462" y="231753"/>
            <a:ext cx="1320375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Objectives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446589" y="6457940"/>
            <a:ext cx="77258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611314" y="645794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06267" y="5821795"/>
            <a:ext cx="1156159" cy="31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7"/>
              </a:lnSpc>
            </a:pPr>
            <a:r>
              <a:rPr lang="en-US" b="true" sz="1100" spc="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Faster AWS Infra. planning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243836" y="5813119"/>
            <a:ext cx="1339021" cy="48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7"/>
              </a:lnSpc>
            </a:pPr>
            <a:r>
              <a:rPr lang="en-US" b="true" sz="1100" spc="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Reduced deployment risk &amp; cost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227879" y="5821795"/>
            <a:ext cx="1128743" cy="48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7"/>
              </a:lnSpc>
            </a:pPr>
            <a:r>
              <a:rPr lang="en-US" b="true" sz="1100" spc="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Secure &amp; controlled provisioning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244553" y="2116253"/>
            <a:ext cx="1365846" cy="27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1"/>
              </a:lnSpc>
            </a:pPr>
            <a:r>
              <a:rPr lang="en-US" b="true" sz="949" spc="1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AWS Deployment Planning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254301" y="2517843"/>
            <a:ext cx="1299790" cy="25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"/>
              </a:lnSpc>
            </a:pPr>
            <a:r>
              <a:rPr lang="en-US" sz="835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Infrastructure planning for EC2 &amp; S3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225428" y="1514218"/>
            <a:ext cx="420367" cy="1518923"/>
          </a:xfrm>
          <a:custGeom>
            <a:avLst/>
            <a:gdLst/>
            <a:ahLst/>
            <a:cxnLst/>
            <a:rect r="r" b="b" t="t" l="l"/>
            <a:pathLst>
              <a:path h="1518923" w="420367">
                <a:moveTo>
                  <a:pt x="0" y="0"/>
                </a:moveTo>
                <a:lnTo>
                  <a:pt x="420367" y="0"/>
                </a:lnTo>
                <a:lnTo>
                  <a:pt x="420367" y="1518923"/>
                </a:lnTo>
                <a:lnTo>
                  <a:pt x="0" y="15189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83992" y="1232542"/>
            <a:ext cx="2936833" cy="5122694"/>
            <a:chOff x="0" y="0"/>
            <a:chExt cx="1160230" cy="20237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60230" cy="2023780"/>
            </a:xfrm>
            <a:custGeom>
              <a:avLst/>
              <a:gdLst/>
              <a:ahLst/>
              <a:cxnLst/>
              <a:rect r="r" b="b" t="t" l="l"/>
              <a:pathLst>
                <a:path h="2023780" w="1160230">
                  <a:moveTo>
                    <a:pt x="0" y="0"/>
                  </a:moveTo>
                  <a:lnTo>
                    <a:pt x="1160230" y="0"/>
                  </a:lnTo>
                  <a:lnTo>
                    <a:pt x="1160230" y="2023780"/>
                  </a:lnTo>
                  <a:lnTo>
                    <a:pt x="0" y="202378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160230" cy="2061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087532" y="978154"/>
            <a:ext cx="929751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1264" y="2169582"/>
            <a:ext cx="1912536" cy="15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5"/>
              </a:lnSpc>
            </a:pPr>
            <a:r>
              <a:rPr lang="en-US" b="true" sz="1149" spc="19">
                <a:solidFill>
                  <a:srgbClr val="0162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Natural language input :-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8954" y="4760761"/>
            <a:ext cx="2731806" cy="35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27"/>
              </a:lnSpc>
            </a:pPr>
            <a:r>
              <a:rPr lang="en-US" sz="122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ensures deployment happens only after confirmation.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89170" y="1690592"/>
            <a:ext cx="2584627" cy="35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27"/>
              </a:lnSpc>
            </a:pPr>
            <a:r>
              <a:rPr lang="en-US" sz="122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converts user requirements into visual infrasplans.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87328" y="2377432"/>
            <a:ext cx="2619729" cy="34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22"/>
              </a:lnSpc>
            </a:pPr>
            <a:r>
              <a:rPr lang="en-US" sz="1216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allows users to describe cloud needs in simple language.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2094" y="5251184"/>
            <a:ext cx="1885866" cy="15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45"/>
              </a:lnSpc>
            </a:pPr>
            <a:r>
              <a:rPr lang="en-US" b="true" sz="1149" spc="19">
                <a:solidFill>
                  <a:srgbClr val="0162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Simplified provisioning  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5891" y="5474640"/>
            <a:ext cx="2084245" cy="30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0"/>
              </a:lnSpc>
            </a:pPr>
            <a:r>
              <a:rPr lang="en-US" sz="1042" spc="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reduces complexity for users.</a:t>
            </a:r>
          </a:p>
          <a:p>
            <a:pPr algn="ctr">
              <a:lnSpc>
                <a:spcPts val="1220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151667" y="4537304"/>
            <a:ext cx="1808666" cy="15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45"/>
              </a:lnSpc>
            </a:pPr>
            <a:r>
              <a:rPr lang="en-US" b="true" sz="1149" spc="19">
                <a:solidFill>
                  <a:srgbClr val="0162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approval control 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51667" y="3752164"/>
            <a:ext cx="1808666" cy="15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45"/>
              </a:lnSpc>
            </a:pPr>
            <a:r>
              <a:rPr lang="en-US" b="true" sz="1149" spc="19">
                <a:solidFill>
                  <a:srgbClr val="0162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Cost &amp; security checks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71619" y="2858315"/>
            <a:ext cx="1380789" cy="15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45"/>
              </a:lnSpc>
            </a:pPr>
            <a:r>
              <a:rPr lang="en-US" b="true" sz="1149" spc="19">
                <a:solidFill>
                  <a:srgbClr val="0162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AWS integration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01500" y="1486382"/>
            <a:ext cx="1791115" cy="15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5"/>
              </a:lnSpc>
            </a:pPr>
            <a:r>
              <a:rPr lang="en-US" sz="1149" spc="19" b="true">
                <a:solidFill>
                  <a:srgbClr val="0162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AI-assisted planning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8954" y="3080766"/>
            <a:ext cx="2689805" cy="538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7"/>
              </a:lnSpc>
            </a:pPr>
            <a:r>
              <a:rPr lang="en-US" sz="122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</a:t>
            </a:r>
            <a:r>
              <a:rPr lang="en-US" sz="122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orts planning for Amazon Web Services services like Amazon EC2 and Amazon S3.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2094" y="3908946"/>
            <a:ext cx="2687140" cy="498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09"/>
              </a:lnSpc>
            </a:pPr>
            <a:r>
              <a:rPr lang="en-US" sz="136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</a:t>
            </a:r>
            <a:r>
              <a:rPr lang="en-US" sz="136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ovides pre-deployment estimation and risk checks.</a:t>
            </a:r>
          </a:p>
        </p:txBody>
      </p:sp>
      <p:sp>
        <p:nvSpPr>
          <p:cNvPr name="Freeform 73" id="73"/>
          <p:cNvSpPr/>
          <p:nvPr/>
        </p:nvSpPr>
        <p:spPr>
          <a:xfrm flipH="false" flipV="false" rot="0">
            <a:off x="435612" y="5803594"/>
            <a:ext cx="482465" cy="464921"/>
          </a:xfrm>
          <a:custGeom>
            <a:avLst/>
            <a:gdLst/>
            <a:ahLst/>
            <a:cxnLst/>
            <a:rect r="r" b="b" t="t" l="l"/>
            <a:pathLst>
              <a:path h="464921" w="482465">
                <a:moveTo>
                  <a:pt x="0" y="0"/>
                </a:moveTo>
                <a:lnTo>
                  <a:pt x="482465" y="0"/>
                </a:lnTo>
                <a:lnTo>
                  <a:pt x="482465" y="464921"/>
                </a:lnTo>
                <a:lnTo>
                  <a:pt x="0" y="46492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162590" y="5803594"/>
            <a:ext cx="528062" cy="451253"/>
          </a:xfrm>
          <a:custGeom>
            <a:avLst/>
            <a:gdLst/>
            <a:ahLst/>
            <a:cxnLst/>
            <a:rect r="r" b="b" t="t" l="l"/>
            <a:pathLst>
              <a:path h="451253" w="528062">
                <a:moveTo>
                  <a:pt x="0" y="0"/>
                </a:moveTo>
                <a:lnTo>
                  <a:pt x="528062" y="0"/>
                </a:lnTo>
                <a:lnTo>
                  <a:pt x="528062" y="451253"/>
                </a:lnTo>
                <a:lnTo>
                  <a:pt x="0" y="45125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935165" y="5888003"/>
            <a:ext cx="275133" cy="366844"/>
          </a:xfrm>
          <a:custGeom>
            <a:avLst/>
            <a:gdLst/>
            <a:ahLst/>
            <a:cxnLst/>
            <a:rect r="r" b="b" t="t" l="l"/>
            <a:pathLst>
              <a:path h="366844" w="275133">
                <a:moveTo>
                  <a:pt x="0" y="0"/>
                </a:moveTo>
                <a:lnTo>
                  <a:pt x="275133" y="0"/>
                </a:lnTo>
                <a:lnTo>
                  <a:pt x="275133" y="366844"/>
                </a:lnTo>
                <a:lnTo>
                  <a:pt x="0" y="366844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28" y="3338579"/>
            <a:ext cx="6278242" cy="452123"/>
          </a:xfrm>
          <a:custGeom>
            <a:avLst/>
            <a:gdLst/>
            <a:ahLst/>
            <a:cxnLst/>
            <a:rect r="r" b="b" t="t" l="l"/>
            <a:pathLst>
              <a:path h="452123" w="6278242">
                <a:moveTo>
                  <a:pt x="0" y="0"/>
                </a:moveTo>
                <a:lnTo>
                  <a:pt x="6278242" y="0"/>
                </a:lnTo>
                <a:lnTo>
                  <a:pt x="6278242" y="452123"/>
                </a:lnTo>
                <a:lnTo>
                  <a:pt x="0" y="452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06267" y="249431"/>
            <a:ext cx="2131466" cy="391163"/>
          </a:xfrm>
          <a:custGeom>
            <a:avLst/>
            <a:gdLst/>
            <a:ahLst/>
            <a:cxnLst/>
            <a:rect r="r" b="b" t="t" l="l"/>
            <a:pathLst>
              <a:path h="391163" w="2131466">
                <a:moveTo>
                  <a:pt x="0" y="0"/>
                </a:moveTo>
                <a:lnTo>
                  <a:pt x="2131466" y="0"/>
                </a:lnTo>
                <a:lnTo>
                  <a:pt x="2131466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28723" y="646678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81000" y="1054103"/>
            <a:ext cx="8521075" cy="1179487"/>
            <a:chOff x="0" y="0"/>
            <a:chExt cx="8521078" cy="11794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9850" y="51649"/>
              <a:ext cx="8381367" cy="1066791"/>
            </a:xfrm>
            <a:custGeom>
              <a:avLst/>
              <a:gdLst/>
              <a:ahLst/>
              <a:cxnLst/>
              <a:rect r="r" b="b" t="t" l="l"/>
              <a:pathLst>
                <a:path h="1066791" w="8381367">
                  <a:moveTo>
                    <a:pt x="0" y="0"/>
                  </a:moveTo>
                  <a:lnTo>
                    <a:pt x="8381367" y="0"/>
                  </a:lnTo>
                  <a:lnTo>
                    <a:pt x="8381367" y="1066792"/>
                  </a:lnTo>
                  <a:lnTo>
                    <a:pt x="0" y="1066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9850" y="51649"/>
              <a:ext cx="844550" cy="1066791"/>
            </a:xfrm>
            <a:custGeom>
              <a:avLst/>
              <a:gdLst/>
              <a:ahLst/>
              <a:cxnLst/>
              <a:rect r="r" b="b" t="t" l="l"/>
              <a:pathLst>
                <a:path h="1066791" w="844550">
                  <a:moveTo>
                    <a:pt x="0" y="0"/>
                  </a:moveTo>
                  <a:lnTo>
                    <a:pt x="844550" y="0"/>
                  </a:lnTo>
                  <a:lnTo>
                    <a:pt x="844550" y="1066792"/>
                  </a:lnTo>
                  <a:lnTo>
                    <a:pt x="0" y="1066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14400" y="51649"/>
              <a:ext cx="2508251" cy="1066791"/>
            </a:xfrm>
            <a:custGeom>
              <a:avLst/>
              <a:gdLst/>
              <a:ahLst/>
              <a:cxnLst/>
              <a:rect r="r" b="b" t="t" l="l"/>
              <a:pathLst>
                <a:path h="1066791" w="2508251">
                  <a:moveTo>
                    <a:pt x="0" y="0"/>
                  </a:moveTo>
                  <a:lnTo>
                    <a:pt x="2508251" y="0"/>
                  </a:lnTo>
                  <a:lnTo>
                    <a:pt x="2508251" y="1066792"/>
                  </a:lnTo>
                  <a:lnTo>
                    <a:pt x="0" y="1066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422651" y="51649"/>
              <a:ext cx="1219200" cy="1066791"/>
            </a:xfrm>
            <a:custGeom>
              <a:avLst/>
              <a:gdLst/>
              <a:ahLst/>
              <a:cxnLst/>
              <a:rect r="r" b="b" t="t" l="l"/>
              <a:pathLst>
                <a:path h="1066791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66792"/>
                  </a:lnTo>
                  <a:lnTo>
                    <a:pt x="0" y="1066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641851" y="51649"/>
              <a:ext cx="1471296" cy="1066791"/>
            </a:xfrm>
            <a:custGeom>
              <a:avLst/>
              <a:gdLst/>
              <a:ahLst/>
              <a:cxnLst/>
              <a:rect r="r" b="b" t="t" l="l"/>
              <a:pathLst>
                <a:path h="1066791" w="1471296">
                  <a:moveTo>
                    <a:pt x="0" y="0"/>
                  </a:moveTo>
                  <a:lnTo>
                    <a:pt x="1471296" y="0"/>
                  </a:lnTo>
                  <a:lnTo>
                    <a:pt x="1471296" y="1066792"/>
                  </a:lnTo>
                  <a:lnTo>
                    <a:pt x="0" y="1066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113147" y="51649"/>
              <a:ext cx="2338070" cy="1066791"/>
            </a:xfrm>
            <a:custGeom>
              <a:avLst/>
              <a:gdLst/>
              <a:ahLst/>
              <a:cxnLst/>
              <a:rect r="r" b="b" t="t" l="l"/>
              <a:pathLst>
                <a:path h="1066791" w="2338070">
                  <a:moveTo>
                    <a:pt x="0" y="0"/>
                  </a:moveTo>
                  <a:lnTo>
                    <a:pt x="2338070" y="0"/>
                  </a:lnTo>
                  <a:lnTo>
                    <a:pt x="2338070" y="1066792"/>
                  </a:lnTo>
                  <a:lnTo>
                    <a:pt x="0" y="1066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46954"/>
              <a:ext cx="12700" cy="1085573"/>
            </a:xfrm>
            <a:custGeom>
              <a:avLst/>
              <a:gdLst/>
              <a:ahLst/>
              <a:cxnLst/>
              <a:rect r="r" b="b" t="t" l="l"/>
              <a:pathLst>
                <a:path h="1085573" w="12700">
                  <a:moveTo>
                    <a:pt x="12700" y="0"/>
                  </a:moveTo>
                  <a:lnTo>
                    <a:pt x="12700" y="1085573"/>
                  </a:lnTo>
                  <a:lnTo>
                    <a:pt x="0" y="1085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08050" y="46954"/>
              <a:ext cx="12700" cy="1085573"/>
            </a:xfrm>
            <a:custGeom>
              <a:avLst/>
              <a:gdLst/>
              <a:ahLst/>
              <a:cxnLst/>
              <a:rect r="r" b="b" t="t" l="l"/>
              <a:pathLst>
                <a:path h="1085573" w="12700">
                  <a:moveTo>
                    <a:pt x="12700" y="0"/>
                  </a:moveTo>
                  <a:lnTo>
                    <a:pt x="12700" y="1085573"/>
                  </a:lnTo>
                  <a:lnTo>
                    <a:pt x="0" y="1085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416301" y="46954"/>
              <a:ext cx="12700" cy="1085573"/>
            </a:xfrm>
            <a:custGeom>
              <a:avLst/>
              <a:gdLst/>
              <a:ahLst/>
              <a:cxnLst/>
              <a:rect r="r" b="b" t="t" l="l"/>
              <a:pathLst>
                <a:path h="1085573" w="12700">
                  <a:moveTo>
                    <a:pt x="12700" y="0"/>
                  </a:moveTo>
                  <a:lnTo>
                    <a:pt x="12700" y="1085573"/>
                  </a:lnTo>
                  <a:lnTo>
                    <a:pt x="0" y="1085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635501" y="46954"/>
              <a:ext cx="12700" cy="1085573"/>
            </a:xfrm>
            <a:custGeom>
              <a:avLst/>
              <a:gdLst/>
              <a:ahLst/>
              <a:cxnLst/>
              <a:rect r="r" b="b" t="t" l="l"/>
              <a:pathLst>
                <a:path h="1085573" w="12700">
                  <a:moveTo>
                    <a:pt x="12701" y="0"/>
                  </a:moveTo>
                  <a:lnTo>
                    <a:pt x="12701" y="1085573"/>
                  </a:lnTo>
                  <a:lnTo>
                    <a:pt x="0" y="1085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106797" y="46954"/>
              <a:ext cx="12700" cy="1085573"/>
            </a:xfrm>
            <a:custGeom>
              <a:avLst/>
              <a:gdLst/>
              <a:ahLst/>
              <a:cxnLst/>
              <a:rect r="r" b="b" t="t" l="l"/>
              <a:pathLst>
                <a:path h="1085573" w="12700">
                  <a:moveTo>
                    <a:pt x="12700" y="0"/>
                  </a:moveTo>
                  <a:lnTo>
                    <a:pt x="12700" y="1085573"/>
                  </a:lnTo>
                  <a:lnTo>
                    <a:pt x="0" y="1085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444867" y="46954"/>
              <a:ext cx="12700" cy="1085573"/>
            </a:xfrm>
            <a:custGeom>
              <a:avLst/>
              <a:gdLst/>
              <a:ahLst/>
              <a:cxnLst/>
              <a:rect r="r" b="b" t="t" l="l"/>
              <a:pathLst>
                <a:path h="1085573" w="12700">
                  <a:moveTo>
                    <a:pt x="12700" y="0"/>
                  </a:moveTo>
                  <a:lnTo>
                    <a:pt x="12700" y="1085573"/>
                  </a:lnTo>
                  <a:lnTo>
                    <a:pt x="0" y="1085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46954"/>
              <a:ext cx="8394067" cy="9391"/>
            </a:xfrm>
            <a:custGeom>
              <a:avLst/>
              <a:gdLst/>
              <a:ahLst/>
              <a:cxnLst/>
              <a:rect r="r" b="b" t="t" l="l"/>
              <a:pathLst>
                <a:path h="9391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9391"/>
                  </a:lnTo>
                  <a:lnTo>
                    <a:pt x="0" y="93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1104354"/>
              <a:ext cx="8394067" cy="28172"/>
            </a:xfrm>
            <a:custGeom>
              <a:avLst/>
              <a:gdLst/>
              <a:ahLst/>
              <a:cxnLst/>
              <a:rect r="r" b="b" t="t" l="l"/>
              <a:pathLst>
                <a:path h="28172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28173"/>
                  </a:lnTo>
                  <a:lnTo>
                    <a:pt x="0" y="281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3518964" y="231753"/>
            <a:ext cx="2145497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Literature survey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51432" y="6547475"/>
            <a:ext cx="77258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6572" y="1161793"/>
            <a:ext cx="343233" cy="56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Sr. No.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1125" y="1123693"/>
            <a:ext cx="1727568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of the paper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89372" y="1123693"/>
            <a:ext cx="725167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Author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79241" y="1161793"/>
            <a:ext cx="2123494" cy="56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Major observations/findings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08572" y="1158088"/>
            <a:ext cx="1241412" cy="8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 of Publication/ Publisher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381000" y="2069249"/>
            <a:ext cx="8521075" cy="1610130"/>
            <a:chOff x="0" y="0"/>
            <a:chExt cx="8521078" cy="161012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9850" y="70507"/>
              <a:ext cx="8381367" cy="1456288"/>
            </a:xfrm>
            <a:custGeom>
              <a:avLst/>
              <a:gdLst/>
              <a:ahLst/>
              <a:cxnLst/>
              <a:rect r="r" b="b" t="t" l="l"/>
              <a:pathLst>
                <a:path h="1456288" w="8381367">
                  <a:moveTo>
                    <a:pt x="0" y="0"/>
                  </a:moveTo>
                  <a:lnTo>
                    <a:pt x="8381367" y="0"/>
                  </a:lnTo>
                  <a:lnTo>
                    <a:pt x="8381367" y="1456288"/>
                  </a:lnTo>
                  <a:lnTo>
                    <a:pt x="0" y="1456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69850" y="70507"/>
              <a:ext cx="844550" cy="1456288"/>
            </a:xfrm>
            <a:custGeom>
              <a:avLst/>
              <a:gdLst/>
              <a:ahLst/>
              <a:cxnLst/>
              <a:rect r="r" b="b" t="t" l="l"/>
              <a:pathLst>
                <a:path h="1456288" w="844550">
                  <a:moveTo>
                    <a:pt x="0" y="0"/>
                  </a:moveTo>
                  <a:lnTo>
                    <a:pt x="844550" y="0"/>
                  </a:lnTo>
                  <a:lnTo>
                    <a:pt x="844550" y="1456288"/>
                  </a:lnTo>
                  <a:lnTo>
                    <a:pt x="0" y="1456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914400" y="70507"/>
              <a:ext cx="2508251" cy="1456288"/>
            </a:xfrm>
            <a:custGeom>
              <a:avLst/>
              <a:gdLst/>
              <a:ahLst/>
              <a:cxnLst/>
              <a:rect r="r" b="b" t="t" l="l"/>
              <a:pathLst>
                <a:path h="1456288" w="2508251">
                  <a:moveTo>
                    <a:pt x="0" y="0"/>
                  </a:moveTo>
                  <a:lnTo>
                    <a:pt x="2508251" y="0"/>
                  </a:lnTo>
                  <a:lnTo>
                    <a:pt x="2508251" y="1456288"/>
                  </a:lnTo>
                  <a:lnTo>
                    <a:pt x="0" y="1456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3422651" y="70507"/>
              <a:ext cx="1219200" cy="1456288"/>
            </a:xfrm>
            <a:custGeom>
              <a:avLst/>
              <a:gdLst/>
              <a:ahLst/>
              <a:cxnLst/>
              <a:rect r="r" b="b" t="t" l="l"/>
              <a:pathLst>
                <a:path h="145628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56288"/>
                  </a:lnTo>
                  <a:lnTo>
                    <a:pt x="0" y="1456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4641851" y="70507"/>
              <a:ext cx="1471296" cy="1456288"/>
            </a:xfrm>
            <a:custGeom>
              <a:avLst/>
              <a:gdLst/>
              <a:ahLst/>
              <a:cxnLst/>
              <a:rect r="r" b="b" t="t" l="l"/>
              <a:pathLst>
                <a:path h="1456288" w="1471296">
                  <a:moveTo>
                    <a:pt x="0" y="0"/>
                  </a:moveTo>
                  <a:lnTo>
                    <a:pt x="1471296" y="0"/>
                  </a:lnTo>
                  <a:lnTo>
                    <a:pt x="1471296" y="1456288"/>
                  </a:lnTo>
                  <a:lnTo>
                    <a:pt x="0" y="1456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6113147" y="70507"/>
              <a:ext cx="2338070" cy="1456288"/>
            </a:xfrm>
            <a:custGeom>
              <a:avLst/>
              <a:gdLst/>
              <a:ahLst/>
              <a:cxnLst/>
              <a:rect r="r" b="b" t="t" l="l"/>
              <a:pathLst>
                <a:path h="1456288" w="2338070">
                  <a:moveTo>
                    <a:pt x="0" y="0"/>
                  </a:moveTo>
                  <a:lnTo>
                    <a:pt x="2338070" y="0"/>
                  </a:lnTo>
                  <a:lnTo>
                    <a:pt x="2338070" y="1456288"/>
                  </a:lnTo>
                  <a:lnTo>
                    <a:pt x="0" y="1456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3500" y="64097"/>
              <a:ext cx="12700" cy="1481927"/>
            </a:xfrm>
            <a:custGeom>
              <a:avLst/>
              <a:gdLst/>
              <a:ahLst/>
              <a:cxnLst/>
              <a:rect r="r" b="b" t="t" l="l"/>
              <a:pathLst>
                <a:path h="1481927" w="12700">
                  <a:moveTo>
                    <a:pt x="12700" y="0"/>
                  </a:moveTo>
                  <a:lnTo>
                    <a:pt x="12700" y="1481927"/>
                  </a:lnTo>
                  <a:lnTo>
                    <a:pt x="0" y="1481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908050" y="64097"/>
              <a:ext cx="12700" cy="1481927"/>
            </a:xfrm>
            <a:custGeom>
              <a:avLst/>
              <a:gdLst/>
              <a:ahLst/>
              <a:cxnLst/>
              <a:rect r="r" b="b" t="t" l="l"/>
              <a:pathLst>
                <a:path h="1481927" w="12700">
                  <a:moveTo>
                    <a:pt x="12700" y="0"/>
                  </a:moveTo>
                  <a:lnTo>
                    <a:pt x="12700" y="1481927"/>
                  </a:lnTo>
                  <a:lnTo>
                    <a:pt x="0" y="1481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3416301" y="64097"/>
              <a:ext cx="12700" cy="1481927"/>
            </a:xfrm>
            <a:custGeom>
              <a:avLst/>
              <a:gdLst/>
              <a:ahLst/>
              <a:cxnLst/>
              <a:rect r="r" b="b" t="t" l="l"/>
              <a:pathLst>
                <a:path h="1481927" w="12700">
                  <a:moveTo>
                    <a:pt x="12700" y="0"/>
                  </a:moveTo>
                  <a:lnTo>
                    <a:pt x="12700" y="1481927"/>
                  </a:lnTo>
                  <a:lnTo>
                    <a:pt x="0" y="1481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4635501" y="64097"/>
              <a:ext cx="12700" cy="1481927"/>
            </a:xfrm>
            <a:custGeom>
              <a:avLst/>
              <a:gdLst/>
              <a:ahLst/>
              <a:cxnLst/>
              <a:rect r="r" b="b" t="t" l="l"/>
              <a:pathLst>
                <a:path h="1481927" w="12700">
                  <a:moveTo>
                    <a:pt x="12701" y="0"/>
                  </a:moveTo>
                  <a:lnTo>
                    <a:pt x="12701" y="1481927"/>
                  </a:lnTo>
                  <a:lnTo>
                    <a:pt x="0" y="1481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6106797" y="64097"/>
              <a:ext cx="12700" cy="1481927"/>
            </a:xfrm>
            <a:custGeom>
              <a:avLst/>
              <a:gdLst/>
              <a:ahLst/>
              <a:cxnLst/>
              <a:rect r="r" b="b" t="t" l="l"/>
              <a:pathLst>
                <a:path h="1481927" w="12700">
                  <a:moveTo>
                    <a:pt x="12700" y="0"/>
                  </a:moveTo>
                  <a:lnTo>
                    <a:pt x="12700" y="1481927"/>
                  </a:lnTo>
                  <a:lnTo>
                    <a:pt x="0" y="1481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8444867" y="64097"/>
              <a:ext cx="12700" cy="1481927"/>
            </a:xfrm>
            <a:custGeom>
              <a:avLst/>
              <a:gdLst/>
              <a:ahLst/>
              <a:cxnLst/>
              <a:rect r="r" b="b" t="t" l="l"/>
              <a:pathLst>
                <a:path h="1481927" w="12700">
                  <a:moveTo>
                    <a:pt x="12700" y="0"/>
                  </a:moveTo>
                  <a:lnTo>
                    <a:pt x="12700" y="1481927"/>
                  </a:lnTo>
                  <a:lnTo>
                    <a:pt x="0" y="1481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63500" y="64097"/>
              <a:ext cx="8394067" cy="12819"/>
            </a:xfrm>
            <a:custGeom>
              <a:avLst/>
              <a:gdLst/>
              <a:ahLst/>
              <a:cxnLst/>
              <a:rect r="r" b="b" t="t" l="l"/>
              <a:pathLst>
                <a:path h="12819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12820"/>
                  </a:lnTo>
                  <a:lnTo>
                    <a:pt x="0" y="128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63500" y="1507566"/>
              <a:ext cx="8394067" cy="38458"/>
            </a:xfrm>
            <a:custGeom>
              <a:avLst/>
              <a:gdLst/>
              <a:ahLst/>
              <a:cxnLst/>
              <a:rect r="r" b="b" t="t" l="l"/>
              <a:pathLst>
                <a:path h="38458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38458"/>
                  </a:lnTo>
                  <a:lnTo>
                    <a:pt x="0" y="3845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381000" y="3469935"/>
            <a:ext cx="8521075" cy="1542110"/>
            <a:chOff x="0" y="0"/>
            <a:chExt cx="8521078" cy="154210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69850" y="67528"/>
              <a:ext cx="8381367" cy="1394767"/>
            </a:xfrm>
            <a:custGeom>
              <a:avLst/>
              <a:gdLst/>
              <a:ahLst/>
              <a:cxnLst/>
              <a:rect r="r" b="b" t="t" l="l"/>
              <a:pathLst>
                <a:path h="1394767" w="8381367">
                  <a:moveTo>
                    <a:pt x="0" y="0"/>
                  </a:moveTo>
                  <a:lnTo>
                    <a:pt x="8381367" y="0"/>
                  </a:lnTo>
                  <a:lnTo>
                    <a:pt x="8381367" y="1394768"/>
                  </a:lnTo>
                  <a:lnTo>
                    <a:pt x="0" y="1394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69850" y="67528"/>
              <a:ext cx="844550" cy="1394767"/>
            </a:xfrm>
            <a:custGeom>
              <a:avLst/>
              <a:gdLst/>
              <a:ahLst/>
              <a:cxnLst/>
              <a:rect r="r" b="b" t="t" l="l"/>
              <a:pathLst>
                <a:path h="1394767" w="844550">
                  <a:moveTo>
                    <a:pt x="0" y="0"/>
                  </a:moveTo>
                  <a:lnTo>
                    <a:pt x="844550" y="0"/>
                  </a:lnTo>
                  <a:lnTo>
                    <a:pt x="844550" y="1394768"/>
                  </a:lnTo>
                  <a:lnTo>
                    <a:pt x="0" y="1394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914400" y="67528"/>
              <a:ext cx="2508251" cy="1394767"/>
            </a:xfrm>
            <a:custGeom>
              <a:avLst/>
              <a:gdLst/>
              <a:ahLst/>
              <a:cxnLst/>
              <a:rect r="r" b="b" t="t" l="l"/>
              <a:pathLst>
                <a:path h="1394767" w="2508251">
                  <a:moveTo>
                    <a:pt x="0" y="0"/>
                  </a:moveTo>
                  <a:lnTo>
                    <a:pt x="2508251" y="0"/>
                  </a:lnTo>
                  <a:lnTo>
                    <a:pt x="2508251" y="1394768"/>
                  </a:lnTo>
                  <a:lnTo>
                    <a:pt x="0" y="1394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3422651" y="67528"/>
              <a:ext cx="1219200" cy="1394767"/>
            </a:xfrm>
            <a:custGeom>
              <a:avLst/>
              <a:gdLst/>
              <a:ahLst/>
              <a:cxnLst/>
              <a:rect r="r" b="b" t="t" l="l"/>
              <a:pathLst>
                <a:path h="1394767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94768"/>
                  </a:lnTo>
                  <a:lnTo>
                    <a:pt x="0" y="1394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4641851" y="67528"/>
              <a:ext cx="1471296" cy="1394767"/>
            </a:xfrm>
            <a:custGeom>
              <a:avLst/>
              <a:gdLst/>
              <a:ahLst/>
              <a:cxnLst/>
              <a:rect r="r" b="b" t="t" l="l"/>
              <a:pathLst>
                <a:path h="1394767" w="1471296">
                  <a:moveTo>
                    <a:pt x="0" y="0"/>
                  </a:moveTo>
                  <a:lnTo>
                    <a:pt x="1471296" y="0"/>
                  </a:lnTo>
                  <a:lnTo>
                    <a:pt x="1471296" y="1394768"/>
                  </a:lnTo>
                  <a:lnTo>
                    <a:pt x="0" y="1394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6113147" y="67528"/>
              <a:ext cx="2338070" cy="1394767"/>
            </a:xfrm>
            <a:custGeom>
              <a:avLst/>
              <a:gdLst/>
              <a:ahLst/>
              <a:cxnLst/>
              <a:rect r="r" b="b" t="t" l="l"/>
              <a:pathLst>
                <a:path h="1394767" w="2338070">
                  <a:moveTo>
                    <a:pt x="0" y="0"/>
                  </a:moveTo>
                  <a:lnTo>
                    <a:pt x="2338070" y="0"/>
                  </a:lnTo>
                  <a:lnTo>
                    <a:pt x="2338070" y="1394768"/>
                  </a:lnTo>
                  <a:lnTo>
                    <a:pt x="0" y="1394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63500" y="61389"/>
              <a:ext cx="12700" cy="1419323"/>
            </a:xfrm>
            <a:custGeom>
              <a:avLst/>
              <a:gdLst/>
              <a:ahLst/>
              <a:cxnLst/>
              <a:rect r="r" b="b" t="t" l="l"/>
              <a:pathLst>
                <a:path h="1419323" w="12700">
                  <a:moveTo>
                    <a:pt x="12700" y="0"/>
                  </a:moveTo>
                  <a:lnTo>
                    <a:pt x="12700" y="1419324"/>
                  </a:lnTo>
                  <a:lnTo>
                    <a:pt x="0" y="141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908050" y="61389"/>
              <a:ext cx="12700" cy="1419323"/>
            </a:xfrm>
            <a:custGeom>
              <a:avLst/>
              <a:gdLst/>
              <a:ahLst/>
              <a:cxnLst/>
              <a:rect r="r" b="b" t="t" l="l"/>
              <a:pathLst>
                <a:path h="1419323" w="12700">
                  <a:moveTo>
                    <a:pt x="12700" y="0"/>
                  </a:moveTo>
                  <a:lnTo>
                    <a:pt x="12700" y="1419324"/>
                  </a:lnTo>
                  <a:lnTo>
                    <a:pt x="0" y="141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3416301" y="61389"/>
              <a:ext cx="12700" cy="1419323"/>
            </a:xfrm>
            <a:custGeom>
              <a:avLst/>
              <a:gdLst/>
              <a:ahLst/>
              <a:cxnLst/>
              <a:rect r="r" b="b" t="t" l="l"/>
              <a:pathLst>
                <a:path h="1419323" w="12700">
                  <a:moveTo>
                    <a:pt x="12700" y="0"/>
                  </a:moveTo>
                  <a:lnTo>
                    <a:pt x="12700" y="1419324"/>
                  </a:lnTo>
                  <a:lnTo>
                    <a:pt x="0" y="141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4635501" y="61389"/>
              <a:ext cx="12700" cy="1419323"/>
            </a:xfrm>
            <a:custGeom>
              <a:avLst/>
              <a:gdLst/>
              <a:ahLst/>
              <a:cxnLst/>
              <a:rect r="r" b="b" t="t" l="l"/>
              <a:pathLst>
                <a:path h="1419323" w="12700">
                  <a:moveTo>
                    <a:pt x="12701" y="0"/>
                  </a:moveTo>
                  <a:lnTo>
                    <a:pt x="12701" y="1419324"/>
                  </a:lnTo>
                  <a:lnTo>
                    <a:pt x="0" y="141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6106797" y="61389"/>
              <a:ext cx="12700" cy="1419323"/>
            </a:xfrm>
            <a:custGeom>
              <a:avLst/>
              <a:gdLst/>
              <a:ahLst/>
              <a:cxnLst/>
              <a:rect r="r" b="b" t="t" l="l"/>
              <a:pathLst>
                <a:path h="1419323" w="12700">
                  <a:moveTo>
                    <a:pt x="12700" y="0"/>
                  </a:moveTo>
                  <a:lnTo>
                    <a:pt x="12700" y="1419324"/>
                  </a:lnTo>
                  <a:lnTo>
                    <a:pt x="0" y="141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8444867" y="61389"/>
              <a:ext cx="12700" cy="1419323"/>
            </a:xfrm>
            <a:custGeom>
              <a:avLst/>
              <a:gdLst/>
              <a:ahLst/>
              <a:cxnLst/>
              <a:rect r="r" b="b" t="t" l="l"/>
              <a:pathLst>
                <a:path h="1419323" w="12700">
                  <a:moveTo>
                    <a:pt x="12700" y="0"/>
                  </a:moveTo>
                  <a:lnTo>
                    <a:pt x="12700" y="1419324"/>
                  </a:lnTo>
                  <a:lnTo>
                    <a:pt x="0" y="141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63500" y="61389"/>
              <a:ext cx="8394067" cy="12278"/>
            </a:xfrm>
            <a:custGeom>
              <a:avLst/>
              <a:gdLst/>
              <a:ahLst/>
              <a:cxnLst/>
              <a:rect r="r" b="b" t="t" l="l"/>
              <a:pathLst>
                <a:path h="12278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12278"/>
                  </a:lnTo>
                  <a:lnTo>
                    <a:pt x="0" y="12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63500" y="1443879"/>
              <a:ext cx="8394067" cy="36834"/>
            </a:xfrm>
            <a:custGeom>
              <a:avLst/>
              <a:gdLst/>
              <a:ahLst/>
              <a:cxnLst/>
              <a:rect r="r" b="b" t="t" l="l"/>
              <a:pathLst>
                <a:path h="36834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36834"/>
                  </a:lnTo>
                  <a:lnTo>
                    <a:pt x="0" y="3683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381000" y="4853690"/>
            <a:ext cx="8521075" cy="1595123"/>
            <a:chOff x="0" y="0"/>
            <a:chExt cx="8521078" cy="15951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69850" y="69850"/>
              <a:ext cx="8381367" cy="1442715"/>
            </a:xfrm>
            <a:custGeom>
              <a:avLst/>
              <a:gdLst/>
              <a:ahLst/>
              <a:cxnLst/>
              <a:rect r="r" b="b" t="t" l="l"/>
              <a:pathLst>
                <a:path h="1442715" w="8381367">
                  <a:moveTo>
                    <a:pt x="0" y="0"/>
                  </a:moveTo>
                  <a:lnTo>
                    <a:pt x="8381367" y="0"/>
                  </a:lnTo>
                  <a:lnTo>
                    <a:pt x="8381367" y="1442715"/>
                  </a:lnTo>
                  <a:lnTo>
                    <a:pt x="0" y="1442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69850" y="69850"/>
              <a:ext cx="844550" cy="1442715"/>
            </a:xfrm>
            <a:custGeom>
              <a:avLst/>
              <a:gdLst/>
              <a:ahLst/>
              <a:cxnLst/>
              <a:rect r="r" b="b" t="t" l="l"/>
              <a:pathLst>
                <a:path h="1442715" w="844550">
                  <a:moveTo>
                    <a:pt x="0" y="0"/>
                  </a:moveTo>
                  <a:lnTo>
                    <a:pt x="844550" y="0"/>
                  </a:lnTo>
                  <a:lnTo>
                    <a:pt x="844550" y="1442715"/>
                  </a:lnTo>
                  <a:lnTo>
                    <a:pt x="0" y="1442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914400" y="69850"/>
              <a:ext cx="2508251" cy="1442715"/>
            </a:xfrm>
            <a:custGeom>
              <a:avLst/>
              <a:gdLst/>
              <a:ahLst/>
              <a:cxnLst/>
              <a:rect r="r" b="b" t="t" l="l"/>
              <a:pathLst>
                <a:path h="1442715" w="2508251">
                  <a:moveTo>
                    <a:pt x="0" y="0"/>
                  </a:moveTo>
                  <a:lnTo>
                    <a:pt x="2508251" y="0"/>
                  </a:lnTo>
                  <a:lnTo>
                    <a:pt x="2508251" y="1442715"/>
                  </a:lnTo>
                  <a:lnTo>
                    <a:pt x="0" y="1442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3422651" y="69850"/>
              <a:ext cx="1219200" cy="1442715"/>
            </a:xfrm>
            <a:custGeom>
              <a:avLst/>
              <a:gdLst/>
              <a:ahLst/>
              <a:cxnLst/>
              <a:rect r="r" b="b" t="t" l="l"/>
              <a:pathLst>
                <a:path h="1442715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42715"/>
                  </a:lnTo>
                  <a:lnTo>
                    <a:pt x="0" y="1442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4641851" y="69850"/>
              <a:ext cx="1471296" cy="1442715"/>
            </a:xfrm>
            <a:custGeom>
              <a:avLst/>
              <a:gdLst/>
              <a:ahLst/>
              <a:cxnLst/>
              <a:rect r="r" b="b" t="t" l="l"/>
              <a:pathLst>
                <a:path h="1442715" w="1471296">
                  <a:moveTo>
                    <a:pt x="0" y="0"/>
                  </a:moveTo>
                  <a:lnTo>
                    <a:pt x="1471296" y="0"/>
                  </a:lnTo>
                  <a:lnTo>
                    <a:pt x="1471296" y="1442715"/>
                  </a:lnTo>
                  <a:lnTo>
                    <a:pt x="0" y="1442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6113147" y="69850"/>
              <a:ext cx="2338070" cy="1442715"/>
            </a:xfrm>
            <a:custGeom>
              <a:avLst/>
              <a:gdLst/>
              <a:ahLst/>
              <a:cxnLst/>
              <a:rect r="r" b="b" t="t" l="l"/>
              <a:pathLst>
                <a:path h="1442715" w="2338070">
                  <a:moveTo>
                    <a:pt x="0" y="0"/>
                  </a:moveTo>
                  <a:lnTo>
                    <a:pt x="2338070" y="0"/>
                  </a:lnTo>
                  <a:lnTo>
                    <a:pt x="2338070" y="1442715"/>
                  </a:lnTo>
                  <a:lnTo>
                    <a:pt x="0" y="1442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63500" y="63500"/>
              <a:ext cx="12700" cy="1468115"/>
            </a:xfrm>
            <a:custGeom>
              <a:avLst/>
              <a:gdLst/>
              <a:ahLst/>
              <a:cxnLst/>
              <a:rect r="r" b="b" t="t" l="l"/>
              <a:pathLst>
                <a:path h="1468115" w="12700">
                  <a:moveTo>
                    <a:pt x="12700" y="0"/>
                  </a:moveTo>
                  <a:lnTo>
                    <a:pt x="12700" y="1468115"/>
                  </a:lnTo>
                  <a:lnTo>
                    <a:pt x="0" y="146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908050" y="63500"/>
              <a:ext cx="12700" cy="1468115"/>
            </a:xfrm>
            <a:custGeom>
              <a:avLst/>
              <a:gdLst/>
              <a:ahLst/>
              <a:cxnLst/>
              <a:rect r="r" b="b" t="t" l="l"/>
              <a:pathLst>
                <a:path h="1468115" w="12700">
                  <a:moveTo>
                    <a:pt x="12700" y="0"/>
                  </a:moveTo>
                  <a:lnTo>
                    <a:pt x="12700" y="1468115"/>
                  </a:lnTo>
                  <a:lnTo>
                    <a:pt x="0" y="146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3416301" y="63500"/>
              <a:ext cx="12700" cy="1468115"/>
            </a:xfrm>
            <a:custGeom>
              <a:avLst/>
              <a:gdLst/>
              <a:ahLst/>
              <a:cxnLst/>
              <a:rect r="r" b="b" t="t" l="l"/>
              <a:pathLst>
                <a:path h="1468115" w="12700">
                  <a:moveTo>
                    <a:pt x="12700" y="0"/>
                  </a:moveTo>
                  <a:lnTo>
                    <a:pt x="12700" y="1468115"/>
                  </a:lnTo>
                  <a:lnTo>
                    <a:pt x="0" y="146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4635501" y="63500"/>
              <a:ext cx="12700" cy="1468115"/>
            </a:xfrm>
            <a:custGeom>
              <a:avLst/>
              <a:gdLst/>
              <a:ahLst/>
              <a:cxnLst/>
              <a:rect r="r" b="b" t="t" l="l"/>
              <a:pathLst>
                <a:path h="1468115" w="12700">
                  <a:moveTo>
                    <a:pt x="12701" y="0"/>
                  </a:moveTo>
                  <a:lnTo>
                    <a:pt x="12701" y="1468115"/>
                  </a:lnTo>
                  <a:lnTo>
                    <a:pt x="0" y="146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6106797" y="63500"/>
              <a:ext cx="12700" cy="1468115"/>
            </a:xfrm>
            <a:custGeom>
              <a:avLst/>
              <a:gdLst/>
              <a:ahLst/>
              <a:cxnLst/>
              <a:rect r="r" b="b" t="t" l="l"/>
              <a:pathLst>
                <a:path h="1468115" w="12700">
                  <a:moveTo>
                    <a:pt x="12700" y="0"/>
                  </a:moveTo>
                  <a:lnTo>
                    <a:pt x="12700" y="1468115"/>
                  </a:lnTo>
                  <a:lnTo>
                    <a:pt x="0" y="146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8444867" y="63500"/>
              <a:ext cx="12700" cy="1468115"/>
            </a:xfrm>
            <a:custGeom>
              <a:avLst/>
              <a:gdLst/>
              <a:ahLst/>
              <a:cxnLst/>
              <a:rect r="r" b="b" t="t" l="l"/>
              <a:pathLst>
                <a:path h="1468115" w="12700">
                  <a:moveTo>
                    <a:pt x="12700" y="0"/>
                  </a:moveTo>
                  <a:lnTo>
                    <a:pt x="12700" y="1468115"/>
                  </a:lnTo>
                  <a:lnTo>
                    <a:pt x="0" y="146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63500" y="63500"/>
              <a:ext cx="8394067" cy="12700"/>
            </a:xfrm>
            <a:custGeom>
              <a:avLst/>
              <a:gdLst/>
              <a:ahLst/>
              <a:cxnLst/>
              <a:rect r="r" b="b" t="t" l="l"/>
              <a:pathLst>
                <a:path h="12700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63500" y="1493515"/>
              <a:ext cx="8394067" cy="38100"/>
            </a:xfrm>
            <a:custGeom>
              <a:avLst/>
              <a:gdLst/>
              <a:ahLst/>
              <a:cxnLst/>
              <a:rect r="r" b="b" t="t" l="l"/>
              <a:pathLst>
                <a:path h="38100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1427300" y="2338365"/>
            <a:ext cx="2230189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Depl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oyability-Centric Infrastructure-as-Code Generation: Fail, Learn, Refine, and Succeed through LLM-Empowered DevOps Simulation.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3985158" y="2307079"/>
            <a:ext cx="876961" cy="116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  <a:spcBef>
                <a:spcPct val="0"/>
              </a:spcBef>
            </a:pPr>
            <a:r>
              <a:rPr lang="en-US" sz="109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Tianyi Zhang, Shidong Pan, Zejun Zhang, Zhenchang Xing, and Xiaoyu Sun. 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313984" y="2395235"/>
            <a:ext cx="90293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2025; ACM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(Proceedings of FSE).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579241" y="2224704"/>
            <a:ext cx="2123494" cy="153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State-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of-the-art Large Language Models (LLMs) performed poorly on initial IaC deployability, achieving success rates of only 20.8% to 30.2% on the first attempt.</a:t>
            </a:r>
          </a:p>
          <a:p>
            <a:pPr algn="ctr">
              <a:lnSpc>
                <a:spcPts val="1184"/>
              </a:lnSpc>
              <a:spcBef>
                <a:spcPct val="0"/>
              </a:spcBef>
            </a:pPr>
          </a:p>
          <a:p>
            <a:pPr algn="ctr">
              <a:lnSpc>
                <a:spcPts val="1184"/>
              </a:lnSpc>
              <a:spcBef>
                <a:spcPct val="0"/>
              </a:spcBef>
            </a:pPr>
          </a:p>
        </p:txBody>
      </p:sp>
      <p:sp>
        <p:nvSpPr>
          <p:cNvPr name="TextBox 79" id="79"/>
          <p:cNvSpPr txBox="true"/>
          <p:nvPr/>
        </p:nvSpPr>
        <p:spPr>
          <a:xfrm rot="0">
            <a:off x="1515344" y="3790702"/>
            <a:ext cx="1593349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AI Driven Hybrid Multi Cloud Governance Strategy.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080943" y="3895477"/>
            <a:ext cx="665641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unil Kattikar.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118060" y="3641279"/>
            <a:ext cx="1241412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March 2025; International Journal of Engineering Research &amp; Technology (IJERT).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579870" y="3641279"/>
            <a:ext cx="2122865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Your Proposes an AI-driven model that integrates FinOps for cost forecasting, AI-driven policy enforcement for compliance, and a self-adapting governance model.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427300" y="5223946"/>
            <a:ext cx="2137839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Ai-Powered Cloud Automation: Enhancing Auto-Scaling Mechanisms Through Predictive Analytics And Machine Learning.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3985158" y="5319196"/>
            <a:ext cx="857213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Dheerender Thakur.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5118060" y="5223946"/>
            <a:ext cx="1294787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June 2022; International Journal of Creative Research Thoughts (IJCRT).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6579870" y="5188896"/>
            <a:ext cx="2071821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raditional auto-scaling methods are often reactive and inefficient, leading to over-provisioning or resource shortages.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08189" y="2430795"/>
            <a:ext cx="307563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536572" y="3872541"/>
            <a:ext cx="6286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685800" y="5434081"/>
            <a:ext cx="393417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3611314" y="6543665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28" y="3213633"/>
            <a:ext cx="6278242" cy="452123"/>
          </a:xfrm>
          <a:custGeom>
            <a:avLst/>
            <a:gdLst/>
            <a:ahLst/>
            <a:cxnLst/>
            <a:rect r="r" b="b" t="t" l="l"/>
            <a:pathLst>
              <a:path h="452123" w="6278242">
                <a:moveTo>
                  <a:pt x="0" y="0"/>
                </a:moveTo>
                <a:lnTo>
                  <a:pt x="6278242" y="0"/>
                </a:lnTo>
                <a:lnTo>
                  <a:pt x="6278242" y="452123"/>
                </a:lnTo>
                <a:lnTo>
                  <a:pt x="0" y="452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06267" y="249431"/>
            <a:ext cx="2131466" cy="391163"/>
          </a:xfrm>
          <a:custGeom>
            <a:avLst/>
            <a:gdLst/>
            <a:ahLst/>
            <a:cxnLst/>
            <a:rect r="r" b="b" t="t" l="l"/>
            <a:pathLst>
              <a:path h="391163" w="2131466">
                <a:moveTo>
                  <a:pt x="0" y="0"/>
                </a:moveTo>
                <a:lnTo>
                  <a:pt x="2131466" y="0"/>
                </a:lnTo>
                <a:lnTo>
                  <a:pt x="2131466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72275" y="529315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08489" y="6341834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18964" y="231753"/>
            <a:ext cx="2145497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Literature survey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46589" y="6332994"/>
            <a:ext cx="154517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4649" y="5067093"/>
            <a:ext cx="192137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81000" y="1054103"/>
            <a:ext cx="8521075" cy="1179487"/>
            <a:chOff x="0" y="0"/>
            <a:chExt cx="8521078" cy="11794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9850" y="51649"/>
              <a:ext cx="8381367" cy="1066791"/>
            </a:xfrm>
            <a:custGeom>
              <a:avLst/>
              <a:gdLst/>
              <a:ahLst/>
              <a:cxnLst/>
              <a:rect r="r" b="b" t="t" l="l"/>
              <a:pathLst>
                <a:path h="1066791" w="8381367">
                  <a:moveTo>
                    <a:pt x="0" y="0"/>
                  </a:moveTo>
                  <a:lnTo>
                    <a:pt x="8381367" y="0"/>
                  </a:lnTo>
                  <a:lnTo>
                    <a:pt x="8381367" y="1066792"/>
                  </a:lnTo>
                  <a:lnTo>
                    <a:pt x="0" y="1066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9850" y="51649"/>
              <a:ext cx="844550" cy="1066791"/>
            </a:xfrm>
            <a:custGeom>
              <a:avLst/>
              <a:gdLst/>
              <a:ahLst/>
              <a:cxnLst/>
              <a:rect r="r" b="b" t="t" l="l"/>
              <a:pathLst>
                <a:path h="1066791" w="844550">
                  <a:moveTo>
                    <a:pt x="0" y="0"/>
                  </a:moveTo>
                  <a:lnTo>
                    <a:pt x="844550" y="0"/>
                  </a:lnTo>
                  <a:lnTo>
                    <a:pt x="844550" y="1066792"/>
                  </a:lnTo>
                  <a:lnTo>
                    <a:pt x="0" y="1066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914400" y="51649"/>
              <a:ext cx="2508251" cy="1066791"/>
            </a:xfrm>
            <a:custGeom>
              <a:avLst/>
              <a:gdLst/>
              <a:ahLst/>
              <a:cxnLst/>
              <a:rect r="r" b="b" t="t" l="l"/>
              <a:pathLst>
                <a:path h="1066791" w="2508251">
                  <a:moveTo>
                    <a:pt x="0" y="0"/>
                  </a:moveTo>
                  <a:lnTo>
                    <a:pt x="2508251" y="0"/>
                  </a:lnTo>
                  <a:lnTo>
                    <a:pt x="2508251" y="1066792"/>
                  </a:lnTo>
                  <a:lnTo>
                    <a:pt x="0" y="1066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422651" y="51649"/>
              <a:ext cx="1219200" cy="1066791"/>
            </a:xfrm>
            <a:custGeom>
              <a:avLst/>
              <a:gdLst/>
              <a:ahLst/>
              <a:cxnLst/>
              <a:rect r="r" b="b" t="t" l="l"/>
              <a:pathLst>
                <a:path h="1066791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66792"/>
                  </a:lnTo>
                  <a:lnTo>
                    <a:pt x="0" y="1066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641851" y="51649"/>
              <a:ext cx="1471296" cy="1066791"/>
            </a:xfrm>
            <a:custGeom>
              <a:avLst/>
              <a:gdLst/>
              <a:ahLst/>
              <a:cxnLst/>
              <a:rect r="r" b="b" t="t" l="l"/>
              <a:pathLst>
                <a:path h="1066791" w="1471296">
                  <a:moveTo>
                    <a:pt x="0" y="0"/>
                  </a:moveTo>
                  <a:lnTo>
                    <a:pt x="1471296" y="0"/>
                  </a:lnTo>
                  <a:lnTo>
                    <a:pt x="1471296" y="1066792"/>
                  </a:lnTo>
                  <a:lnTo>
                    <a:pt x="0" y="1066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113147" y="51649"/>
              <a:ext cx="2338070" cy="1066791"/>
            </a:xfrm>
            <a:custGeom>
              <a:avLst/>
              <a:gdLst/>
              <a:ahLst/>
              <a:cxnLst/>
              <a:rect r="r" b="b" t="t" l="l"/>
              <a:pathLst>
                <a:path h="1066791" w="2338070">
                  <a:moveTo>
                    <a:pt x="0" y="0"/>
                  </a:moveTo>
                  <a:lnTo>
                    <a:pt x="2338070" y="0"/>
                  </a:lnTo>
                  <a:lnTo>
                    <a:pt x="2338070" y="1066792"/>
                  </a:lnTo>
                  <a:lnTo>
                    <a:pt x="0" y="1066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46954"/>
              <a:ext cx="12700" cy="1085573"/>
            </a:xfrm>
            <a:custGeom>
              <a:avLst/>
              <a:gdLst/>
              <a:ahLst/>
              <a:cxnLst/>
              <a:rect r="r" b="b" t="t" l="l"/>
              <a:pathLst>
                <a:path h="1085573" w="12700">
                  <a:moveTo>
                    <a:pt x="12700" y="0"/>
                  </a:moveTo>
                  <a:lnTo>
                    <a:pt x="12700" y="1085573"/>
                  </a:lnTo>
                  <a:lnTo>
                    <a:pt x="0" y="1085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908050" y="46954"/>
              <a:ext cx="12700" cy="1085573"/>
            </a:xfrm>
            <a:custGeom>
              <a:avLst/>
              <a:gdLst/>
              <a:ahLst/>
              <a:cxnLst/>
              <a:rect r="r" b="b" t="t" l="l"/>
              <a:pathLst>
                <a:path h="1085573" w="12700">
                  <a:moveTo>
                    <a:pt x="12700" y="0"/>
                  </a:moveTo>
                  <a:lnTo>
                    <a:pt x="12700" y="1085573"/>
                  </a:lnTo>
                  <a:lnTo>
                    <a:pt x="0" y="1085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416301" y="46954"/>
              <a:ext cx="12700" cy="1085573"/>
            </a:xfrm>
            <a:custGeom>
              <a:avLst/>
              <a:gdLst/>
              <a:ahLst/>
              <a:cxnLst/>
              <a:rect r="r" b="b" t="t" l="l"/>
              <a:pathLst>
                <a:path h="1085573" w="12700">
                  <a:moveTo>
                    <a:pt x="12700" y="0"/>
                  </a:moveTo>
                  <a:lnTo>
                    <a:pt x="12700" y="1085573"/>
                  </a:lnTo>
                  <a:lnTo>
                    <a:pt x="0" y="1085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635501" y="46954"/>
              <a:ext cx="12700" cy="1085573"/>
            </a:xfrm>
            <a:custGeom>
              <a:avLst/>
              <a:gdLst/>
              <a:ahLst/>
              <a:cxnLst/>
              <a:rect r="r" b="b" t="t" l="l"/>
              <a:pathLst>
                <a:path h="1085573" w="12700">
                  <a:moveTo>
                    <a:pt x="12701" y="0"/>
                  </a:moveTo>
                  <a:lnTo>
                    <a:pt x="12701" y="1085573"/>
                  </a:lnTo>
                  <a:lnTo>
                    <a:pt x="0" y="1085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106797" y="46954"/>
              <a:ext cx="12700" cy="1085573"/>
            </a:xfrm>
            <a:custGeom>
              <a:avLst/>
              <a:gdLst/>
              <a:ahLst/>
              <a:cxnLst/>
              <a:rect r="r" b="b" t="t" l="l"/>
              <a:pathLst>
                <a:path h="1085573" w="12700">
                  <a:moveTo>
                    <a:pt x="12700" y="0"/>
                  </a:moveTo>
                  <a:lnTo>
                    <a:pt x="12700" y="1085573"/>
                  </a:lnTo>
                  <a:lnTo>
                    <a:pt x="0" y="1085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8444867" y="46954"/>
              <a:ext cx="12700" cy="1085573"/>
            </a:xfrm>
            <a:custGeom>
              <a:avLst/>
              <a:gdLst/>
              <a:ahLst/>
              <a:cxnLst/>
              <a:rect r="r" b="b" t="t" l="l"/>
              <a:pathLst>
                <a:path h="1085573" w="12700">
                  <a:moveTo>
                    <a:pt x="12700" y="0"/>
                  </a:moveTo>
                  <a:lnTo>
                    <a:pt x="12700" y="1085573"/>
                  </a:lnTo>
                  <a:lnTo>
                    <a:pt x="0" y="1085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46954"/>
              <a:ext cx="8394067" cy="9391"/>
            </a:xfrm>
            <a:custGeom>
              <a:avLst/>
              <a:gdLst/>
              <a:ahLst/>
              <a:cxnLst/>
              <a:rect r="r" b="b" t="t" l="l"/>
              <a:pathLst>
                <a:path h="9391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9391"/>
                  </a:lnTo>
                  <a:lnTo>
                    <a:pt x="0" y="93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1104354"/>
              <a:ext cx="8394067" cy="28172"/>
            </a:xfrm>
            <a:custGeom>
              <a:avLst/>
              <a:gdLst/>
              <a:ahLst/>
              <a:cxnLst/>
              <a:rect r="r" b="b" t="t" l="l"/>
              <a:pathLst>
                <a:path h="28172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28173"/>
                  </a:lnTo>
                  <a:lnTo>
                    <a:pt x="0" y="281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36572" y="1161793"/>
            <a:ext cx="343233" cy="56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Sr. No.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1125" y="1123693"/>
            <a:ext cx="1727568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of the paper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89372" y="1123693"/>
            <a:ext cx="725167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Author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79241" y="1161793"/>
            <a:ext cx="2123494" cy="56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Major observations/findings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08572" y="1158088"/>
            <a:ext cx="1241412" cy="8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 of Publication/ Publisher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81000" y="2094656"/>
            <a:ext cx="8521075" cy="1610130"/>
            <a:chOff x="0" y="0"/>
            <a:chExt cx="8521078" cy="161012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9850" y="70507"/>
              <a:ext cx="8381367" cy="1456288"/>
            </a:xfrm>
            <a:custGeom>
              <a:avLst/>
              <a:gdLst/>
              <a:ahLst/>
              <a:cxnLst/>
              <a:rect r="r" b="b" t="t" l="l"/>
              <a:pathLst>
                <a:path h="1456288" w="8381367">
                  <a:moveTo>
                    <a:pt x="0" y="0"/>
                  </a:moveTo>
                  <a:lnTo>
                    <a:pt x="8381367" y="0"/>
                  </a:lnTo>
                  <a:lnTo>
                    <a:pt x="8381367" y="1456288"/>
                  </a:lnTo>
                  <a:lnTo>
                    <a:pt x="0" y="1456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9850" y="70507"/>
              <a:ext cx="844550" cy="1456288"/>
            </a:xfrm>
            <a:custGeom>
              <a:avLst/>
              <a:gdLst/>
              <a:ahLst/>
              <a:cxnLst/>
              <a:rect r="r" b="b" t="t" l="l"/>
              <a:pathLst>
                <a:path h="1456288" w="844550">
                  <a:moveTo>
                    <a:pt x="0" y="0"/>
                  </a:moveTo>
                  <a:lnTo>
                    <a:pt x="844550" y="0"/>
                  </a:lnTo>
                  <a:lnTo>
                    <a:pt x="844550" y="1456288"/>
                  </a:lnTo>
                  <a:lnTo>
                    <a:pt x="0" y="1456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914400" y="70507"/>
              <a:ext cx="2508251" cy="1456288"/>
            </a:xfrm>
            <a:custGeom>
              <a:avLst/>
              <a:gdLst/>
              <a:ahLst/>
              <a:cxnLst/>
              <a:rect r="r" b="b" t="t" l="l"/>
              <a:pathLst>
                <a:path h="1456288" w="2508251">
                  <a:moveTo>
                    <a:pt x="0" y="0"/>
                  </a:moveTo>
                  <a:lnTo>
                    <a:pt x="2508251" y="0"/>
                  </a:lnTo>
                  <a:lnTo>
                    <a:pt x="2508251" y="1456288"/>
                  </a:lnTo>
                  <a:lnTo>
                    <a:pt x="0" y="1456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3422651" y="70507"/>
              <a:ext cx="1219200" cy="1456288"/>
            </a:xfrm>
            <a:custGeom>
              <a:avLst/>
              <a:gdLst/>
              <a:ahLst/>
              <a:cxnLst/>
              <a:rect r="r" b="b" t="t" l="l"/>
              <a:pathLst>
                <a:path h="145628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56288"/>
                  </a:lnTo>
                  <a:lnTo>
                    <a:pt x="0" y="1456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4641851" y="70507"/>
              <a:ext cx="1471296" cy="1456288"/>
            </a:xfrm>
            <a:custGeom>
              <a:avLst/>
              <a:gdLst/>
              <a:ahLst/>
              <a:cxnLst/>
              <a:rect r="r" b="b" t="t" l="l"/>
              <a:pathLst>
                <a:path h="1456288" w="1471296">
                  <a:moveTo>
                    <a:pt x="0" y="0"/>
                  </a:moveTo>
                  <a:lnTo>
                    <a:pt x="1471296" y="0"/>
                  </a:lnTo>
                  <a:lnTo>
                    <a:pt x="1471296" y="1456288"/>
                  </a:lnTo>
                  <a:lnTo>
                    <a:pt x="0" y="1456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113147" y="70507"/>
              <a:ext cx="2338070" cy="1456288"/>
            </a:xfrm>
            <a:custGeom>
              <a:avLst/>
              <a:gdLst/>
              <a:ahLst/>
              <a:cxnLst/>
              <a:rect r="r" b="b" t="t" l="l"/>
              <a:pathLst>
                <a:path h="1456288" w="2338070">
                  <a:moveTo>
                    <a:pt x="0" y="0"/>
                  </a:moveTo>
                  <a:lnTo>
                    <a:pt x="2338070" y="0"/>
                  </a:lnTo>
                  <a:lnTo>
                    <a:pt x="2338070" y="1456288"/>
                  </a:lnTo>
                  <a:lnTo>
                    <a:pt x="0" y="1456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63500" y="64097"/>
              <a:ext cx="12700" cy="1481927"/>
            </a:xfrm>
            <a:custGeom>
              <a:avLst/>
              <a:gdLst/>
              <a:ahLst/>
              <a:cxnLst/>
              <a:rect r="r" b="b" t="t" l="l"/>
              <a:pathLst>
                <a:path h="1481927" w="12700">
                  <a:moveTo>
                    <a:pt x="12700" y="0"/>
                  </a:moveTo>
                  <a:lnTo>
                    <a:pt x="12700" y="1481927"/>
                  </a:lnTo>
                  <a:lnTo>
                    <a:pt x="0" y="1481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908050" y="64097"/>
              <a:ext cx="12700" cy="1481927"/>
            </a:xfrm>
            <a:custGeom>
              <a:avLst/>
              <a:gdLst/>
              <a:ahLst/>
              <a:cxnLst/>
              <a:rect r="r" b="b" t="t" l="l"/>
              <a:pathLst>
                <a:path h="1481927" w="12700">
                  <a:moveTo>
                    <a:pt x="12700" y="0"/>
                  </a:moveTo>
                  <a:lnTo>
                    <a:pt x="12700" y="1481927"/>
                  </a:lnTo>
                  <a:lnTo>
                    <a:pt x="0" y="1481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3416301" y="64097"/>
              <a:ext cx="12700" cy="1481927"/>
            </a:xfrm>
            <a:custGeom>
              <a:avLst/>
              <a:gdLst/>
              <a:ahLst/>
              <a:cxnLst/>
              <a:rect r="r" b="b" t="t" l="l"/>
              <a:pathLst>
                <a:path h="1481927" w="12700">
                  <a:moveTo>
                    <a:pt x="12700" y="0"/>
                  </a:moveTo>
                  <a:lnTo>
                    <a:pt x="12700" y="1481927"/>
                  </a:lnTo>
                  <a:lnTo>
                    <a:pt x="0" y="1481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4635501" y="64097"/>
              <a:ext cx="12700" cy="1481927"/>
            </a:xfrm>
            <a:custGeom>
              <a:avLst/>
              <a:gdLst/>
              <a:ahLst/>
              <a:cxnLst/>
              <a:rect r="r" b="b" t="t" l="l"/>
              <a:pathLst>
                <a:path h="1481927" w="12700">
                  <a:moveTo>
                    <a:pt x="12701" y="0"/>
                  </a:moveTo>
                  <a:lnTo>
                    <a:pt x="12701" y="1481927"/>
                  </a:lnTo>
                  <a:lnTo>
                    <a:pt x="0" y="1481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6106797" y="64097"/>
              <a:ext cx="12700" cy="1481927"/>
            </a:xfrm>
            <a:custGeom>
              <a:avLst/>
              <a:gdLst/>
              <a:ahLst/>
              <a:cxnLst/>
              <a:rect r="r" b="b" t="t" l="l"/>
              <a:pathLst>
                <a:path h="1481927" w="12700">
                  <a:moveTo>
                    <a:pt x="12700" y="0"/>
                  </a:moveTo>
                  <a:lnTo>
                    <a:pt x="12700" y="1481927"/>
                  </a:lnTo>
                  <a:lnTo>
                    <a:pt x="0" y="1481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8444867" y="64097"/>
              <a:ext cx="12700" cy="1481927"/>
            </a:xfrm>
            <a:custGeom>
              <a:avLst/>
              <a:gdLst/>
              <a:ahLst/>
              <a:cxnLst/>
              <a:rect r="r" b="b" t="t" l="l"/>
              <a:pathLst>
                <a:path h="1481927" w="12700">
                  <a:moveTo>
                    <a:pt x="12700" y="0"/>
                  </a:moveTo>
                  <a:lnTo>
                    <a:pt x="12700" y="1481927"/>
                  </a:lnTo>
                  <a:lnTo>
                    <a:pt x="0" y="1481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63500" y="64097"/>
              <a:ext cx="8394067" cy="12819"/>
            </a:xfrm>
            <a:custGeom>
              <a:avLst/>
              <a:gdLst/>
              <a:ahLst/>
              <a:cxnLst/>
              <a:rect r="r" b="b" t="t" l="l"/>
              <a:pathLst>
                <a:path h="12819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12820"/>
                  </a:lnTo>
                  <a:lnTo>
                    <a:pt x="0" y="128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63500" y="1507566"/>
              <a:ext cx="8394067" cy="38458"/>
            </a:xfrm>
            <a:custGeom>
              <a:avLst/>
              <a:gdLst/>
              <a:ahLst/>
              <a:cxnLst/>
              <a:rect r="r" b="b" t="t" l="l"/>
              <a:pathLst>
                <a:path h="38458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38458"/>
                  </a:lnTo>
                  <a:lnTo>
                    <a:pt x="0" y="3845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81000" y="3527161"/>
            <a:ext cx="8521075" cy="1542110"/>
            <a:chOff x="0" y="0"/>
            <a:chExt cx="8521078" cy="154210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69850" y="67528"/>
              <a:ext cx="8381367" cy="1394767"/>
            </a:xfrm>
            <a:custGeom>
              <a:avLst/>
              <a:gdLst/>
              <a:ahLst/>
              <a:cxnLst/>
              <a:rect r="r" b="b" t="t" l="l"/>
              <a:pathLst>
                <a:path h="1394767" w="8381367">
                  <a:moveTo>
                    <a:pt x="0" y="0"/>
                  </a:moveTo>
                  <a:lnTo>
                    <a:pt x="8381367" y="0"/>
                  </a:lnTo>
                  <a:lnTo>
                    <a:pt x="8381367" y="1394768"/>
                  </a:lnTo>
                  <a:lnTo>
                    <a:pt x="0" y="1394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69850" y="67528"/>
              <a:ext cx="844550" cy="1394767"/>
            </a:xfrm>
            <a:custGeom>
              <a:avLst/>
              <a:gdLst/>
              <a:ahLst/>
              <a:cxnLst/>
              <a:rect r="r" b="b" t="t" l="l"/>
              <a:pathLst>
                <a:path h="1394767" w="844550">
                  <a:moveTo>
                    <a:pt x="0" y="0"/>
                  </a:moveTo>
                  <a:lnTo>
                    <a:pt x="844550" y="0"/>
                  </a:lnTo>
                  <a:lnTo>
                    <a:pt x="844550" y="1394768"/>
                  </a:lnTo>
                  <a:lnTo>
                    <a:pt x="0" y="1394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914400" y="67528"/>
              <a:ext cx="2508251" cy="1394767"/>
            </a:xfrm>
            <a:custGeom>
              <a:avLst/>
              <a:gdLst/>
              <a:ahLst/>
              <a:cxnLst/>
              <a:rect r="r" b="b" t="t" l="l"/>
              <a:pathLst>
                <a:path h="1394767" w="2508251">
                  <a:moveTo>
                    <a:pt x="0" y="0"/>
                  </a:moveTo>
                  <a:lnTo>
                    <a:pt x="2508251" y="0"/>
                  </a:lnTo>
                  <a:lnTo>
                    <a:pt x="2508251" y="1394768"/>
                  </a:lnTo>
                  <a:lnTo>
                    <a:pt x="0" y="1394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3422651" y="67528"/>
              <a:ext cx="1219200" cy="1394767"/>
            </a:xfrm>
            <a:custGeom>
              <a:avLst/>
              <a:gdLst/>
              <a:ahLst/>
              <a:cxnLst/>
              <a:rect r="r" b="b" t="t" l="l"/>
              <a:pathLst>
                <a:path h="1394767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94768"/>
                  </a:lnTo>
                  <a:lnTo>
                    <a:pt x="0" y="1394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4641851" y="67528"/>
              <a:ext cx="1471296" cy="1394767"/>
            </a:xfrm>
            <a:custGeom>
              <a:avLst/>
              <a:gdLst/>
              <a:ahLst/>
              <a:cxnLst/>
              <a:rect r="r" b="b" t="t" l="l"/>
              <a:pathLst>
                <a:path h="1394767" w="1471296">
                  <a:moveTo>
                    <a:pt x="0" y="0"/>
                  </a:moveTo>
                  <a:lnTo>
                    <a:pt x="1471296" y="0"/>
                  </a:lnTo>
                  <a:lnTo>
                    <a:pt x="1471296" y="1394768"/>
                  </a:lnTo>
                  <a:lnTo>
                    <a:pt x="0" y="1394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6113147" y="67528"/>
              <a:ext cx="2338070" cy="1394767"/>
            </a:xfrm>
            <a:custGeom>
              <a:avLst/>
              <a:gdLst/>
              <a:ahLst/>
              <a:cxnLst/>
              <a:rect r="r" b="b" t="t" l="l"/>
              <a:pathLst>
                <a:path h="1394767" w="2338070">
                  <a:moveTo>
                    <a:pt x="0" y="0"/>
                  </a:moveTo>
                  <a:lnTo>
                    <a:pt x="2338070" y="0"/>
                  </a:lnTo>
                  <a:lnTo>
                    <a:pt x="2338070" y="1394768"/>
                  </a:lnTo>
                  <a:lnTo>
                    <a:pt x="0" y="1394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63500" y="61389"/>
              <a:ext cx="12700" cy="1419323"/>
            </a:xfrm>
            <a:custGeom>
              <a:avLst/>
              <a:gdLst/>
              <a:ahLst/>
              <a:cxnLst/>
              <a:rect r="r" b="b" t="t" l="l"/>
              <a:pathLst>
                <a:path h="1419323" w="12700">
                  <a:moveTo>
                    <a:pt x="12700" y="0"/>
                  </a:moveTo>
                  <a:lnTo>
                    <a:pt x="12700" y="1419324"/>
                  </a:lnTo>
                  <a:lnTo>
                    <a:pt x="0" y="141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908050" y="61389"/>
              <a:ext cx="12700" cy="1419323"/>
            </a:xfrm>
            <a:custGeom>
              <a:avLst/>
              <a:gdLst/>
              <a:ahLst/>
              <a:cxnLst/>
              <a:rect r="r" b="b" t="t" l="l"/>
              <a:pathLst>
                <a:path h="1419323" w="12700">
                  <a:moveTo>
                    <a:pt x="12700" y="0"/>
                  </a:moveTo>
                  <a:lnTo>
                    <a:pt x="12700" y="1419324"/>
                  </a:lnTo>
                  <a:lnTo>
                    <a:pt x="0" y="141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3416301" y="61389"/>
              <a:ext cx="12700" cy="1419323"/>
            </a:xfrm>
            <a:custGeom>
              <a:avLst/>
              <a:gdLst/>
              <a:ahLst/>
              <a:cxnLst/>
              <a:rect r="r" b="b" t="t" l="l"/>
              <a:pathLst>
                <a:path h="1419323" w="12700">
                  <a:moveTo>
                    <a:pt x="12700" y="0"/>
                  </a:moveTo>
                  <a:lnTo>
                    <a:pt x="12700" y="1419324"/>
                  </a:lnTo>
                  <a:lnTo>
                    <a:pt x="0" y="141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4635501" y="61389"/>
              <a:ext cx="12700" cy="1419323"/>
            </a:xfrm>
            <a:custGeom>
              <a:avLst/>
              <a:gdLst/>
              <a:ahLst/>
              <a:cxnLst/>
              <a:rect r="r" b="b" t="t" l="l"/>
              <a:pathLst>
                <a:path h="1419323" w="12700">
                  <a:moveTo>
                    <a:pt x="12701" y="0"/>
                  </a:moveTo>
                  <a:lnTo>
                    <a:pt x="12701" y="1419324"/>
                  </a:lnTo>
                  <a:lnTo>
                    <a:pt x="0" y="141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6106797" y="61389"/>
              <a:ext cx="12700" cy="1419323"/>
            </a:xfrm>
            <a:custGeom>
              <a:avLst/>
              <a:gdLst/>
              <a:ahLst/>
              <a:cxnLst/>
              <a:rect r="r" b="b" t="t" l="l"/>
              <a:pathLst>
                <a:path h="1419323" w="12700">
                  <a:moveTo>
                    <a:pt x="12700" y="0"/>
                  </a:moveTo>
                  <a:lnTo>
                    <a:pt x="12700" y="1419324"/>
                  </a:lnTo>
                  <a:lnTo>
                    <a:pt x="0" y="141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8444867" y="61389"/>
              <a:ext cx="12700" cy="1419323"/>
            </a:xfrm>
            <a:custGeom>
              <a:avLst/>
              <a:gdLst/>
              <a:ahLst/>
              <a:cxnLst/>
              <a:rect r="r" b="b" t="t" l="l"/>
              <a:pathLst>
                <a:path h="1419323" w="12700">
                  <a:moveTo>
                    <a:pt x="12700" y="0"/>
                  </a:moveTo>
                  <a:lnTo>
                    <a:pt x="12700" y="1419324"/>
                  </a:lnTo>
                  <a:lnTo>
                    <a:pt x="0" y="141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63500" y="61389"/>
              <a:ext cx="8394067" cy="12278"/>
            </a:xfrm>
            <a:custGeom>
              <a:avLst/>
              <a:gdLst/>
              <a:ahLst/>
              <a:cxnLst/>
              <a:rect r="r" b="b" t="t" l="l"/>
              <a:pathLst>
                <a:path h="12278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12278"/>
                  </a:lnTo>
                  <a:lnTo>
                    <a:pt x="0" y="12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63500" y="1443879"/>
              <a:ext cx="8394067" cy="36834"/>
            </a:xfrm>
            <a:custGeom>
              <a:avLst/>
              <a:gdLst/>
              <a:ahLst/>
              <a:cxnLst/>
              <a:rect r="r" b="b" t="t" l="l"/>
              <a:pathLst>
                <a:path h="36834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36834"/>
                  </a:lnTo>
                  <a:lnTo>
                    <a:pt x="0" y="3683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381000" y="4785496"/>
            <a:ext cx="8521075" cy="1595123"/>
            <a:chOff x="0" y="0"/>
            <a:chExt cx="8521078" cy="15951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69850" y="69850"/>
              <a:ext cx="8381367" cy="1442715"/>
            </a:xfrm>
            <a:custGeom>
              <a:avLst/>
              <a:gdLst/>
              <a:ahLst/>
              <a:cxnLst/>
              <a:rect r="r" b="b" t="t" l="l"/>
              <a:pathLst>
                <a:path h="1442715" w="8381367">
                  <a:moveTo>
                    <a:pt x="0" y="0"/>
                  </a:moveTo>
                  <a:lnTo>
                    <a:pt x="8381367" y="0"/>
                  </a:lnTo>
                  <a:lnTo>
                    <a:pt x="8381367" y="1442715"/>
                  </a:lnTo>
                  <a:lnTo>
                    <a:pt x="0" y="1442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69850" y="69850"/>
              <a:ext cx="844550" cy="1442715"/>
            </a:xfrm>
            <a:custGeom>
              <a:avLst/>
              <a:gdLst/>
              <a:ahLst/>
              <a:cxnLst/>
              <a:rect r="r" b="b" t="t" l="l"/>
              <a:pathLst>
                <a:path h="1442715" w="844550">
                  <a:moveTo>
                    <a:pt x="0" y="0"/>
                  </a:moveTo>
                  <a:lnTo>
                    <a:pt x="844550" y="0"/>
                  </a:lnTo>
                  <a:lnTo>
                    <a:pt x="844550" y="1442715"/>
                  </a:lnTo>
                  <a:lnTo>
                    <a:pt x="0" y="1442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914400" y="69850"/>
              <a:ext cx="2508251" cy="1442715"/>
            </a:xfrm>
            <a:custGeom>
              <a:avLst/>
              <a:gdLst/>
              <a:ahLst/>
              <a:cxnLst/>
              <a:rect r="r" b="b" t="t" l="l"/>
              <a:pathLst>
                <a:path h="1442715" w="2508251">
                  <a:moveTo>
                    <a:pt x="0" y="0"/>
                  </a:moveTo>
                  <a:lnTo>
                    <a:pt x="2508251" y="0"/>
                  </a:lnTo>
                  <a:lnTo>
                    <a:pt x="2508251" y="1442715"/>
                  </a:lnTo>
                  <a:lnTo>
                    <a:pt x="0" y="1442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3422651" y="69850"/>
              <a:ext cx="1219200" cy="1442715"/>
            </a:xfrm>
            <a:custGeom>
              <a:avLst/>
              <a:gdLst/>
              <a:ahLst/>
              <a:cxnLst/>
              <a:rect r="r" b="b" t="t" l="l"/>
              <a:pathLst>
                <a:path h="1442715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42715"/>
                  </a:lnTo>
                  <a:lnTo>
                    <a:pt x="0" y="1442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4641851" y="69850"/>
              <a:ext cx="1471296" cy="1442715"/>
            </a:xfrm>
            <a:custGeom>
              <a:avLst/>
              <a:gdLst/>
              <a:ahLst/>
              <a:cxnLst/>
              <a:rect r="r" b="b" t="t" l="l"/>
              <a:pathLst>
                <a:path h="1442715" w="1471296">
                  <a:moveTo>
                    <a:pt x="0" y="0"/>
                  </a:moveTo>
                  <a:lnTo>
                    <a:pt x="1471296" y="0"/>
                  </a:lnTo>
                  <a:lnTo>
                    <a:pt x="1471296" y="1442715"/>
                  </a:lnTo>
                  <a:lnTo>
                    <a:pt x="0" y="1442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6113147" y="69850"/>
              <a:ext cx="2338070" cy="1442715"/>
            </a:xfrm>
            <a:custGeom>
              <a:avLst/>
              <a:gdLst/>
              <a:ahLst/>
              <a:cxnLst/>
              <a:rect r="r" b="b" t="t" l="l"/>
              <a:pathLst>
                <a:path h="1442715" w="2338070">
                  <a:moveTo>
                    <a:pt x="0" y="0"/>
                  </a:moveTo>
                  <a:lnTo>
                    <a:pt x="2338070" y="0"/>
                  </a:lnTo>
                  <a:lnTo>
                    <a:pt x="2338070" y="1442715"/>
                  </a:lnTo>
                  <a:lnTo>
                    <a:pt x="0" y="1442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63500" y="63500"/>
              <a:ext cx="12700" cy="1468115"/>
            </a:xfrm>
            <a:custGeom>
              <a:avLst/>
              <a:gdLst/>
              <a:ahLst/>
              <a:cxnLst/>
              <a:rect r="r" b="b" t="t" l="l"/>
              <a:pathLst>
                <a:path h="1468115" w="12700">
                  <a:moveTo>
                    <a:pt x="12700" y="0"/>
                  </a:moveTo>
                  <a:lnTo>
                    <a:pt x="12700" y="1468115"/>
                  </a:lnTo>
                  <a:lnTo>
                    <a:pt x="0" y="146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908050" y="63500"/>
              <a:ext cx="12700" cy="1468115"/>
            </a:xfrm>
            <a:custGeom>
              <a:avLst/>
              <a:gdLst/>
              <a:ahLst/>
              <a:cxnLst/>
              <a:rect r="r" b="b" t="t" l="l"/>
              <a:pathLst>
                <a:path h="1468115" w="12700">
                  <a:moveTo>
                    <a:pt x="12700" y="0"/>
                  </a:moveTo>
                  <a:lnTo>
                    <a:pt x="12700" y="1468115"/>
                  </a:lnTo>
                  <a:lnTo>
                    <a:pt x="0" y="146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3416301" y="63500"/>
              <a:ext cx="12700" cy="1468115"/>
            </a:xfrm>
            <a:custGeom>
              <a:avLst/>
              <a:gdLst/>
              <a:ahLst/>
              <a:cxnLst/>
              <a:rect r="r" b="b" t="t" l="l"/>
              <a:pathLst>
                <a:path h="1468115" w="12700">
                  <a:moveTo>
                    <a:pt x="12700" y="0"/>
                  </a:moveTo>
                  <a:lnTo>
                    <a:pt x="12700" y="1468115"/>
                  </a:lnTo>
                  <a:lnTo>
                    <a:pt x="0" y="146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4635501" y="63500"/>
              <a:ext cx="12700" cy="1468115"/>
            </a:xfrm>
            <a:custGeom>
              <a:avLst/>
              <a:gdLst/>
              <a:ahLst/>
              <a:cxnLst/>
              <a:rect r="r" b="b" t="t" l="l"/>
              <a:pathLst>
                <a:path h="1468115" w="12700">
                  <a:moveTo>
                    <a:pt x="12701" y="0"/>
                  </a:moveTo>
                  <a:lnTo>
                    <a:pt x="12701" y="1468115"/>
                  </a:lnTo>
                  <a:lnTo>
                    <a:pt x="0" y="146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6106797" y="63500"/>
              <a:ext cx="12700" cy="1468115"/>
            </a:xfrm>
            <a:custGeom>
              <a:avLst/>
              <a:gdLst/>
              <a:ahLst/>
              <a:cxnLst/>
              <a:rect r="r" b="b" t="t" l="l"/>
              <a:pathLst>
                <a:path h="1468115" w="12700">
                  <a:moveTo>
                    <a:pt x="12700" y="0"/>
                  </a:moveTo>
                  <a:lnTo>
                    <a:pt x="12700" y="1468115"/>
                  </a:lnTo>
                  <a:lnTo>
                    <a:pt x="0" y="146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8444867" y="63500"/>
              <a:ext cx="12700" cy="1468115"/>
            </a:xfrm>
            <a:custGeom>
              <a:avLst/>
              <a:gdLst/>
              <a:ahLst/>
              <a:cxnLst/>
              <a:rect r="r" b="b" t="t" l="l"/>
              <a:pathLst>
                <a:path h="1468115" w="12700">
                  <a:moveTo>
                    <a:pt x="12700" y="0"/>
                  </a:moveTo>
                  <a:lnTo>
                    <a:pt x="12700" y="1468115"/>
                  </a:lnTo>
                  <a:lnTo>
                    <a:pt x="0" y="146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63500" y="63500"/>
              <a:ext cx="8394067" cy="12700"/>
            </a:xfrm>
            <a:custGeom>
              <a:avLst/>
              <a:gdLst/>
              <a:ahLst/>
              <a:cxnLst/>
              <a:rect r="r" b="b" t="t" l="l"/>
              <a:pathLst>
                <a:path h="12700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63500" y="1493515"/>
              <a:ext cx="8394067" cy="38100"/>
            </a:xfrm>
            <a:custGeom>
              <a:avLst/>
              <a:gdLst/>
              <a:ahLst/>
              <a:cxnLst/>
              <a:rect r="r" b="b" t="t" l="l"/>
              <a:pathLst>
                <a:path h="38100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1493713" y="2373630"/>
            <a:ext cx="1757908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GENSIAC: T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oward Security-Aware Infrastructure-as-Code Generation with Large Language Models 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</a:p>
        </p:txBody>
      </p:sp>
      <p:sp>
        <p:nvSpPr>
          <p:cNvPr name="TextBox 77" id="77"/>
          <p:cNvSpPr txBox="true"/>
          <p:nvPr/>
        </p:nvSpPr>
        <p:spPr>
          <a:xfrm rot="0">
            <a:off x="3750343" y="2198751"/>
            <a:ext cx="1255324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Yikun Li, Matteo Grella, Daniel Nahmias, Gal Engelberg, Dan Klein, Giancarlo Guizzardi.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108572" y="2213991"/>
            <a:ext cx="1358182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2025 (a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rXiv preprint; rights licensed to ACM)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544341" y="2198751"/>
            <a:ext cx="2298302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Base M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odel Weakness: Current base Large Language Models (LLMs) often lack security awareness when generating Infrastructure-as-Code (IaC), with code-specific models showing particularly poor 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3889372" y="3698406"/>
            <a:ext cx="1034363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Rana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Nameer Hussain Khan, Dawood Wasif, Jin-Hee Cho, and Ali Butt xt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93713" y="3841016"/>
            <a:ext cx="2326777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Multi-Agent Code-Orchestrated Generation for Reliable Infrastructure-as-Code 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</a:p>
        </p:txBody>
      </p:sp>
      <p:sp>
        <p:nvSpPr>
          <p:cNvPr name="TextBox 82" id="82"/>
          <p:cNvSpPr txBox="true"/>
          <p:nvPr/>
        </p:nvSpPr>
        <p:spPr>
          <a:xfrm rot="0">
            <a:off x="5089522" y="3707931"/>
            <a:ext cx="1411055" cy="62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Y2025 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(arXiv preprint)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ctr">
              <a:lnSpc>
                <a:spcPts val="1626"/>
              </a:lnSpc>
              <a:spcBef>
                <a:spcPct val="0"/>
              </a:spcBef>
            </a:pPr>
          </a:p>
        </p:txBody>
      </p:sp>
      <p:sp>
        <p:nvSpPr>
          <p:cNvPr name="TextBox 83" id="83"/>
          <p:cNvSpPr txBox="true"/>
          <p:nvPr/>
        </p:nvSpPr>
        <p:spPr>
          <a:xfrm rot="0">
            <a:off x="6579870" y="3627656"/>
            <a:ext cx="195022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</a:p>
        </p:txBody>
      </p:sp>
      <p:sp>
        <p:nvSpPr>
          <p:cNvPr name="TextBox 84" id="84"/>
          <p:cNvSpPr txBox="true"/>
          <p:nvPr/>
        </p:nvSpPr>
        <p:spPr>
          <a:xfrm rot="0">
            <a:off x="607428" y="2722106"/>
            <a:ext cx="458419" cy="210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  <a:spcBef>
                <a:spcPct val="0"/>
              </a:spcBef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6579870" y="3690736"/>
            <a:ext cx="2122865" cy="101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9"/>
              </a:lnSpc>
              <a:spcBef>
                <a:spcPct val="0"/>
              </a:spcBef>
            </a:pPr>
            <a:r>
              <a:rPr lang="en-US" sz="115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Multi-Agent Approach: The paper introduces MACOG, an architecture that replaces monolithic, single-pass generation with specialized agents.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77860" y="3982629"/>
            <a:ext cx="71755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840109" y="6565999"/>
            <a:ext cx="568380" cy="294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  <a:spcBef>
                <a:spcPct val="0"/>
              </a:spcBef>
            </a:pPr>
          </a:p>
        </p:txBody>
      </p:sp>
      <p:sp>
        <p:nvSpPr>
          <p:cNvPr name="TextBox 88" id="88"/>
          <p:cNvSpPr txBox="true"/>
          <p:nvPr/>
        </p:nvSpPr>
        <p:spPr>
          <a:xfrm rot="0">
            <a:off x="1493713" y="5126421"/>
            <a:ext cx="2078139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PromptOps: Leveraging LLMs for Dynamic Infrastructure as Code Generation and Maintenance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015665" y="5183571"/>
            <a:ext cx="90807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Selva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Kumar Ranganathan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108572" y="4947560"/>
            <a:ext cx="1358182" cy="117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  <a:spcBef>
                <a:spcPct val="0"/>
              </a:spcBef>
            </a:pPr>
            <a:r>
              <a:rPr lang="en-US" sz="11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2025; published in the International J</a:t>
            </a:r>
            <a:r>
              <a:rPr lang="en-US" sz="11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ournal of Multidisciplinary Research in Science, Engineering and Technology (IJMRSET).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6579870" y="4988435"/>
            <a:ext cx="2122865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Pr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omptOps framework achieved over 96% syntactic accuracy and 91.8% semantic correctnesst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20141" y="5377881"/>
            <a:ext cx="632992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3611314" y="6516948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28" y="3338579"/>
            <a:ext cx="2713987" cy="452123"/>
          </a:xfrm>
          <a:custGeom>
            <a:avLst/>
            <a:gdLst/>
            <a:ahLst/>
            <a:cxnLst/>
            <a:rect r="r" b="b" t="t" l="l"/>
            <a:pathLst>
              <a:path h="452123" w="2713987">
                <a:moveTo>
                  <a:pt x="0" y="0"/>
                </a:moveTo>
                <a:lnTo>
                  <a:pt x="2713987" y="0"/>
                </a:lnTo>
                <a:lnTo>
                  <a:pt x="2713987" y="452123"/>
                </a:lnTo>
                <a:lnTo>
                  <a:pt x="0" y="452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06267" y="249431"/>
            <a:ext cx="2131466" cy="391163"/>
          </a:xfrm>
          <a:custGeom>
            <a:avLst/>
            <a:gdLst/>
            <a:ahLst/>
            <a:cxnLst/>
            <a:rect r="r" b="b" t="t" l="l"/>
            <a:pathLst>
              <a:path h="391163" w="2131466">
                <a:moveTo>
                  <a:pt x="0" y="0"/>
                </a:moveTo>
                <a:lnTo>
                  <a:pt x="2131466" y="0"/>
                </a:lnTo>
                <a:lnTo>
                  <a:pt x="2131466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28723" y="646678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81000" y="1054103"/>
            <a:ext cx="8517477" cy="1212514"/>
            <a:chOff x="0" y="0"/>
            <a:chExt cx="8521078" cy="1213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9850" y="53118"/>
              <a:ext cx="8381367" cy="1097126"/>
            </a:xfrm>
            <a:custGeom>
              <a:avLst/>
              <a:gdLst/>
              <a:ahLst/>
              <a:cxnLst/>
              <a:rect r="r" b="b" t="t" l="l"/>
              <a:pathLst>
                <a:path h="1097126" w="8381367">
                  <a:moveTo>
                    <a:pt x="0" y="0"/>
                  </a:moveTo>
                  <a:lnTo>
                    <a:pt x="8381367" y="0"/>
                  </a:lnTo>
                  <a:lnTo>
                    <a:pt x="8381367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9850" y="53118"/>
              <a:ext cx="844550" cy="1097126"/>
            </a:xfrm>
            <a:custGeom>
              <a:avLst/>
              <a:gdLst/>
              <a:ahLst/>
              <a:cxnLst/>
              <a:rect r="r" b="b" t="t" l="l"/>
              <a:pathLst>
                <a:path h="1097126" w="844550">
                  <a:moveTo>
                    <a:pt x="0" y="0"/>
                  </a:moveTo>
                  <a:lnTo>
                    <a:pt x="844550" y="0"/>
                  </a:lnTo>
                  <a:lnTo>
                    <a:pt x="84455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14400" y="53118"/>
              <a:ext cx="2508251" cy="1097126"/>
            </a:xfrm>
            <a:custGeom>
              <a:avLst/>
              <a:gdLst/>
              <a:ahLst/>
              <a:cxnLst/>
              <a:rect r="r" b="b" t="t" l="l"/>
              <a:pathLst>
                <a:path h="1097126" w="2508251">
                  <a:moveTo>
                    <a:pt x="0" y="0"/>
                  </a:moveTo>
                  <a:lnTo>
                    <a:pt x="2508251" y="0"/>
                  </a:lnTo>
                  <a:lnTo>
                    <a:pt x="2508251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422651" y="53118"/>
              <a:ext cx="1219200" cy="1097126"/>
            </a:xfrm>
            <a:custGeom>
              <a:avLst/>
              <a:gdLst/>
              <a:ahLst/>
              <a:cxnLst/>
              <a:rect r="r" b="b" t="t" l="l"/>
              <a:pathLst>
                <a:path h="1097126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641851" y="53118"/>
              <a:ext cx="1471296" cy="1097126"/>
            </a:xfrm>
            <a:custGeom>
              <a:avLst/>
              <a:gdLst/>
              <a:ahLst/>
              <a:cxnLst/>
              <a:rect r="r" b="b" t="t" l="l"/>
              <a:pathLst>
                <a:path h="1097126" w="1471296">
                  <a:moveTo>
                    <a:pt x="0" y="0"/>
                  </a:moveTo>
                  <a:lnTo>
                    <a:pt x="1471296" y="0"/>
                  </a:lnTo>
                  <a:lnTo>
                    <a:pt x="1471296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113147" y="53118"/>
              <a:ext cx="2338070" cy="1097126"/>
            </a:xfrm>
            <a:custGeom>
              <a:avLst/>
              <a:gdLst/>
              <a:ahLst/>
              <a:cxnLst/>
              <a:rect r="r" b="b" t="t" l="l"/>
              <a:pathLst>
                <a:path h="1097126" w="2338070">
                  <a:moveTo>
                    <a:pt x="0" y="0"/>
                  </a:moveTo>
                  <a:lnTo>
                    <a:pt x="2338070" y="0"/>
                  </a:lnTo>
                  <a:lnTo>
                    <a:pt x="233807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08050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416301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635501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1" y="0"/>
                  </a:moveTo>
                  <a:lnTo>
                    <a:pt x="12701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106797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444867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48289"/>
              <a:ext cx="8394067" cy="9658"/>
            </a:xfrm>
            <a:custGeom>
              <a:avLst/>
              <a:gdLst/>
              <a:ahLst/>
              <a:cxnLst/>
              <a:rect r="r" b="b" t="t" l="l"/>
              <a:pathLst>
                <a:path h="9658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9658"/>
                  </a:lnTo>
                  <a:lnTo>
                    <a:pt x="0" y="96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1135757"/>
              <a:ext cx="8394067" cy="28973"/>
            </a:xfrm>
            <a:custGeom>
              <a:avLst/>
              <a:gdLst/>
              <a:ahLst/>
              <a:cxnLst/>
              <a:rect r="r" b="b" t="t" l="l"/>
              <a:pathLst>
                <a:path h="28973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28973"/>
                  </a:lnTo>
                  <a:lnTo>
                    <a:pt x="0" y="289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446589" y="6545523"/>
            <a:ext cx="154517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81000" y="2149811"/>
            <a:ext cx="8517477" cy="1212514"/>
            <a:chOff x="0" y="0"/>
            <a:chExt cx="8521078" cy="12130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9850" y="53118"/>
              <a:ext cx="8381367" cy="1097126"/>
            </a:xfrm>
            <a:custGeom>
              <a:avLst/>
              <a:gdLst/>
              <a:ahLst/>
              <a:cxnLst/>
              <a:rect r="r" b="b" t="t" l="l"/>
              <a:pathLst>
                <a:path h="1097126" w="8381367">
                  <a:moveTo>
                    <a:pt x="0" y="0"/>
                  </a:moveTo>
                  <a:lnTo>
                    <a:pt x="8381367" y="0"/>
                  </a:lnTo>
                  <a:lnTo>
                    <a:pt x="8381367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9850" y="53118"/>
              <a:ext cx="844550" cy="1097126"/>
            </a:xfrm>
            <a:custGeom>
              <a:avLst/>
              <a:gdLst/>
              <a:ahLst/>
              <a:cxnLst/>
              <a:rect r="r" b="b" t="t" l="l"/>
              <a:pathLst>
                <a:path h="1097126" w="844550">
                  <a:moveTo>
                    <a:pt x="0" y="0"/>
                  </a:moveTo>
                  <a:lnTo>
                    <a:pt x="844550" y="0"/>
                  </a:lnTo>
                  <a:lnTo>
                    <a:pt x="84455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914400" y="53118"/>
              <a:ext cx="2508251" cy="1097126"/>
            </a:xfrm>
            <a:custGeom>
              <a:avLst/>
              <a:gdLst/>
              <a:ahLst/>
              <a:cxnLst/>
              <a:rect r="r" b="b" t="t" l="l"/>
              <a:pathLst>
                <a:path h="1097126" w="2508251">
                  <a:moveTo>
                    <a:pt x="0" y="0"/>
                  </a:moveTo>
                  <a:lnTo>
                    <a:pt x="2508251" y="0"/>
                  </a:lnTo>
                  <a:lnTo>
                    <a:pt x="2508251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3422651" y="53118"/>
              <a:ext cx="1219200" cy="1097126"/>
            </a:xfrm>
            <a:custGeom>
              <a:avLst/>
              <a:gdLst/>
              <a:ahLst/>
              <a:cxnLst/>
              <a:rect r="r" b="b" t="t" l="l"/>
              <a:pathLst>
                <a:path h="1097126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4641851" y="53118"/>
              <a:ext cx="1471296" cy="1097126"/>
            </a:xfrm>
            <a:custGeom>
              <a:avLst/>
              <a:gdLst/>
              <a:ahLst/>
              <a:cxnLst/>
              <a:rect r="r" b="b" t="t" l="l"/>
              <a:pathLst>
                <a:path h="1097126" w="1471296">
                  <a:moveTo>
                    <a:pt x="0" y="0"/>
                  </a:moveTo>
                  <a:lnTo>
                    <a:pt x="1471296" y="0"/>
                  </a:lnTo>
                  <a:lnTo>
                    <a:pt x="1471296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113147" y="53118"/>
              <a:ext cx="2338070" cy="1097126"/>
            </a:xfrm>
            <a:custGeom>
              <a:avLst/>
              <a:gdLst/>
              <a:ahLst/>
              <a:cxnLst/>
              <a:rect r="r" b="b" t="t" l="l"/>
              <a:pathLst>
                <a:path h="1097126" w="2338070">
                  <a:moveTo>
                    <a:pt x="0" y="0"/>
                  </a:moveTo>
                  <a:lnTo>
                    <a:pt x="2338070" y="0"/>
                  </a:lnTo>
                  <a:lnTo>
                    <a:pt x="233807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63500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908050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3416301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4635501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1" y="0"/>
                  </a:moveTo>
                  <a:lnTo>
                    <a:pt x="12701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106797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8444867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3500" y="48289"/>
              <a:ext cx="8394067" cy="9658"/>
            </a:xfrm>
            <a:custGeom>
              <a:avLst/>
              <a:gdLst/>
              <a:ahLst/>
              <a:cxnLst/>
              <a:rect r="r" b="b" t="t" l="l"/>
              <a:pathLst>
                <a:path h="9658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9658"/>
                  </a:lnTo>
                  <a:lnTo>
                    <a:pt x="0" y="96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63500" y="1135757"/>
              <a:ext cx="8394067" cy="28973"/>
            </a:xfrm>
            <a:custGeom>
              <a:avLst/>
              <a:gdLst/>
              <a:ahLst/>
              <a:cxnLst/>
              <a:rect r="r" b="b" t="t" l="l"/>
              <a:pathLst>
                <a:path h="28973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28973"/>
                  </a:lnTo>
                  <a:lnTo>
                    <a:pt x="0" y="289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81000" y="3217078"/>
            <a:ext cx="8517477" cy="1212514"/>
            <a:chOff x="0" y="0"/>
            <a:chExt cx="8521078" cy="121302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9850" y="53118"/>
              <a:ext cx="8381367" cy="1097126"/>
            </a:xfrm>
            <a:custGeom>
              <a:avLst/>
              <a:gdLst/>
              <a:ahLst/>
              <a:cxnLst/>
              <a:rect r="r" b="b" t="t" l="l"/>
              <a:pathLst>
                <a:path h="1097126" w="8381367">
                  <a:moveTo>
                    <a:pt x="0" y="0"/>
                  </a:moveTo>
                  <a:lnTo>
                    <a:pt x="8381367" y="0"/>
                  </a:lnTo>
                  <a:lnTo>
                    <a:pt x="8381367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69850" y="53118"/>
              <a:ext cx="844550" cy="1097126"/>
            </a:xfrm>
            <a:custGeom>
              <a:avLst/>
              <a:gdLst/>
              <a:ahLst/>
              <a:cxnLst/>
              <a:rect r="r" b="b" t="t" l="l"/>
              <a:pathLst>
                <a:path h="1097126" w="844550">
                  <a:moveTo>
                    <a:pt x="0" y="0"/>
                  </a:moveTo>
                  <a:lnTo>
                    <a:pt x="844550" y="0"/>
                  </a:lnTo>
                  <a:lnTo>
                    <a:pt x="84455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914400" y="53118"/>
              <a:ext cx="2508251" cy="1097126"/>
            </a:xfrm>
            <a:custGeom>
              <a:avLst/>
              <a:gdLst/>
              <a:ahLst/>
              <a:cxnLst/>
              <a:rect r="r" b="b" t="t" l="l"/>
              <a:pathLst>
                <a:path h="1097126" w="2508251">
                  <a:moveTo>
                    <a:pt x="0" y="0"/>
                  </a:moveTo>
                  <a:lnTo>
                    <a:pt x="2508251" y="0"/>
                  </a:lnTo>
                  <a:lnTo>
                    <a:pt x="2508251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3422651" y="53118"/>
              <a:ext cx="1219200" cy="1097126"/>
            </a:xfrm>
            <a:custGeom>
              <a:avLst/>
              <a:gdLst/>
              <a:ahLst/>
              <a:cxnLst/>
              <a:rect r="r" b="b" t="t" l="l"/>
              <a:pathLst>
                <a:path h="1097126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4641851" y="53118"/>
              <a:ext cx="1471296" cy="1097126"/>
            </a:xfrm>
            <a:custGeom>
              <a:avLst/>
              <a:gdLst/>
              <a:ahLst/>
              <a:cxnLst/>
              <a:rect r="r" b="b" t="t" l="l"/>
              <a:pathLst>
                <a:path h="1097126" w="1471296">
                  <a:moveTo>
                    <a:pt x="0" y="0"/>
                  </a:moveTo>
                  <a:lnTo>
                    <a:pt x="1471296" y="0"/>
                  </a:lnTo>
                  <a:lnTo>
                    <a:pt x="1471296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6113147" y="53118"/>
              <a:ext cx="2338070" cy="1097126"/>
            </a:xfrm>
            <a:custGeom>
              <a:avLst/>
              <a:gdLst/>
              <a:ahLst/>
              <a:cxnLst/>
              <a:rect r="r" b="b" t="t" l="l"/>
              <a:pathLst>
                <a:path h="1097126" w="2338070">
                  <a:moveTo>
                    <a:pt x="0" y="0"/>
                  </a:moveTo>
                  <a:lnTo>
                    <a:pt x="2338070" y="0"/>
                  </a:lnTo>
                  <a:lnTo>
                    <a:pt x="233807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63500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908050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3416301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4635501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1" y="0"/>
                  </a:moveTo>
                  <a:lnTo>
                    <a:pt x="12701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6106797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8444867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63500" y="48289"/>
              <a:ext cx="8394067" cy="9658"/>
            </a:xfrm>
            <a:custGeom>
              <a:avLst/>
              <a:gdLst/>
              <a:ahLst/>
              <a:cxnLst/>
              <a:rect r="r" b="b" t="t" l="l"/>
              <a:pathLst>
                <a:path h="9658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9658"/>
                  </a:lnTo>
                  <a:lnTo>
                    <a:pt x="0" y="96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63500" y="1135757"/>
              <a:ext cx="8394067" cy="28973"/>
            </a:xfrm>
            <a:custGeom>
              <a:avLst/>
              <a:gdLst/>
              <a:ahLst/>
              <a:cxnLst/>
              <a:rect r="r" b="b" t="t" l="l"/>
              <a:pathLst>
                <a:path h="28973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28973"/>
                  </a:lnTo>
                  <a:lnTo>
                    <a:pt x="0" y="289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381000" y="4281930"/>
            <a:ext cx="8517477" cy="1212514"/>
            <a:chOff x="0" y="0"/>
            <a:chExt cx="8521078" cy="121302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69850" y="53118"/>
              <a:ext cx="8381367" cy="1097126"/>
            </a:xfrm>
            <a:custGeom>
              <a:avLst/>
              <a:gdLst/>
              <a:ahLst/>
              <a:cxnLst/>
              <a:rect r="r" b="b" t="t" l="l"/>
              <a:pathLst>
                <a:path h="1097126" w="8381367">
                  <a:moveTo>
                    <a:pt x="0" y="0"/>
                  </a:moveTo>
                  <a:lnTo>
                    <a:pt x="8381367" y="0"/>
                  </a:lnTo>
                  <a:lnTo>
                    <a:pt x="8381367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69850" y="53118"/>
              <a:ext cx="844550" cy="1097126"/>
            </a:xfrm>
            <a:custGeom>
              <a:avLst/>
              <a:gdLst/>
              <a:ahLst/>
              <a:cxnLst/>
              <a:rect r="r" b="b" t="t" l="l"/>
              <a:pathLst>
                <a:path h="1097126" w="844550">
                  <a:moveTo>
                    <a:pt x="0" y="0"/>
                  </a:moveTo>
                  <a:lnTo>
                    <a:pt x="844550" y="0"/>
                  </a:lnTo>
                  <a:lnTo>
                    <a:pt x="84455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914400" y="53118"/>
              <a:ext cx="2508251" cy="1097126"/>
            </a:xfrm>
            <a:custGeom>
              <a:avLst/>
              <a:gdLst/>
              <a:ahLst/>
              <a:cxnLst/>
              <a:rect r="r" b="b" t="t" l="l"/>
              <a:pathLst>
                <a:path h="1097126" w="2508251">
                  <a:moveTo>
                    <a:pt x="0" y="0"/>
                  </a:moveTo>
                  <a:lnTo>
                    <a:pt x="2508251" y="0"/>
                  </a:lnTo>
                  <a:lnTo>
                    <a:pt x="2508251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3422651" y="53118"/>
              <a:ext cx="1219200" cy="1097126"/>
            </a:xfrm>
            <a:custGeom>
              <a:avLst/>
              <a:gdLst/>
              <a:ahLst/>
              <a:cxnLst/>
              <a:rect r="r" b="b" t="t" l="l"/>
              <a:pathLst>
                <a:path h="1097126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4641851" y="53118"/>
              <a:ext cx="1471296" cy="1097126"/>
            </a:xfrm>
            <a:custGeom>
              <a:avLst/>
              <a:gdLst/>
              <a:ahLst/>
              <a:cxnLst/>
              <a:rect r="r" b="b" t="t" l="l"/>
              <a:pathLst>
                <a:path h="1097126" w="1471296">
                  <a:moveTo>
                    <a:pt x="0" y="0"/>
                  </a:moveTo>
                  <a:lnTo>
                    <a:pt x="1471296" y="0"/>
                  </a:lnTo>
                  <a:lnTo>
                    <a:pt x="1471296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6113147" y="53118"/>
              <a:ext cx="2338070" cy="1097126"/>
            </a:xfrm>
            <a:custGeom>
              <a:avLst/>
              <a:gdLst/>
              <a:ahLst/>
              <a:cxnLst/>
              <a:rect r="r" b="b" t="t" l="l"/>
              <a:pathLst>
                <a:path h="1097126" w="2338070">
                  <a:moveTo>
                    <a:pt x="0" y="0"/>
                  </a:moveTo>
                  <a:lnTo>
                    <a:pt x="2338070" y="0"/>
                  </a:lnTo>
                  <a:lnTo>
                    <a:pt x="233807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63500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908050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3416301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4635501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1" y="0"/>
                  </a:moveTo>
                  <a:lnTo>
                    <a:pt x="12701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6106797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8444867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63500" y="48289"/>
              <a:ext cx="8394067" cy="9658"/>
            </a:xfrm>
            <a:custGeom>
              <a:avLst/>
              <a:gdLst/>
              <a:ahLst/>
              <a:cxnLst/>
              <a:rect r="r" b="b" t="t" l="l"/>
              <a:pathLst>
                <a:path h="9658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9658"/>
                  </a:lnTo>
                  <a:lnTo>
                    <a:pt x="0" y="96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63500" y="1135757"/>
              <a:ext cx="8394067" cy="28973"/>
            </a:xfrm>
            <a:custGeom>
              <a:avLst/>
              <a:gdLst/>
              <a:ahLst/>
              <a:cxnLst/>
              <a:rect r="r" b="b" t="t" l="l"/>
              <a:pathLst>
                <a:path h="28973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28973"/>
                  </a:lnTo>
                  <a:lnTo>
                    <a:pt x="0" y="289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381000" y="5380053"/>
            <a:ext cx="8517477" cy="1212514"/>
            <a:chOff x="0" y="0"/>
            <a:chExt cx="8521078" cy="121302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69850" y="53118"/>
              <a:ext cx="8381367" cy="1097126"/>
            </a:xfrm>
            <a:custGeom>
              <a:avLst/>
              <a:gdLst/>
              <a:ahLst/>
              <a:cxnLst/>
              <a:rect r="r" b="b" t="t" l="l"/>
              <a:pathLst>
                <a:path h="1097126" w="8381367">
                  <a:moveTo>
                    <a:pt x="0" y="0"/>
                  </a:moveTo>
                  <a:lnTo>
                    <a:pt x="8381367" y="0"/>
                  </a:lnTo>
                  <a:lnTo>
                    <a:pt x="8381367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69850" y="53118"/>
              <a:ext cx="844550" cy="1097126"/>
            </a:xfrm>
            <a:custGeom>
              <a:avLst/>
              <a:gdLst/>
              <a:ahLst/>
              <a:cxnLst/>
              <a:rect r="r" b="b" t="t" l="l"/>
              <a:pathLst>
                <a:path h="1097126" w="844550">
                  <a:moveTo>
                    <a:pt x="0" y="0"/>
                  </a:moveTo>
                  <a:lnTo>
                    <a:pt x="844550" y="0"/>
                  </a:lnTo>
                  <a:lnTo>
                    <a:pt x="84455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914400" y="53118"/>
              <a:ext cx="2508251" cy="1097126"/>
            </a:xfrm>
            <a:custGeom>
              <a:avLst/>
              <a:gdLst/>
              <a:ahLst/>
              <a:cxnLst/>
              <a:rect r="r" b="b" t="t" l="l"/>
              <a:pathLst>
                <a:path h="1097126" w="2508251">
                  <a:moveTo>
                    <a:pt x="0" y="0"/>
                  </a:moveTo>
                  <a:lnTo>
                    <a:pt x="2508251" y="0"/>
                  </a:lnTo>
                  <a:lnTo>
                    <a:pt x="2508251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3422651" y="53118"/>
              <a:ext cx="1219200" cy="1097126"/>
            </a:xfrm>
            <a:custGeom>
              <a:avLst/>
              <a:gdLst/>
              <a:ahLst/>
              <a:cxnLst/>
              <a:rect r="r" b="b" t="t" l="l"/>
              <a:pathLst>
                <a:path h="1097126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4641851" y="53118"/>
              <a:ext cx="1471296" cy="1097126"/>
            </a:xfrm>
            <a:custGeom>
              <a:avLst/>
              <a:gdLst/>
              <a:ahLst/>
              <a:cxnLst/>
              <a:rect r="r" b="b" t="t" l="l"/>
              <a:pathLst>
                <a:path h="1097126" w="1471296">
                  <a:moveTo>
                    <a:pt x="0" y="0"/>
                  </a:moveTo>
                  <a:lnTo>
                    <a:pt x="1471296" y="0"/>
                  </a:lnTo>
                  <a:lnTo>
                    <a:pt x="1471296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6113147" y="53118"/>
              <a:ext cx="2338070" cy="1097126"/>
            </a:xfrm>
            <a:custGeom>
              <a:avLst/>
              <a:gdLst/>
              <a:ahLst/>
              <a:cxnLst/>
              <a:rect r="r" b="b" t="t" l="l"/>
              <a:pathLst>
                <a:path h="1097126" w="2338070">
                  <a:moveTo>
                    <a:pt x="0" y="0"/>
                  </a:moveTo>
                  <a:lnTo>
                    <a:pt x="2338070" y="0"/>
                  </a:lnTo>
                  <a:lnTo>
                    <a:pt x="2338070" y="1097126"/>
                  </a:lnTo>
                  <a:lnTo>
                    <a:pt x="0" y="1097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63500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908050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3416301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4635501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1" y="0"/>
                  </a:moveTo>
                  <a:lnTo>
                    <a:pt x="12701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6106797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8444867" y="48289"/>
              <a:ext cx="12700" cy="1116441"/>
            </a:xfrm>
            <a:custGeom>
              <a:avLst/>
              <a:gdLst/>
              <a:ahLst/>
              <a:cxnLst/>
              <a:rect r="r" b="b" t="t" l="l"/>
              <a:pathLst>
                <a:path h="1116441" w="12700">
                  <a:moveTo>
                    <a:pt x="12700" y="0"/>
                  </a:moveTo>
                  <a:lnTo>
                    <a:pt x="12700" y="1116441"/>
                  </a:lnTo>
                  <a:lnTo>
                    <a:pt x="0" y="111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63500" y="48289"/>
              <a:ext cx="8394067" cy="9658"/>
            </a:xfrm>
            <a:custGeom>
              <a:avLst/>
              <a:gdLst/>
              <a:ahLst/>
              <a:cxnLst/>
              <a:rect r="r" b="b" t="t" l="l"/>
              <a:pathLst>
                <a:path h="9658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9658"/>
                  </a:lnTo>
                  <a:lnTo>
                    <a:pt x="0" y="96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63500" y="1135757"/>
              <a:ext cx="8394067" cy="28973"/>
            </a:xfrm>
            <a:custGeom>
              <a:avLst/>
              <a:gdLst/>
              <a:ahLst/>
              <a:cxnLst/>
              <a:rect r="r" b="b" t="t" l="l"/>
              <a:pathLst>
                <a:path h="28973" w="8394067">
                  <a:moveTo>
                    <a:pt x="0" y="0"/>
                  </a:moveTo>
                  <a:lnTo>
                    <a:pt x="8394067" y="0"/>
                  </a:lnTo>
                  <a:lnTo>
                    <a:pt x="8394067" y="28973"/>
                  </a:lnTo>
                  <a:lnTo>
                    <a:pt x="0" y="289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3710740" y="231753"/>
            <a:ext cx="1753762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Patent Search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536572" y="1161793"/>
            <a:ext cx="343233" cy="56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Sr. No.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81125" y="1123693"/>
            <a:ext cx="1792157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of the Patent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057012" y="1123693"/>
            <a:ext cx="725167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Author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579241" y="1161793"/>
            <a:ext cx="2123494" cy="56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Major observations/findings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108572" y="1158088"/>
            <a:ext cx="1241412" cy="8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 of Publication/ Publisher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633341" y="3576704"/>
            <a:ext cx="1872925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Method f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or Managing Multi-Cloud </a:t>
            </a:r>
          </a:p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Environments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536572" y="2371258"/>
            <a:ext cx="678212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40699" y="3452879"/>
            <a:ext cx="678212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40699" y="4567637"/>
            <a:ext cx="678212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40699" y="5682395"/>
            <a:ext cx="678212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485439" y="2371392"/>
            <a:ext cx="202082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and Meth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od for Automated Cloud Resource Provisioning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344262" y="4591383"/>
            <a:ext cx="2547491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Intelligent Cl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oud Cost Optimization System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633341" y="5682395"/>
            <a:ext cx="176534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AI-Based Cl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oud Deployment </a:t>
            </a:r>
          </a:p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Recommendation System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3974382" y="5651744"/>
            <a:ext cx="890426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IBM C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orporation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3974382" y="2371258"/>
            <a:ext cx="890426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Amaz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on Technologies Inc.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3891753" y="3405464"/>
            <a:ext cx="890426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Micr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osoft Corporation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974382" y="4567637"/>
            <a:ext cx="890426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oogle LLC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3611314" y="6516948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284065" y="2371258"/>
            <a:ext cx="890426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2016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/ USPTO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6677110" y="2266617"/>
            <a:ext cx="2010156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Introduces automated provisi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oning of cloud resources, reducing manual configuration errors and deployment time.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6635910" y="3381375"/>
            <a:ext cx="2139535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centralized ma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nagement of multiple cloud platforms, improving interoperability and operational efficiency.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5414648" y="3453517"/>
            <a:ext cx="890426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2018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/ USPTO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5283908" y="5596804"/>
            <a:ext cx="890426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2020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/ USPTO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5284065" y="4534367"/>
            <a:ext cx="890426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2019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/ USPTO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6653158" y="5511079"/>
            <a:ext cx="2034107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Applies AI to recommend suitable cl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oud services and configurations, simplifying cloud usage for beginners.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6653158" y="4324683"/>
            <a:ext cx="2105039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Uses an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alytics to m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onitor cloud usage and optimize costs, helping reduce resource wastage.</a:t>
            </a:r>
          </a:p>
          <a:p>
            <a:pPr algn="ctr">
              <a:lnSpc>
                <a:spcPts val="16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83739" y="249431"/>
            <a:ext cx="4176512" cy="391163"/>
          </a:xfrm>
          <a:custGeom>
            <a:avLst/>
            <a:gdLst/>
            <a:ahLst/>
            <a:cxnLst/>
            <a:rect r="r" b="b" t="t" l="l"/>
            <a:pathLst>
              <a:path h="391163" w="4176512">
                <a:moveTo>
                  <a:pt x="0" y="0"/>
                </a:moveTo>
                <a:lnTo>
                  <a:pt x="4176512" y="0"/>
                </a:lnTo>
                <a:lnTo>
                  <a:pt x="4176512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28723" y="646678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23265" y="231753"/>
            <a:ext cx="1728892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Research Gap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46589" y="6457940"/>
            <a:ext cx="154517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11314" y="645794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28199" y="1252138"/>
            <a:ext cx="3586646" cy="4502043"/>
            <a:chOff x="0" y="0"/>
            <a:chExt cx="1416947" cy="17785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6947" cy="1778585"/>
            </a:xfrm>
            <a:custGeom>
              <a:avLst/>
              <a:gdLst/>
              <a:ahLst/>
              <a:cxnLst/>
              <a:rect r="r" b="b" t="t" l="l"/>
              <a:pathLst>
                <a:path h="1778585" w="1416947">
                  <a:moveTo>
                    <a:pt x="28061" y="0"/>
                  </a:moveTo>
                  <a:lnTo>
                    <a:pt x="1388886" y="0"/>
                  </a:lnTo>
                  <a:cubicBezTo>
                    <a:pt x="1396328" y="0"/>
                    <a:pt x="1403465" y="2956"/>
                    <a:pt x="1408728" y="8219"/>
                  </a:cubicBezTo>
                  <a:cubicBezTo>
                    <a:pt x="1413990" y="13481"/>
                    <a:pt x="1416947" y="20619"/>
                    <a:pt x="1416947" y="28061"/>
                  </a:cubicBezTo>
                  <a:lnTo>
                    <a:pt x="1416947" y="1750524"/>
                  </a:lnTo>
                  <a:cubicBezTo>
                    <a:pt x="1416947" y="1757966"/>
                    <a:pt x="1413990" y="1765104"/>
                    <a:pt x="1408728" y="1770366"/>
                  </a:cubicBezTo>
                  <a:cubicBezTo>
                    <a:pt x="1403465" y="1775629"/>
                    <a:pt x="1396328" y="1778585"/>
                    <a:pt x="1388886" y="1778585"/>
                  </a:cubicBezTo>
                  <a:lnTo>
                    <a:pt x="28061" y="1778585"/>
                  </a:lnTo>
                  <a:cubicBezTo>
                    <a:pt x="20619" y="1778585"/>
                    <a:pt x="13481" y="1775629"/>
                    <a:pt x="8219" y="1770366"/>
                  </a:cubicBezTo>
                  <a:cubicBezTo>
                    <a:pt x="2956" y="1765104"/>
                    <a:pt x="0" y="1757966"/>
                    <a:pt x="0" y="1750524"/>
                  </a:cubicBezTo>
                  <a:lnTo>
                    <a:pt x="0" y="28061"/>
                  </a:lnTo>
                  <a:cubicBezTo>
                    <a:pt x="0" y="20619"/>
                    <a:pt x="2956" y="13481"/>
                    <a:pt x="8219" y="8219"/>
                  </a:cubicBezTo>
                  <a:cubicBezTo>
                    <a:pt x="13481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416947" cy="1788110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06400" y="1895232"/>
            <a:ext cx="3795640" cy="862474"/>
            <a:chOff x="0" y="0"/>
            <a:chExt cx="1499512" cy="3407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9512" cy="340731"/>
            </a:xfrm>
            <a:custGeom>
              <a:avLst/>
              <a:gdLst/>
              <a:ahLst/>
              <a:cxnLst/>
              <a:rect r="r" b="b" t="t" l="l"/>
              <a:pathLst>
                <a:path h="340731" w="1499512">
                  <a:moveTo>
                    <a:pt x="26516" y="0"/>
                  </a:moveTo>
                  <a:lnTo>
                    <a:pt x="1472996" y="0"/>
                  </a:lnTo>
                  <a:cubicBezTo>
                    <a:pt x="1480029" y="0"/>
                    <a:pt x="1486773" y="2794"/>
                    <a:pt x="1491746" y="7766"/>
                  </a:cubicBezTo>
                  <a:cubicBezTo>
                    <a:pt x="1496719" y="12739"/>
                    <a:pt x="1499512" y="19483"/>
                    <a:pt x="1499512" y="26516"/>
                  </a:cubicBezTo>
                  <a:lnTo>
                    <a:pt x="1499512" y="314215"/>
                  </a:lnTo>
                  <a:cubicBezTo>
                    <a:pt x="1499512" y="328859"/>
                    <a:pt x="1487641" y="340731"/>
                    <a:pt x="1472996" y="340731"/>
                  </a:cubicBezTo>
                  <a:lnTo>
                    <a:pt x="26516" y="340731"/>
                  </a:lnTo>
                  <a:cubicBezTo>
                    <a:pt x="19483" y="340731"/>
                    <a:pt x="12739" y="337937"/>
                    <a:pt x="7766" y="332964"/>
                  </a:cubicBezTo>
                  <a:cubicBezTo>
                    <a:pt x="2794" y="327992"/>
                    <a:pt x="0" y="321247"/>
                    <a:pt x="0" y="314215"/>
                  </a:cubicBezTo>
                  <a:lnTo>
                    <a:pt x="0" y="26516"/>
                  </a:lnTo>
                  <a:cubicBezTo>
                    <a:pt x="0" y="19483"/>
                    <a:pt x="2794" y="12739"/>
                    <a:pt x="7766" y="7766"/>
                  </a:cubicBezTo>
                  <a:cubicBezTo>
                    <a:pt x="12739" y="2794"/>
                    <a:pt x="19483" y="0"/>
                    <a:pt x="26516" y="0"/>
                  </a:cubicBezTo>
                  <a:close/>
                </a:path>
              </a:pathLst>
            </a:custGeom>
            <a:solidFill>
              <a:srgbClr val="01627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499512" cy="350256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6426" y="2011853"/>
            <a:ext cx="623546" cy="629233"/>
            <a:chOff x="0" y="0"/>
            <a:chExt cx="246339" cy="2485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6339" cy="248586"/>
            </a:xfrm>
            <a:custGeom>
              <a:avLst/>
              <a:gdLst/>
              <a:ahLst/>
              <a:cxnLst/>
              <a:rect r="r" b="b" t="t" l="l"/>
              <a:pathLst>
                <a:path h="248586" w="246339">
                  <a:moveTo>
                    <a:pt x="123170" y="0"/>
                  </a:moveTo>
                  <a:lnTo>
                    <a:pt x="123170" y="0"/>
                  </a:lnTo>
                  <a:cubicBezTo>
                    <a:pt x="155836" y="0"/>
                    <a:pt x="187165" y="12977"/>
                    <a:pt x="210264" y="36076"/>
                  </a:cubicBezTo>
                  <a:cubicBezTo>
                    <a:pt x="233363" y="59174"/>
                    <a:pt x="246339" y="90503"/>
                    <a:pt x="246339" y="123170"/>
                  </a:cubicBezTo>
                  <a:lnTo>
                    <a:pt x="246339" y="125416"/>
                  </a:lnTo>
                  <a:cubicBezTo>
                    <a:pt x="246339" y="158083"/>
                    <a:pt x="233363" y="189412"/>
                    <a:pt x="210264" y="212510"/>
                  </a:cubicBezTo>
                  <a:cubicBezTo>
                    <a:pt x="187165" y="235609"/>
                    <a:pt x="155836" y="248586"/>
                    <a:pt x="123170" y="248586"/>
                  </a:cubicBezTo>
                  <a:lnTo>
                    <a:pt x="123170" y="248586"/>
                  </a:lnTo>
                  <a:cubicBezTo>
                    <a:pt x="90503" y="248586"/>
                    <a:pt x="59174" y="235609"/>
                    <a:pt x="36076" y="212510"/>
                  </a:cubicBezTo>
                  <a:cubicBezTo>
                    <a:pt x="12977" y="189412"/>
                    <a:pt x="0" y="158083"/>
                    <a:pt x="0" y="125416"/>
                  </a:cubicBezTo>
                  <a:lnTo>
                    <a:pt x="0" y="123170"/>
                  </a:lnTo>
                  <a:cubicBezTo>
                    <a:pt x="0" y="90503"/>
                    <a:pt x="12977" y="59174"/>
                    <a:pt x="36076" y="36076"/>
                  </a:cubicBezTo>
                  <a:cubicBezTo>
                    <a:pt x="59174" y="12977"/>
                    <a:pt x="90503" y="0"/>
                    <a:pt x="1231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46339" cy="258111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06400" y="2838074"/>
            <a:ext cx="3795640" cy="862474"/>
            <a:chOff x="0" y="0"/>
            <a:chExt cx="1499512" cy="3407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512" cy="340731"/>
            </a:xfrm>
            <a:custGeom>
              <a:avLst/>
              <a:gdLst/>
              <a:ahLst/>
              <a:cxnLst/>
              <a:rect r="r" b="b" t="t" l="l"/>
              <a:pathLst>
                <a:path h="340731" w="1499512">
                  <a:moveTo>
                    <a:pt x="26516" y="0"/>
                  </a:moveTo>
                  <a:lnTo>
                    <a:pt x="1472996" y="0"/>
                  </a:lnTo>
                  <a:cubicBezTo>
                    <a:pt x="1480029" y="0"/>
                    <a:pt x="1486773" y="2794"/>
                    <a:pt x="1491746" y="7766"/>
                  </a:cubicBezTo>
                  <a:cubicBezTo>
                    <a:pt x="1496719" y="12739"/>
                    <a:pt x="1499512" y="19483"/>
                    <a:pt x="1499512" y="26516"/>
                  </a:cubicBezTo>
                  <a:lnTo>
                    <a:pt x="1499512" y="314215"/>
                  </a:lnTo>
                  <a:cubicBezTo>
                    <a:pt x="1499512" y="328859"/>
                    <a:pt x="1487641" y="340731"/>
                    <a:pt x="1472996" y="340731"/>
                  </a:cubicBezTo>
                  <a:lnTo>
                    <a:pt x="26516" y="340731"/>
                  </a:lnTo>
                  <a:cubicBezTo>
                    <a:pt x="19483" y="340731"/>
                    <a:pt x="12739" y="337937"/>
                    <a:pt x="7766" y="332964"/>
                  </a:cubicBezTo>
                  <a:cubicBezTo>
                    <a:pt x="2794" y="327992"/>
                    <a:pt x="0" y="321247"/>
                    <a:pt x="0" y="314215"/>
                  </a:cubicBezTo>
                  <a:lnTo>
                    <a:pt x="0" y="26516"/>
                  </a:lnTo>
                  <a:cubicBezTo>
                    <a:pt x="0" y="19483"/>
                    <a:pt x="2794" y="12739"/>
                    <a:pt x="7766" y="7766"/>
                  </a:cubicBezTo>
                  <a:cubicBezTo>
                    <a:pt x="12739" y="2794"/>
                    <a:pt x="19483" y="0"/>
                    <a:pt x="26516" y="0"/>
                  </a:cubicBezTo>
                  <a:close/>
                </a:path>
              </a:pathLst>
            </a:custGeom>
            <a:solidFill>
              <a:srgbClr val="036E7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499512" cy="350256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16426" y="2954694"/>
            <a:ext cx="623546" cy="629233"/>
            <a:chOff x="0" y="0"/>
            <a:chExt cx="246339" cy="2485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6339" cy="248586"/>
            </a:xfrm>
            <a:custGeom>
              <a:avLst/>
              <a:gdLst/>
              <a:ahLst/>
              <a:cxnLst/>
              <a:rect r="r" b="b" t="t" l="l"/>
              <a:pathLst>
                <a:path h="248586" w="246339">
                  <a:moveTo>
                    <a:pt x="123170" y="0"/>
                  </a:moveTo>
                  <a:lnTo>
                    <a:pt x="123170" y="0"/>
                  </a:lnTo>
                  <a:cubicBezTo>
                    <a:pt x="155836" y="0"/>
                    <a:pt x="187165" y="12977"/>
                    <a:pt x="210264" y="36076"/>
                  </a:cubicBezTo>
                  <a:cubicBezTo>
                    <a:pt x="233363" y="59174"/>
                    <a:pt x="246339" y="90503"/>
                    <a:pt x="246339" y="123170"/>
                  </a:cubicBezTo>
                  <a:lnTo>
                    <a:pt x="246339" y="125416"/>
                  </a:lnTo>
                  <a:cubicBezTo>
                    <a:pt x="246339" y="158083"/>
                    <a:pt x="233363" y="189412"/>
                    <a:pt x="210264" y="212510"/>
                  </a:cubicBezTo>
                  <a:cubicBezTo>
                    <a:pt x="187165" y="235609"/>
                    <a:pt x="155836" y="248586"/>
                    <a:pt x="123170" y="248586"/>
                  </a:cubicBezTo>
                  <a:lnTo>
                    <a:pt x="123170" y="248586"/>
                  </a:lnTo>
                  <a:cubicBezTo>
                    <a:pt x="90503" y="248586"/>
                    <a:pt x="59174" y="235609"/>
                    <a:pt x="36076" y="212510"/>
                  </a:cubicBezTo>
                  <a:cubicBezTo>
                    <a:pt x="12977" y="189412"/>
                    <a:pt x="0" y="158083"/>
                    <a:pt x="0" y="125416"/>
                  </a:cubicBezTo>
                  <a:lnTo>
                    <a:pt x="0" y="123170"/>
                  </a:lnTo>
                  <a:cubicBezTo>
                    <a:pt x="0" y="90503"/>
                    <a:pt x="12977" y="59174"/>
                    <a:pt x="36076" y="36076"/>
                  </a:cubicBezTo>
                  <a:cubicBezTo>
                    <a:pt x="59174" y="12977"/>
                    <a:pt x="90503" y="0"/>
                    <a:pt x="1231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46339" cy="258111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06400" y="3780915"/>
            <a:ext cx="3795640" cy="862474"/>
            <a:chOff x="0" y="0"/>
            <a:chExt cx="1499512" cy="3407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99512" cy="340731"/>
            </a:xfrm>
            <a:custGeom>
              <a:avLst/>
              <a:gdLst/>
              <a:ahLst/>
              <a:cxnLst/>
              <a:rect r="r" b="b" t="t" l="l"/>
              <a:pathLst>
                <a:path h="340731" w="1499512">
                  <a:moveTo>
                    <a:pt x="26516" y="0"/>
                  </a:moveTo>
                  <a:lnTo>
                    <a:pt x="1472996" y="0"/>
                  </a:lnTo>
                  <a:cubicBezTo>
                    <a:pt x="1480029" y="0"/>
                    <a:pt x="1486773" y="2794"/>
                    <a:pt x="1491746" y="7766"/>
                  </a:cubicBezTo>
                  <a:cubicBezTo>
                    <a:pt x="1496719" y="12739"/>
                    <a:pt x="1499512" y="19483"/>
                    <a:pt x="1499512" y="26516"/>
                  </a:cubicBezTo>
                  <a:lnTo>
                    <a:pt x="1499512" y="314215"/>
                  </a:lnTo>
                  <a:cubicBezTo>
                    <a:pt x="1499512" y="328859"/>
                    <a:pt x="1487641" y="340731"/>
                    <a:pt x="1472996" y="340731"/>
                  </a:cubicBezTo>
                  <a:lnTo>
                    <a:pt x="26516" y="340731"/>
                  </a:lnTo>
                  <a:cubicBezTo>
                    <a:pt x="19483" y="340731"/>
                    <a:pt x="12739" y="337937"/>
                    <a:pt x="7766" y="332964"/>
                  </a:cubicBezTo>
                  <a:cubicBezTo>
                    <a:pt x="2794" y="327992"/>
                    <a:pt x="0" y="321247"/>
                    <a:pt x="0" y="314215"/>
                  </a:cubicBezTo>
                  <a:lnTo>
                    <a:pt x="0" y="26516"/>
                  </a:lnTo>
                  <a:cubicBezTo>
                    <a:pt x="0" y="19483"/>
                    <a:pt x="2794" y="12739"/>
                    <a:pt x="7766" y="7766"/>
                  </a:cubicBezTo>
                  <a:cubicBezTo>
                    <a:pt x="12739" y="2794"/>
                    <a:pt x="19483" y="0"/>
                    <a:pt x="26516" y="0"/>
                  </a:cubicBezTo>
                  <a:close/>
                </a:path>
              </a:pathLst>
            </a:custGeom>
            <a:solidFill>
              <a:srgbClr val="01627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499512" cy="350256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16426" y="3897536"/>
            <a:ext cx="623546" cy="629233"/>
            <a:chOff x="0" y="0"/>
            <a:chExt cx="246339" cy="2485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6339" cy="248586"/>
            </a:xfrm>
            <a:custGeom>
              <a:avLst/>
              <a:gdLst/>
              <a:ahLst/>
              <a:cxnLst/>
              <a:rect r="r" b="b" t="t" l="l"/>
              <a:pathLst>
                <a:path h="248586" w="246339">
                  <a:moveTo>
                    <a:pt x="123170" y="0"/>
                  </a:moveTo>
                  <a:lnTo>
                    <a:pt x="123170" y="0"/>
                  </a:lnTo>
                  <a:cubicBezTo>
                    <a:pt x="155836" y="0"/>
                    <a:pt x="187165" y="12977"/>
                    <a:pt x="210264" y="36076"/>
                  </a:cubicBezTo>
                  <a:cubicBezTo>
                    <a:pt x="233363" y="59174"/>
                    <a:pt x="246339" y="90503"/>
                    <a:pt x="246339" y="123170"/>
                  </a:cubicBezTo>
                  <a:lnTo>
                    <a:pt x="246339" y="125416"/>
                  </a:lnTo>
                  <a:cubicBezTo>
                    <a:pt x="246339" y="158083"/>
                    <a:pt x="233363" y="189412"/>
                    <a:pt x="210264" y="212510"/>
                  </a:cubicBezTo>
                  <a:cubicBezTo>
                    <a:pt x="187165" y="235609"/>
                    <a:pt x="155836" y="248586"/>
                    <a:pt x="123170" y="248586"/>
                  </a:cubicBezTo>
                  <a:lnTo>
                    <a:pt x="123170" y="248586"/>
                  </a:lnTo>
                  <a:cubicBezTo>
                    <a:pt x="90503" y="248586"/>
                    <a:pt x="59174" y="235609"/>
                    <a:pt x="36076" y="212510"/>
                  </a:cubicBezTo>
                  <a:cubicBezTo>
                    <a:pt x="12977" y="189412"/>
                    <a:pt x="0" y="158083"/>
                    <a:pt x="0" y="125416"/>
                  </a:cubicBezTo>
                  <a:lnTo>
                    <a:pt x="0" y="123170"/>
                  </a:lnTo>
                  <a:cubicBezTo>
                    <a:pt x="0" y="90503"/>
                    <a:pt x="12977" y="59174"/>
                    <a:pt x="36076" y="36076"/>
                  </a:cubicBezTo>
                  <a:cubicBezTo>
                    <a:pt x="59174" y="12977"/>
                    <a:pt x="90503" y="0"/>
                    <a:pt x="1231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46339" cy="258111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06400" y="4723757"/>
            <a:ext cx="3795640" cy="862474"/>
            <a:chOff x="0" y="0"/>
            <a:chExt cx="1499512" cy="3407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99512" cy="340731"/>
            </a:xfrm>
            <a:custGeom>
              <a:avLst/>
              <a:gdLst/>
              <a:ahLst/>
              <a:cxnLst/>
              <a:rect r="r" b="b" t="t" l="l"/>
              <a:pathLst>
                <a:path h="340731" w="1499512">
                  <a:moveTo>
                    <a:pt x="26516" y="0"/>
                  </a:moveTo>
                  <a:lnTo>
                    <a:pt x="1472996" y="0"/>
                  </a:lnTo>
                  <a:cubicBezTo>
                    <a:pt x="1480029" y="0"/>
                    <a:pt x="1486773" y="2794"/>
                    <a:pt x="1491746" y="7766"/>
                  </a:cubicBezTo>
                  <a:cubicBezTo>
                    <a:pt x="1496719" y="12739"/>
                    <a:pt x="1499512" y="19483"/>
                    <a:pt x="1499512" y="26516"/>
                  </a:cubicBezTo>
                  <a:lnTo>
                    <a:pt x="1499512" y="314215"/>
                  </a:lnTo>
                  <a:cubicBezTo>
                    <a:pt x="1499512" y="328859"/>
                    <a:pt x="1487641" y="340731"/>
                    <a:pt x="1472996" y="340731"/>
                  </a:cubicBezTo>
                  <a:lnTo>
                    <a:pt x="26516" y="340731"/>
                  </a:lnTo>
                  <a:cubicBezTo>
                    <a:pt x="19483" y="340731"/>
                    <a:pt x="12739" y="337937"/>
                    <a:pt x="7766" y="332964"/>
                  </a:cubicBezTo>
                  <a:cubicBezTo>
                    <a:pt x="2794" y="327992"/>
                    <a:pt x="0" y="321247"/>
                    <a:pt x="0" y="314215"/>
                  </a:cubicBezTo>
                  <a:lnTo>
                    <a:pt x="0" y="26516"/>
                  </a:lnTo>
                  <a:cubicBezTo>
                    <a:pt x="0" y="19483"/>
                    <a:pt x="2794" y="12739"/>
                    <a:pt x="7766" y="7766"/>
                  </a:cubicBezTo>
                  <a:cubicBezTo>
                    <a:pt x="12739" y="2794"/>
                    <a:pt x="19483" y="0"/>
                    <a:pt x="26516" y="0"/>
                  </a:cubicBezTo>
                  <a:close/>
                </a:path>
              </a:pathLst>
            </a:custGeom>
            <a:solidFill>
              <a:srgbClr val="036E7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1499512" cy="350256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6426" y="4840377"/>
            <a:ext cx="623546" cy="629233"/>
            <a:chOff x="0" y="0"/>
            <a:chExt cx="246339" cy="2485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6339" cy="248586"/>
            </a:xfrm>
            <a:custGeom>
              <a:avLst/>
              <a:gdLst/>
              <a:ahLst/>
              <a:cxnLst/>
              <a:rect r="r" b="b" t="t" l="l"/>
              <a:pathLst>
                <a:path h="248586" w="246339">
                  <a:moveTo>
                    <a:pt x="123170" y="0"/>
                  </a:moveTo>
                  <a:lnTo>
                    <a:pt x="123170" y="0"/>
                  </a:lnTo>
                  <a:cubicBezTo>
                    <a:pt x="155836" y="0"/>
                    <a:pt x="187165" y="12977"/>
                    <a:pt x="210264" y="36076"/>
                  </a:cubicBezTo>
                  <a:cubicBezTo>
                    <a:pt x="233363" y="59174"/>
                    <a:pt x="246339" y="90503"/>
                    <a:pt x="246339" y="123170"/>
                  </a:cubicBezTo>
                  <a:lnTo>
                    <a:pt x="246339" y="125416"/>
                  </a:lnTo>
                  <a:cubicBezTo>
                    <a:pt x="246339" y="158083"/>
                    <a:pt x="233363" y="189412"/>
                    <a:pt x="210264" y="212510"/>
                  </a:cubicBezTo>
                  <a:cubicBezTo>
                    <a:pt x="187165" y="235609"/>
                    <a:pt x="155836" y="248586"/>
                    <a:pt x="123170" y="248586"/>
                  </a:cubicBezTo>
                  <a:lnTo>
                    <a:pt x="123170" y="248586"/>
                  </a:lnTo>
                  <a:cubicBezTo>
                    <a:pt x="90503" y="248586"/>
                    <a:pt x="59174" y="235609"/>
                    <a:pt x="36076" y="212510"/>
                  </a:cubicBezTo>
                  <a:cubicBezTo>
                    <a:pt x="12977" y="189412"/>
                    <a:pt x="0" y="158083"/>
                    <a:pt x="0" y="125416"/>
                  </a:cubicBezTo>
                  <a:lnTo>
                    <a:pt x="0" y="123170"/>
                  </a:lnTo>
                  <a:cubicBezTo>
                    <a:pt x="0" y="90503"/>
                    <a:pt x="12977" y="59174"/>
                    <a:pt x="36076" y="36076"/>
                  </a:cubicBezTo>
                  <a:cubicBezTo>
                    <a:pt x="59174" y="12977"/>
                    <a:pt x="90503" y="0"/>
                    <a:pt x="1231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46339" cy="258111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628987" y="4967211"/>
            <a:ext cx="343643" cy="375566"/>
          </a:xfrm>
          <a:custGeom>
            <a:avLst/>
            <a:gdLst/>
            <a:ahLst/>
            <a:cxnLst/>
            <a:rect r="r" b="b" t="t" l="l"/>
            <a:pathLst>
              <a:path h="375566" w="343643">
                <a:moveTo>
                  <a:pt x="0" y="0"/>
                </a:moveTo>
                <a:lnTo>
                  <a:pt x="343643" y="0"/>
                </a:lnTo>
                <a:lnTo>
                  <a:pt x="343643" y="375566"/>
                </a:lnTo>
                <a:lnTo>
                  <a:pt x="0" y="3755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56378" y="4076130"/>
            <a:ext cx="343643" cy="326461"/>
          </a:xfrm>
          <a:custGeom>
            <a:avLst/>
            <a:gdLst/>
            <a:ahLst/>
            <a:cxnLst/>
            <a:rect r="r" b="b" t="t" l="l"/>
            <a:pathLst>
              <a:path h="326461" w="343643">
                <a:moveTo>
                  <a:pt x="0" y="0"/>
                </a:moveTo>
                <a:lnTo>
                  <a:pt x="343643" y="0"/>
                </a:lnTo>
                <a:lnTo>
                  <a:pt x="343643" y="326461"/>
                </a:lnTo>
                <a:lnTo>
                  <a:pt x="0" y="3264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39678" y="3091894"/>
            <a:ext cx="365011" cy="358623"/>
          </a:xfrm>
          <a:custGeom>
            <a:avLst/>
            <a:gdLst/>
            <a:ahLst/>
            <a:cxnLst/>
            <a:rect r="r" b="b" t="t" l="l"/>
            <a:pathLst>
              <a:path h="358623" w="365011">
                <a:moveTo>
                  <a:pt x="0" y="0"/>
                </a:moveTo>
                <a:lnTo>
                  <a:pt x="365011" y="0"/>
                </a:lnTo>
                <a:lnTo>
                  <a:pt x="365011" y="358623"/>
                </a:lnTo>
                <a:lnTo>
                  <a:pt x="0" y="3586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51755" y="2170167"/>
            <a:ext cx="340857" cy="355368"/>
          </a:xfrm>
          <a:custGeom>
            <a:avLst/>
            <a:gdLst/>
            <a:ahLst/>
            <a:cxnLst/>
            <a:rect r="r" b="b" t="t" l="l"/>
            <a:pathLst>
              <a:path h="355368" w="340857">
                <a:moveTo>
                  <a:pt x="0" y="0"/>
                </a:moveTo>
                <a:lnTo>
                  <a:pt x="340857" y="0"/>
                </a:lnTo>
                <a:lnTo>
                  <a:pt x="340857" y="355368"/>
                </a:lnTo>
                <a:lnTo>
                  <a:pt x="0" y="35536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208376" y="2307419"/>
            <a:ext cx="2678527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21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Due to poor documentation clarity &amp; cluttered UI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08376" y="2011853"/>
            <a:ext cx="2845720" cy="17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218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High Complexity &amp; Steep learning Curve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08376" y="3226740"/>
            <a:ext cx="2791132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21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Manual configuration prone to frequent human errors (82% misconfiguration rate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17901" y="2986088"/>
            <a:ext cx="2562133" cy="17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218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Prone to Human Error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54720" y="4169581"/>
            <a:ext cx="2094804" cy="17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21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costs and security risks.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54720" y="3897536"/>
            <a:ext cx="2562133" cy="17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218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Lack of Pre-Deployment Visibility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54720" y="5112423"/>
            <a:ext cx="2799376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21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fragmented management tools across multi-cloud environments.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54720" y="4840377"/>
            <a:ext cx="2562133" cy="17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218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Fragmented Management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66269" y="1448153"/>
            <a:ext cx="240890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b="true" sz="1875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Engagement Rate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7871255" y="646678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4856431" y="1252138"/>
            <a:ext cx="3599346" cy="4502043"/>
            <a:chOff x="0" y="0"/>
            <a:chExt cx="1421964" cy="177858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21964" cy="1778585"/>
            </a:xfrm>
            <a:custGeom>
              <a:avLst/>
              <a:gdLst/>
              <a:ahLst/>
              <a:cxnLst/>
              <a:rect r="r" b="b" t="t" l="l"/>
              <a:pathLst>
                <a:path h="1778585" w="1421964">
                  <a:moveTo>
                    <a:pt x="27962" y="0"/>
                  </a:moveTo>
                  <a:lnTo>
                    <a:pt x="1394002" y="0"/>
                  </a:lnTo>
                  <a:cubicBezTo>
                    <a:pt x="1401418" y="0"/>
                    <a:pt x="1408530" y="2946"/>
                    <a:pt x="1413774" y="8190"/>
                  </a:cubicBezTo>
                  <a:cubicBezTo>
                    <a:pt x="1419018" y="13434"/>
                    <a:pt x="1421964" y="20546"/>
                    <a:pt x="1421964" y="27962"/>
                  </a:cubicBezTo>
                  <a:lnTo>
                    <a:pt x="1421964" y="1750623"/>
                  </a:lnTo>
                  <a:cubicBezTo>
                    <a:pt x="1421964" y="1766066"/>
                    <a:pt x="1409445" y="1778585"/>
                    <a:pt x="1394002" y="1778585"/>
                  </a:cubicBezTo>
                  <a:lnTo>
                    <a:pt x="27962" y="1778585"/>
                  </a:lnTo>
                  <a:cubicBezTo>
                    <a:pt x="12519" y="1778585"/>
                    <a:pt x="0" y="1766066"/>
                    <a:pt x="0" y="1750623"/>
                  </a:cubicBezTo>
                  <a:lnTo>
                    <a:pt x="0" y="27962"/>
                  </a:lnTo>
                  <a:cubicBezTo>
                    <a:pt x="0" y="12519"/>
                    <a:pt x="12519" y="0"/>
                    <a:pt x="27962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421964" cy="1788110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083700" y="1895232"/>
            <a:ext cx="3808340" cy="862474"/>
            <a:chOff x="0" y="0"/>
            <a:chExt cx="1504530" cy="34073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04530" cy="340731"/>
            </a:xfrm>
            <a:custGeom>
              <a:avLst/>
              <a:gdLst/>
              <a:ahLst/>
              <a:cxnLst/>
              <a:rect r="r" b="b" t="t" l="l"/>
              <a:pathLst>
                <a:path h="340731" w="1504530">
                  <a:moveTo>
                    <a:pt x="26428" y="0"/>
                  </a:moveTo>
                  <a:lnTo>
                    <a:pt x="1478102" y="0"/>
                  </a:lnTo>
                  <a:cubicBezTo>
                    <a:pt x="1485111" y="0"/>
                    <a:pt x="1491833" y="2784"/>
                    <a:pt x="1496789" y="7740"/>
                  </a:cubicBezTo>
                  <a:cubicBezTo>
                    <a:pt x="1501745" y="12697"/>
                    <a:pt x="1504530" y="19419"/>
                    <a:pt x="1504530" y="26428"/>
                  </a:cubicBezTo>
                  <a:lnTo>
                    <a:pt x="1504530" y="314303"/>
                  </a:lnTo>
                  <a:cubicBezTo>
                    <a:pt x="1504530" y="321312"/>
                    <a:pt x="1501745" y="328034"/>
                    <a:pt x="1496789" y="332990"/>
                  </a:cubicBezTo>
                  <a:cubicBezTo>
                    <a:pt x="1491833" y="337946"/>
                    <a:pt x="1485111" y="340731"/>
                    <a:pt x="1478102" y="340731"/>
                  </a:cubicBezTo>
                  <a:lnTo>
                    <a:pt x="26428" y="340731"/>
                  </a:lnTo>
                  <a:cubicBezTo>
                    <a:pt x="19419" y="340731"/>
                    <a:pt x="12697" y="337946"/>
                    <a:pt x="7740" y="332990"/>
                  </a:cubicBezTo>
                  <a:cubicBezTo>
                    <a:pt x="2784" y="328034"/>
                    <a:pt x="0" y="321312"/>
                    <a:pt x="0" y="314303"/>
                  </a:cubicBezTo>
                  <a:lnTo>
                    <a:pt x="0" y="26428"/>
                  </a:lnTo>
                  <a:cubicBezTo>
                    <a:pt x="0" y="19419"/>
                    <a:pt x="2784" y="12697"/>
                    <a:pt x="7740" y="7740"/>
                  </a:cubicBezTo>
                  <a:cubicBezTo>
                    <a:pt x="12697" y="2784"/>
                    <a:pt x="19419" y="0"/>
                    <a:pt x="26428" y="0"/>
                  </a:cubicBezTo>
                  <a:close/>
                </a:path>
              </a:pathLst>
            </a:custGeom>
            <a:solidFill>
              <a:srgbClr val="01627B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504530" cy="350256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147519" y="2011853"/>
            <a:ext cx="623546" cy="629233"/>
            <a:chOff x="0" y="0"/>
            <a:chExt cx="246339" cy="24858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6339" cy="248586"/>
            </a:xfrm>
            <a:custGeom>
              <a:avLst/>
              <a:gdLst/>
              <a:ahLst/>
              <a:cxnLst/>
              <a:rect r="r" b="b" t="t" l="l"/>
              <a:pathLst>
                <a:path h="248586" w="246339">
                  <a:moveTo>
                    <a:pt x="123170" y="0"/>
                  </a:moveTo>
                  <a:lnTo>
                    <a:pt x="123170" y="0"/>
                  </a:lnTo>
                  <a:cubicBezTo>
                    <a:pt x="155836" y="0"/>
                    <a:pt x="187165" y="12977"/>
                    <a:pt x="210264" y="36076"/>
                  </a:cubicBezTo>
                  <a:cubicBezTo>
                    <a:pt x="233363" y="59174"/>
                    <a:pt x="246339" y="90503"/>
                    <a:pt x="246339" y="123170"/>
                  </a:cubicBezTo>
                  <a:lnTo>
                    <a:pt x="246339" y="125416"/>
                  </a:lnTo>
                  <a:cubicBezTo>
                    <a:pt x="246339" y="158083"/>
                    <a:pt x="233363" y="189412"/>
                    <a:pt x="210264" y="212510"/>
                  </a:cubicBezTo>
                  <a:cubicBezTo>
                    <a:pt x="187165" y="235609"/>
                    <a:pt x="155836" y="248586"/>
                    <a:pt x="123170" y="248586"/>
                  </a:cubicBezTo>
                  <a:lnTo>
                    <a:pt x="123170" y="248586"/>
                  </a:lnTo>
                  <a:cubicBezTo>
                    <a:pt x="90503" y="248586"/>
                    <a:pt x="59174" y="235609"/>
                    <a:pt x="36076" y="212510"/>
                  </a:cubicBezTo>
                  <a:cubicBezTo>
                    <a:pt x="12977" y="189412"/>
                    <a:pt x="0" y="158083"/>
                    <a:pt x="0" y="125416"/>
                  </a:cubicBezTo>
                  <a:lnTo>
                    <a:pt x="0" y="123170"/>
                  </a:lnTo>
                  <a:cubicBezTo>
                    <a:pt x="0" y="90503"/>
                    <a:pt x="12977" y="59174"/>
                    <a:pt x="36076" y="36076"/>
                  </a:cubicBezTo>
                  <a:cubicBezTo>
                    <a:pt x="59174" y="12977"/>
                    <a:pt x="90503" y="0"/>
                    <a:pt x="1231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246339" cy="258111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083700" y="2838074"/>
            <a:ext cx="3808340" cy="862474"/>
            <a:chOff x="0" y="0"/>
            <a:chExt cx="1504530" cy="34073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04530" cy="340731"/>
            </a:xfrm>
            <a:custGeom>
              <a:avLst/>
              <a:gdLst/>
              <a:ahLst/>
              <a:cxnLst/>
              <a:rect r="r" b="b" t="t" l="l"/>
              <a:pathLst>
                <a:path h="340731" w="1504530">
                  <a:moveTo>
                    <a:pt x="26428" y="0"/>
                  </a:moveTo>
                  <a:lnTo>
                    <a:pt x="1478102" y="0"/>
                  </a:lnTo>
                  <a:cubicBezTo>
                    <a:pt x="1485111" y="0"/>
                    <a:pt x="1491833" y="2784"/>
                    <a:pt x="1496789" y="7740"/>
                  </a:cubicBezTo>
                  <a:cubicBezTo>
                    <a:pt x="1501745" y="12697"/>
                    <a:pt x="1504530" y="19419"/>
                    <a:pt x="1504530" y="26428"/>
                  </a:cubicBezTo>
                  <a:lnTo>
                    <a:pt x="1504530" y="314303"/>
                  </a:lnTo>
                  <a:cubicBezTo>
                    <a:pt x="1504530" y="321312"/>
                    <a:pt x="1501745" y="328034"/>
                    <a:pt x="1496789" y="332990"/>
                  </a:cubicBezTo>
                  <a:cubicBezTo>
                    <a:pt x="1491833" y="337946"/>
                    <a:pt x="1485111" y="340731"/>
                    <a:pt x="1478102" y="340731"/>
                  </a:cubicBezTo>
                  <a:lnTo>
                    <a:pt x="26428" y="340731"/>
                  </a:lnTo>
                  <a:cubicBezTo>
                    <a:pt x="19419" y="340731"/>
                    <a:pt x="12697" y="337946"/>
                    <a:pt x="7740" y="332990"/>
                  </a:cubicBezTo>
                  <a:cubicBezTo>
                    <a:pt x="2784" y="328034"/>
                    <a:pt x="0" y="321312"/>
                    <a:pt x="0" y="314303"/>
                  </a:cubicBezTo>
                  <a:lnTo>
                    <a:pt x="0" y="26428"/>
                  </a:lnTo>
                  <a:cubicBezTo>
                    <a:pt x="0" y="19419"/>
                    <a:pt x="2784" y="12697"/>
                    <a:pt x="7740" y="7740"/>
                  </a:cubicBezTo>
                  <a:cubicBezTo>
                    <a:pt x="12697" y="2784"/>
                    <a:pt x="19419" y="0"/>
                    <a:pt x="26428" y="0"/>
                  </a:cubicBezTo>
                  <a:close/>
                </a:path>
              </a:pathLst>
            </a:custGeom>
            <a:solidFill>
              <a:srgbClr val="036E72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1504530" cy="350256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147519" y="2954694"/>
            <a:ext cx="623546" cy="629233"/>
            <a:chOff x="0" y="0"/>
            <a:chExt cx="246339" cy="24858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6339" cy="248586"/>
            </a:xfrm>
            <a:custGeom>
              <a:avLst/>
              <a:gdLst/>
              <a:ahLst/>
              <a:cxnLst/>
              <a:rect r="r" b="b" t="t" l="l"/>
              <a:pathLst>
                <a:path h="248586" w="246339">
                  <a:moveTo>
                    <a:pt x="123170" y="0"/>
                  </a:moveTo>
                  <a:lnTo>
                    <a:pt x="123170" y="0"/>
                  </a:lnTo>
                  <a:cubicBezTo>
                    <a:pt x="155836" y="0"/>
                    <a:pt x="187165" y="12977"/>
                    <a:pt x="210264" y="36076"/>
                  </a:cubicBezTo>
                  <a:cubicBezTo>
                    <a:pt x="233363" y="59174"/>
                    <a:pt x="246339" y="90503"/>
                    <a:pt x="246339" y="123170"/>
                  </a:cubicBezTo>
                  <a:lnTo>
                    <a:pt x="246339" y="125416"/>
                  </a:lnTo>
                  <a:cubicBezTo>
                    <a:pt x="246339" y="158083"/>
                    <a:pt x="233363" y="189412"/>
                    <a:pt x="210264" y="212510"/>
                  </a:cubicBezTo>
                  <a:cubicBezTo>
                    <a:pt x="187165" y="235609"/>
                    <a:pt x="155836" y="248586"/>
                    <a:pt x="123170" y="248586"/>
                  </a:cubicBezTo>
                  <a:lnTo>
                    <a:pt x="123170" y="248586"/>
                  </a:lnTo>
                  <a:cubicBezTo>
                    <a:pt x="90503" y="248586"/>
                    <a:pt x="59174" y="235609"/>
                    <a:pt x="36076" y="212510"/>
                  </a:cubicBezTo>
                  <a:cubicBezTo>
                    <a:pt x="12977" y="189412"/>
                    <a:pt x="0" y="158083"/>
                    <a:pt x="0" y="125416"/>
                  </a:cubicBezTo>
                  <a:lnTo>
                    <a:pt x="0" y="123170"/>
                  </a:lnTo>
                  <a:cubicBezTo>
                    <a:pt x="0" y="90503"/>
                    <a:pt x="12977" y="59174"/>
                    <a:pt x="36076" y="36076"/>
                  </a:cubicBezTo>
                  <a:cubicBezTo>
                    <a:pt x="59174" y="12977"/>
                    <a:pt x="90503" y="0"/>
                    <a:pt x="1231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246339" cy="258111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083700" y="3780915"/>
            <a:ext cx="3808340" cy="862474"/>
            <a:chOff x="0" y="0"/>
            <a:chExt cx="1504530" cy="34073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504530" cy="340731"/>
            </a:xfrm>
            <a:custGeom>
              <a:avLst/>
              <a:gdLst/>
              <a:ahLst/>
              <a:cxnLst/>
              <a:rect r="r" b="b" t="t" l="l"/>
              <a:pathLst>
                <a:path h="340731" w="1504530">
                  <a:moveTo>
                    <a:pt x="26428" y="0"/>
                  </a:moveTo>
                  <a:lnTo>
                    <a:pt x="1478102" y="0"/>
                  </a:lnTo>
                  <a:cubicBezTo>
                    <a:pt x="1485111" y="0"/>
                    <a:pt x="1491833" y="2784"/>
                    <a:pt x="1496789" y="7740"/>
                  </a:cubicBezTo>
                  <a:cubicBezTo>
                    <a:pt x="1501745" y="12697"/>
                    <a:pt x="1504530" y="19419"/>
                    <a:pt x="1504530" y="26428"/>
                  </a:cubicBezTo>
                  <a:lnTo>
                    <a:pt x="1504530" y="314303"/>
                  </a:lnTo>
                  <a:cubicBezTo>
                    <a:pt x="1504530" y="321312"/>
                    <a:pt x="1501745" y="328034"/>
                    <a:pt x="1496789" y="332990"/>
                  </a:cubicBezTo>
                  <a:cubicBezTo>
                    <a:pt x="1491833" y="337946"/>
                    <a:pt x="1485111" y="340731"/>
                    <a:pt x="1478102" y="340731"/>
                  </a:cubicBezTo>
                  <a:lnTo>
                    <a:pt x="26428" y="340731"/>
                  </a:lnTo>
                  <a:cubicBezTo>
                    <a:pt x="19419" y="340731"/>
                    <a:pt x="12697" y="337946"/>
                    <a:pt x="7740" y="332990"/>
                  </a:cubicBezTo>
                  <a:cubicBezTo>
                    <a:pt x="2784" y="328034"/>
                    <a:pt x="0" y="321312"/>
                    <a:pt x="0" y="314303"/>
                  </a:cubicBezTo>
                  <a:lnTo>
                    <a:pt x="0" y="26428"/>
                  </a:lnTo>
                  <a:cubicBezTo>
                    <a:pt x="0" y="19419"/>
                    <a:pt x="2784" y="12697"/>
                    <a:pt x="7740" y="7740"/>
                  </a:cubicBezTo>
                  <a:cubicBezTo>
                    <a:pt x="12697" y="2784"/>
                    <a:pt x="19419" y="0"/>
                    <a:pt x="26428" y="0"/>
                  </a:cubicBezTo>
                  <a:close/>
                </a:path>
              </a:pathLst>
            </a:custGeom>
            <a:solidFill>
              <a:srgbClr val="01627B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1504530" cy="350256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147519" y="3897536"/>
            <a:ext cx="623546" cy="629233"/>
            <a:chOff x="0" y="0"/>
            <a:chExt cx="246339" cy="24858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6339" cy="248586"/>
            </a:xfrm>
            <a:custGeom>
              <a:avLst/>
              <a:gdLst/>
              <a:ahLst/>
              <a:cxnLst/>
              <a:rect r="r" b="b" t="t" l="l"/>
              <a:pathLst>
                <a:path h="248586" w="246339">
                  <a:moveTo>
                    <a:pt x="123170" y="0"/>
                  </a:moveTo>
                  <a:lnTo>
                    <a:pt x="123170" y="0"/>
                  </a:lnTo>
                  <a:cubicBezTo>
                    <a:pt x="155836" y="0"/>
                    <a:pt x="187165" y="12977"/>
                    <a:pt x="210264" y="36076"/>
                  </a:cubicBezTo>
                  <a:cubicBezTo>
                    <a:pt x="233363" y="59174"/>
                    <a:pt x="246339" y="90503"/>
                    <a:pt x="246339" y="123170"/>
                  </a:cubicBezTo>
                  <a:lnTo>
                    <a:pt x="246339" y="125416"/>
                  </a:lnTo>
                  <a:cubicBezTo>
                    <a:pt x="246339" y="158083"/>
                    <a:pt x="233363" y="189412"/>
                    <a:pt x="210264" y="212510"/>
                  </a:cubicBezTo>
                  <a:cubicBezTo>
                    <a:pt x="187165" y="235609"/>
                    <a:pt x="155836" y="248586"/>
                    <a:pt x="123170" y="248586"/>
                  </a:cubicBezTo>
                  <a:lnTo>
                    <a:pt x="123170" y="248586"/>
                  </a:lnTo>
                  <a:cubicBezTo>
                    <a:pt x="90503" y="248586"/>
                    <a:pt x="59174" y="235609"/>
                    <a:pt x="36076" y="212510"/>
                  </a:cubicBezTo>
                  <a:cubicBezTo>
                    <a:pt x="12977" y="189412"/>
                    <a:pt x="0" y="158083"/>
                    <a:pt x="0" y="125416"/>
                  </a:cubicBezTo>
                  <a:lnTo>
                    <a:pt x="0" y="123170"/>
                  </a:lnTo>
                  <a:cubicBezTo>
                    <a:pt x="0" y="90503"/>
                    <a:pt x="12977" y="59174"/>
                    <a:pt x="36076" y="36076"/>
                  </a:cubicBezTo>
                  <a:cubicBezTo>
                    <a:pt x="59174" y="12977"/>
                    <a:pt x="90503" y="0"/>
                    <a:pt x="1231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246339" cy="258111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083700" y="4723757"/>
            <a:ext cx="3808340" cy="862474"/>
            <a:chOff x="0" y="0"/>
            <a:chExt cx="1504530" cy="34073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504530" cy="340731"/>
            </a:xfrm>
            <a:custGeom>
              <a:avLst/>
              <a:gdLst/>
              <a:ahLst/>
              <a:cxnLst/>
              <a:rect r="r" b="b" t="t" l="l"/>
              <a:pathLst>
                <a:path h="340731" w="1504530">
                  <a:moveTo>
                    <a:pt x="26428" y="0"/>
                  </a:moveTo>
                  <a:lnTo>
                    <a:pt x="1478102" y="0"/>
                  </a:lnTo>
                  <a:cubicBezTo>
                    <a:pt x="1485111" y="0"/>
                    <a:pt x="1491833" y="2784"/>
                    <a:pt x="1496789" y="7740"/>
                  </a:cubicBezTo>
                  <a:cubicBezTo>
                    <a:pt x="1501745" y="12697"/>
                    <a:pt x="1504530" y="19419"/>
                    <a:pt x="1504530" y="26428"/>
                  </a:cubicBezTo>
                  <a:lnTo>
                    <a:pt x="1504530" y="314303"/>
                  </a:lnTo>
                  <a:cubicBezTo>
                    <a:pt x="1504530" y="321312"/>
                    <a:pt x="1501745" y="328034"/>
                    <a:pt x="1496789" y="332990"/>
                  </a:cubicBezTo>
                  <a:cubicBezTo>
                    <a:pt x="1491833" y="337946"/>
                    <a:pt x="1485111" y="340731"/>
                    <a:pt x="1478102" y="340731"/>
                  </a:cubicBezTo>
                  <a:lnTo>
                    <a:pt x="26428" y="340731"/>
                  </a:lnTo>
                  <a:cubicBezTo>
                    <a:pt x="19419" y="340731"/>
                    <a:pt x="12697" y="337946"/>
                    <a:pt x="7740" y="332990"/>
                  </a:cubicBezTo>
                  <a:cubicBezTo>
                    <a:pt x="2784" y="328034"/>
                    <a:pt x="0" y="321312"/>
                    <a:pt x="0" y="314303"/>
                  </a:cubicBezTo>
                  <a:lnTo>
                    <a:pt x="0" y="26428"/>
                  </a:lnTo>
                  <a:cubicBezTo>
                    <a:pt x="0" y="19419"/>
                    <a:pt x="2784" y="12697"/>
                    <a:pt x="7740" y="7740"/>
                  </a:cubicBezTo>
                  <a:cubicBezTo>
                    <a:pt x="12697" y="2784"/>
                    <a:pt x="19419" y="0"/>
                    <a:pt x="26428" y="0"/>
                  </a:cubicBezTo>
                  <a:close/>
                </a:path>
              </a:pathLst>
            </a:custGeom>
            <a:solidFill>
              <a:srgbClr val="036E72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1504530" cy="350256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147519" y="4840377"/>
            <a:ext cx="623546" cy="629233"/>
            <a:chOff x="0" y="0"/>
            <a:chExt cx="246339" cy="24858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6339" cy="248586"/>
            </a:xfrm>
            <a:custGeom>
              <a:avLst/>
              <a:gdLst/>
              <a:ahLst/>
              <a:cxnLst/>
              <a:rect r="r" b="b" t="t" l="l"/>
              <a:pathLst>
                <a:path h="248586" w="246339">
                  <a:moveTo>
                    <a:pt x="123170" y="0"/>
                  </a:moveTo>
                  <a:lnTo>
                    <a:pt x="123170" y="0"/>
                  </a:lnTo>
                  <a:cubicBezTo>
                    <a:pt x="155836" y="0"/>
                    <a:pt x="187165" y="12977"/>
                    <a:pt x="210264" y="36076"/>
                  </a:cubicBezTo>
                  <a:cubicBezTo>
                    <a:pt x="233363" y="59174"/>
                    <a:pt x="246339" y="90503"/>
                    <a:pt x="246339" y="123170"/>
                  </a:cubicBezTo>
                  <a:lnTo>
                    <a:pt x="246339" y="125416"/>
                  </a:lnTo>
                  <a:cubicBezTo>
                    <a:pt x="246339" y="158083"/>
                    <a:pt x="233363" y="189412"/>
                    <a:pt x="210264" y="212510"/>
                  </a:cubicBezTo>
                  <a:cubicBezTo>
                    <a:pt x="187165" y="235609"/>
                    <a:pt x="155836" y="248586"/>
                    <a:pt x="123170" y="248586"/>
                  </a:cubicBezTo>
                  <a:lnTo>
                    <a:pt x="123170" y="248586"/>
                  </a:lnTo>
                  <a:cubicBezTo>
                    <a:pt x="90503" y="248586"/>
                    <a:pt x="59174" y="235609"/>
                    <a:pt x="36076" y="212510"/>
                  </a:cubicBezTo>
                  <a:cubicBezTo>
                    <a:pt x="12977" y="189412"/>
                    <a:pt x="0" y="158083"/>
                    <a:pt x="0" y="125416"/>
                  </a:cubicBezTo>
                  <a:lnTo>
                    <a:pt x="0" y="123170"/>
                  </a:lnTo>
                  <a:cubicBezTo>
                    <a:pt x="0" y="90503"/>
                    <a:pt x="12977" y="59174"/>
                    <a:pt x="36076" y="36076"/>
                  </a:cubicBezTo>
                  <a:cubicBezTo>
                    <a:pt x="59174" y="12977"/>
                    <a:pt x="90503" y="0"/>
                    <a:pt x="1231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246339" cy="258111"/>
            </a:xfrm>
            <a:prstGeom prst="rect">
              <a:avLst/>
            </a:prstGeom>
          </p:spPr>
          <p:txBody>
            <a:bodyPr anchor="ctr" rtlCol="false" tIns="47625" lIns="47625" bIns="47625" rIns="47625"/>
            <a:lstStyle/>
            <a:p>
              <a:pPr algn="ctr">
                <a:lnSpc>
                  <a:spcPts val="1575"/>
                </a:lnSpc>
              </a:pP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8260080" y="4967211"/>
            <a:ext cx="343643" cy="375566"/>
          </a:xfrm>
          <a:custGeom>
            <a:avLst/>
            <a:gdLst/>
            <a:ahLst/>
            <a:cxnLst/>
            <a:rect r="r" b="b" t="t" l="l"/>
            <a:pathLst>
              <a:path h="375566" w="343643">
                <a:moveTo>
                  <a:pt x="0" y="0"/>
                </a:moveTo>
                <a:lnTo>
                  <a:pt x="343643" y="0"/>
                </a:lnTo>
                <a:lnTo>
                  <a:pt x="343643" y="375566"/>
                </a:lnTo>
                <a:lnTo>
                  <a:pt x="0" y="3755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8287471" y="4076130"/>
            <a:ext cx="343643" cy="326461"/>
          </a:xfrm>
          <a:custGeom>
            <a:avLst/>
            <a:gdLst/>
            <a:ahLst/>
            <a:cxnLst/>
            <a:rect r="r" b="b" t="t" l="l"/>
            <a:pathLst>
              <a:path h="326461" w="343643">
                <a:moveTo>
                  <a:pt x="0" y="0"/>
                </a:moveTo>
                <a:lnTo>
                  <a:pt x="343643" y="0"/>
                </a:lnTo>
                <a:lnTo>
                  <a:pt x="343643" y="326461"/>
                </a:lnTo>
                <a:lnTo>
                  <a:pt x="0" y="3264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8270772" y="3091894"/>
            <a:ext cx="365011" cy="358623"/>
          </a:xfrm>
          <a:custGeom>
            <a:avLst/>
            <a:gdLst/>
            <a:ahLst/>
            <a:cxnLst/>
            <a:rect r="r" b="b" t="t" l="l"/>
            <a:pathLst>
              <a:path h="358623" w="365011">
                <a:moveTo>
                  <a:pt x="0" y="0"/>
                </a:moveTo>
                <a:lnTo>
                  <a:pt x="365010" y="0"/>
                </a:lnTo>
                <a:lnTo>
                  <a:pt x="365010" y="358623"/>
                </a:lnTo>
                <a:lnTo>
                  <a:pt x="0" y="3586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8282848" y="2170167"/>
            <a:ext cx="340857" cy="355368"/>
          </a:xfrm>
          <a:custGeom>
            <a:avLst/>
            <a:gdLst/>
            <a:ahLst/>
            <a:cxnLst/>
            <a:rect r="r" b="b" t="t" l="l"/>
            <a:pathLst>
              <a:path h="355368" w="340857">
                <a:moveTo>
                  <a:pt x="0" y="0"/>
                </a:moveTo>
                <a:lnTo>
                  <a:pt x="340858" y="0"/>
                </a:lnTo>
                <a:lnTo>
                  <a:pt x="340858" y="355368"/>
                </a:lnTo>
                <a:lnTo>
                  <a:pt x="0" y="35536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5508801" y="1448153"/>
            <a:ext cx="240890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b="true" sz="1875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Engagement Rate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186290" y="2326469"/>
            <a:ext cx="290347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21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AI-driven abstraction via Natural Language Processing (lowers learning curve).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244045" y="2059180"/>
            <a:ext cx="284572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218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AI-Driven Abstraction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5244045" y="3274067"/>
            <a:ext cx="279113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21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Validation before Infrastructure as Code (IaC) execution.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452158" y="3045765"/>
            <a:ext cx="256213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218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Human-in-the-Loop Validation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244045" y="4223910"/>
            <a:ext cx="279113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21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Proactive analysis using integrated Cost Estimator and Security/Risk Analyzer.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5486549" y="3966735"/>
            <a:ext cx="256213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218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Proactive Observability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267217" y="5138690"/>
            <a:ext cx="279937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21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Interface managing multiple providers (AWS, Azure, GCP).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486549" y="4910090"/>
            <a:ext cx="256213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218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Unified Single Interface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83739" y="249431"/>
            <a:ext cx="4176512" cy="391163"/>
          </a:xfrm>
          <a:custGeom>
            <a:avLst/>
            <a:gdLst/>
            <a:ahLst/>
            <a:cxnLst/>
            <a:rect r="r" b="b" t="t" l="l"/>
            <a:pathLst>
              <a:path h="391163" w="4176512">
                <a:moveTo>
                  <a:pt x="0" y="0"/>
                </a:moveTo>
                <a:lnTo>
                  <a:pt x="4176512" y="0"/>
                </a:lnTo>
                <a:lnTo>
                  <a:pt x="4176512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16843" y="6377878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6885" y="1357103"/>
            <a:ext cx="4349653" cy="4884592"/>
            <a:chOff x="0" y="0"/>
            <a:chExt cx="1718382" cy="1929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18382" cy="1929715"/>
            </a:xfrm>
            <a:custGeom>
              <a:avLst/>
              <a:gdLst/>
              <a:ahLst/>
              <a:cxnLst/>
              <a:rect r="r" b="b" t="t" l="l"/>
              <a:pathLst>
                <a:path h="1929715" w="1718382">
                  <a:moveTo>
                    <a:pt x="0" y="0"/>
                  </a:moveTo>
                  <a:lnTo>
                    <a:pt x="1718382" y="0"/>
                  </a:lnTo>
                  <a:lnTo>
                    <a:pt x="1718382" y="1929715"/>
                  </a:lnTo>
                  <a:lnTo>
                    <a:pt x="0" y="192971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18382" cy="1967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64859" y="1667187"/>
            <a:ext cx="3374498" cy="206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0"/>
              </a:lnSpc>
            </a:pPr>
            <a:r>
              <a:rPr lang="en-US" b="true" sz="1299" spc="15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1.Pr</a:t>
            </a:r>
            <a:r>
              <a:rPr lang="en-US" b="true" sz="1299" spc="15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ogramming Language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4481" y="3000880"/>
            <a:ext cx="4087194" cy="90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ext.j</a:t>
            </a: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 (Web App Framework)</a:t>
            </a:r>
          </a:p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Convex (Offline Sync &amp; Data Management)</a:t>
            </a:r>
          </a:p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PWA (Progressive Web App for Offline Support)</a:t>
            </a:r>
          </a:p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Redis Storage (Data Caching)</a:t>
            </a:r>
          </a:p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Tailwind CSS / Shadcn UI (UI Design)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5872" y="4293842"/>
            <a:ext cx="4296156" cy="206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0"/>
              </a:lnSpc>
            </a:pPr>
            <a:r>
              <a:rPr lang="en-US" b="true" sz="1299" spc="15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AI Automation &amp; Devlops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8972" y="4615050"/>
            <a:ext cx="3665288" cy="35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AI/NLP Engine: </a:t>
            </a:r>
            <a:r>
              <a:rPr lang="en-US" sz="1200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natural language processing &amp; Infra planning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8972" y="1900751"/>
            <a:ext cx="2475740" cy="35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JavaScript/Typescript</a:t>
            </a:r>
          </a:p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and Go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158099" y="1620983"/>
            <a:ext cx="330568" cy="330568"/>
          </a:xfrm>
          <a:custGeom>
            <a:avLst/>
            <a:gdLst/>
            <a:ahLst/>
            <a:cxnLst/>
            <a:rect r="r" b="b" t="t" l="l"/>
            <a:pathLst>
              <a:path h="330568" w="330568">
                <a:moveTo>
                  <a:pt x="0" y="0"/>
                </a:moveTo>
                <a:lnTo>
                  <a:pt x="330568" y="0"/>
                </a:lnTo>
                <a:lnTo>
                  <a:pt x="330568" y="330568"/>
                </a:lnTo>
                <a:lnTo>
                  <a:pt x="0" y="3305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667454" y="1718359"/>
            <a:ext cx="276601" cy="276601"/>
          </a:xfrm>
          <a:custGeom>
            <a:avLst/>
            <a:gdLst/>
            <a:ahLst/>
            <a:cxnLst/>
            <a:rect r="r" b="b" t="t" l="l"/>
            <a:pathLst>
              <a:path h="276601" w="276601">
                <a:moveTo>
                  <a:pt x="0" y="0"/>
                </a:moveTo>
                <a:lnTo>
                  <a:pt x="276601" y="0"/>
                </a:lnTo>
                <a:lnTo>
                  <a:pt x="276601" y="276601"/>
                </a:lnTo>
                <a:lnTo>
                  <a:pt x="0" y="276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250179" y="2022586"/>
            <a:ext cx="555575" cy="363814"/>
          </a:xfrm>
          <a:custGeom>
            <a:avLst/>
            <a:gdLst/>
            <a:ahLst/>
            <a:cxnLst/>
            <a:rect r="r" b="b" t="t" l="l"/>
            <a:pathLst>
              <a:path h="363814" w="555575">
                <a:moveTo>
                  <a:pt x="0" y="0"/>
                </a:moveTo>
                <a:lnTo>
                  <a:pt x="555575" y="0"/>
                </a:lnTo>
                <a:lnTo>
                  <a:pt x="555575" y="363813"/>
                </a:lnTo>
                <a:lnTo>
                  <a:pt x="0" y="36381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26565" r="0" b="-26143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063918" y="3705933"/>
            <a:ext cx="271557" cy="271557"/>
          </a:xfrm>
          <a:custGeom>
            <a:avLst/>
            <a:gdLst/>
            <a:ahLst/>
            <a:cxnLst/>
            <a:rect r="r" b="b" t="t" l="l"/>
            <a:pathLst>
              <a:path h="271557" w="271557">
                <a:moveTo>
                  <a:pt x="0" y="0"/>
                </a:moveTo>
                <a:lnTo>
                  <a:pt x="271557" y="0"/>
                </a:lnTo>
                <a:lnTo>
                  <a:pt x="271557" y="271558"/>
                </a:lnTo>
                <a:lnTo>
                  <a:pt x="0" y="27155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555771" y="3656725"/>
            <a:ext cx="388284" cy="266297"/>
          </a:xfrm>
          <a:custGeom>
            <a:avLst/>
            <a:gdLst/>
            <a:ahLst/>
            <a:cxnLst/>
            <a:rect r="r" b="b" t="t" l="l"/>
            <a:pathLst>
              <a:path h="266297" w="388284">
                <a:moveTo>
                  <a:pt x="0" y="0"/>
                </a:moveTo>
                <a:lnTo>
                  <a:pt x="388284" y="0"/>
                </a:lnTo>
                <a:lnTo>
                  <a:pt x="388284" y="266297"/>
                </a:lnTo>
                <a:lnTo>
                  <a:pt x="0" y="26629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24813" r="0" b="-20995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61529" y="5065121"/>
            <a:ext cx="355655" cy="355655"/>
          </a:xfrm>
          <a:custGeom>
            <a:avLst/>
            <a:gdLst/>
            <a:ahLst/>
            <a:cxnLst/>
            <a:rect r="r" b="b" t="t" l="l"/>
            <a:pathLst>
              <a:path h="355655" w="355655">
                <a:moveTo>
                  <a:pt x="0" y="0"/>
                </a:moveTo>
                <a:lnTo>
                  <a:pt x="355655" y="0"/>
                </a:lnTo>
                <a:lnTo>
                  <a:pt x="355655" y="355656"/>
                </a:lnTo>
                <a:lnTo>
                  <a:pt x="0" y="35565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86885" y="1069634"/>
            <a:ext cx="4349653" cy="306737"/>
            <a:chOff x="0" y="0"/>
            <a:chExt cx="1718382" cy="1211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18382" cy="121180"/>
            </a:xfrm>
            <a:custGeom>
              <a:avLst/>
              <a:gdLst/>
              <a:ahLst/>
              <a:cxnLst/>
              <a:rect r="r" b="b" t="t" l="l"/>
              <a:pathLst>
                <a:path h="121180" w="1718382">
                  <a:moveTo>
                    <a:pt x="0" y="0"/>
                  </a:moveTo>
                  <a:lnTo>
                    <a:pt x="1718382" y="0"/>
                  </a:lnTo>
                  <a:lnTo>
                    <a:pt x="1718382" y="121180"/>
                  </a:lnTo>
                  <a:lnTo>
                    <a:pt x="0" y="121180"/>
                  </a:lnTo>
                  <a:close/>
                </a:path>
              </a:pathLst>
            </a:custGeom>
            <a:solidFill>
              <a:srgbClr val="029B9D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18382" cy="15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658857" y="1347578"/>
            <a:ext cx="4349653" cy="4884592"/>
            <a:chOff x="0" y="0"/>
            <a:chExt cx="1718382" cy="19297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8382" cy="1929715"/>
            </a:xfrm>
            <a:custGeom>
              <a:avLst/>
              <a:gdLst/>
              <a:ahLst/>
              <a:cxnLst/>
              <a:rect r="r" b="b" t="t" l="l"/>
              <a:pathLst>
                <a:path h="1929715" w="1718382">
                  <a:moveTo>
                    <a:pt x="0" y="0"/>
                  </a:moveTo>
                  <a:lnTo>
                    <a:pt x="1718382" y="0"/>
                  </a:lnTo>
                  <a:lnTo>
                    <a:pt x="1718382" y="1929715"/>
                  </a:lnTo>
                  <a:lnTo>
                    <a:pt x="0" y="192971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718382" cy="1967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836831" y="1657662"/>
            <a:ext cx="3374498" cy="206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0"/>
              </a:lnSpc>
            </a:pPr>
            <a:r>
              <a:rPr lang="en-US" b="true" sz="1299" spc="15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1.Client Side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801972" y="3696408"/>
            <a:ext cx="4296156" cy="206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0"/>
              </a:lnSpc>
            </a:pPr>
            <a:r>
              <a:rPr lang="en-US" b="true" sz="1299" spc="15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AI Automation &amp; Devlops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893540" y="4042547"/>
            <a:ext cx="3665288" cy="35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 Service provider: </a:t>
            </a:r>
            <a:r>
              <a:rPr lang="en-US" sz="1200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Active accounts for AWS, Azure &amp; GCP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658857" y="1060109"/>
            <a:ext cx="4349653" cy="306737"/>
            <a:chOff x="0" y="0"/>
            <a:chExt cx="1718382" cy="1211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18382" cy="121180"/>
            </a:xfrm>
            <a:custGeom>
              <a:avLst/>
              <a:gdLst/>
              <a:ahLst/>
              <a:cxnLst/>
              <a:rect r="r" b="b" t="t" l="l"/>
              <a:pathLst>
                <a:path h="121180" w="1718382">
                  <a:moveTo>
                    <a:pt x="0" y="0"/>
                  </a:moveTo>
                  <a:lnTo>
                    <a:pt x="1718382" y="0"/>
                  </a:lnTo>
                  <a:lnTo>
                    <a:pt x="1718382" y="121180"/>
                  </a:lnTo>
                  <a:lnTo>
                    <a:pt x="0" y="121180"/>
                  </a:lnTo>
                  <a:close/>
                </a:path>
              </a:pathLst>
            </a:custGeom>
            <a:solidFill>
              <a:srgbClr val="029B9D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718382" cy="15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3465205" y="4041283"/>
            <a:ext cx="903959" cy="224985"/>
          </a:xfrm>
          <a:custGeom>
            <a:avLst/>
            <a:gdLst/>
            <a:ahLst/>
            <a:cxnLst/>
            <a:rect r="r" b="b" t="t" l="l"/>
            <a:pathLst>
              <a:path h="224985" w="903959">
                <a:moveTo>
                  <a:pt x="0" y="0"/>
                </a:moveTo>
                <a:lnTo>
                  <a:pt x="903959" y="0"/>
                </a:lnTo>
                <a:lnTo>
                  <a:pt x="903959" y="224985"/>
                </a:lnTo>
                <a:lnTo>
                  <a:pt x="0" y="22498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141563" y="4004184"/>
            <a:ext cx="293541" cy="299183"/>
          </a:xfrm>
          <a:custGeom>
            <a:avLst/>
            <a:gdLst/>
            <a:ahLst/>
            <a:cxnLst/>
            <a:rect r="r" b="b" t="t" l="l"/>
            <a:pathLst>
              <a:path h="299183" w="293541">
                <a:moveTo>
                  <a:pt x="0" y="0"/>
                </a:moveTo>
                <a:lnTo>
                  <a:pt x="293541" y="0"/>
                </a:lnTo>
                <a:lnTo>
                  <a:pt x="293541" y="299183"/>
                </a:lnTo>
                <a:lnTo>
                  <a:pt x="0" y="29918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1922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126003" y="2867327"/>
            <a:ext cx="374648" cy="374648"/>
          </a:xfrm>
          <a:custGeom>
            <a:avLst/>
            <a:gdLst/>
            <a:ahLst/>
            <a:cxnLst/>
            <a:rect r="r" b="b" t="t" l="l"/>
            <a:pathLst>
              <a:path h="374648" w="374648">
                <a:moveTo>
                  <a:pt x="0" y="0"/>
                </a:moveTo>
                <a:lnTo>
                  <a:pt x="374649" y="0"/>
                </a:lnTo>
                <a:lnTo>
                  <a:pt x="374649" y="374648"/>
                </a:lnTo>
                <a:lnTo>
                  <a:pt x="0" y="37464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8500652" y="3054651"/>
            <a:ext cx="339888" cy="339888"/>
          </a:xfrm>
          <a:custGeom>
            <a:avLst/>
            <a:gdLst/>
            <a:ahLst/>
            <a:cxnLst/>
            <a:rect r="r" b="b" t="t" l="l"/>
            <a:pathLst>
              <a:path h="339888" w="339888">
                <a:moveTo>
                  <a:pt x="0" y="0"/>
                </a:moveTo>
                <a:lnTo>
                  <a:pt x="339887" y="0"/>
                </a:lnTo>
                <a:lnTo>
                  <a:pt x="339887" y="339888"/>
                </a:lnTo>
                <a:lnTo>
                  <a:pt x="0" y="33988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061914" y="3263912"/>
            <a:ext cx="330176" cy="330176"/>
          </a:xfrm>
          <a:custGeom>
            <a:avLst/>
            <a:gdLst/>
            <a:ahLst/>
            <a:cxnLst/>
            <a:rect r="r" b="b" t="t" l="l"/>
            <a:pathLst>
              <a:path h="330176" w="330176">
                <a:moveTo>
                  <a:pt x="0" y="0"/>
                </a:moveTo>
                <a:lnTo>
                  <a:pt x="330176" y="0"/>
                </a:lnTo>
                <a:lnTo>
                  <a:pt x="330176" y="330176"/>
                </a:lnTo>
                <a:lnTo>
                  <a:pt x="0" y="33017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611314" y="4529325"/>
            <a:ext cx="359512" cy="359512"/>
          </a:xfrm>
          <a:custGeom>
            <a:avLst/>
            <a:gdLst/>
            <a:ahLst/>
            <a:cxnLst/>
            <a:rect r="r" b="b" t="t" l="l"/>
            <a:pathLst>
              <a:path h="359512" w="359512">
                <a:moveTo>
                  <a:pt x="0" y="0"/>
                </a:moveTo>
                <a:lnTo>
                  <a:pt x="359512" y="0"/>
                </a:lnTo>
                <a:lnTo>
                  <a:pt x="359512" y="359512"/>
                </a:lnTo>
                <a:lnTo>
                  <a:pt x="0" y="35951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3478015" y="5547741"/>
            <a:ext cx="379120" cy="379120"/>
          </a:xfrm>
          <a:custGeom>
            <a:avLst/>
            <a:gdLst/>
            <a:ahLst/>
            <a:cxnLst/>
            <a:rect r="r" b="b" t="t" l="l"/>
            <a:pathLst>
              <a:path h="379120" w="379120">
                <a:moveTo>
                  <a:pt x="0" y="0"/>
                </a:moveTo>
                <a:lnTo>
                  <a:pt x="379121" y="0"/>
                </a:lnTo>
                <a:lnTo>
                  <a:pt x="379121" y="379120"/>
                </a:lnTo>
                <a:lnTo>
                  <a:pt x="0" y="37912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3013072" y="5516027"/>
            <a:ext cx="393453" cy="393453"/>
          </a:xfrm>
          <a:custGeom>
            <a:avLst/>
            <a:gdLst/>
            <a:ahLst/>
            <a:cxnLst/>
            <a:rect r="r" b="b" t="t" l="l"/>
            <a:pathLst>
              <a:path h="393453" w="393453">
                <a:moveTo>
                  <a:pt x="0" y="0"/>
                </a:moveTo>
                <a:lnTo>
                  <a:pt x="393453" y="0"/>
                </a:lnTo>
                <a:lnTo>
                  <a:pt x="393453" y="393452"/>
                </a:lnTo>
                <a:lnTo>
                  <a:pt x="0" y="39345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3979819" y="5083934"/>
            <a:ext cx="355655" cy="355655"/>
          </a:xfrm>
          <a:custGeom>
            <a:avLst/>
            <a:gdLst/>
            <a:ahLst/>
            <a:cxnLst/>
            <a:rect r="r" b="b" t="t" l="l"/>
            <a:pathLst>
              <a:path h="355655" w="355655">
                <a:moveTo>
                  <a:pt x="0" y="0"/>
                </a:moveTo>
                <a:lnTo>
                  <a:pt x="355656" y="0"/>
                </a:lnTo>
                <a:lnTo>
                  <a:pt x="355656" y="355656"/>
                </a:lnTo>
                <a:lnTo>
                  <a:pt x="0" y="35565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3944055" y="2114055"/>
            <a:ext cx="392223" cy="392223"/>
          </a:xfrm>
          <a:custGeom>
            <a:avLst/>
            <a:gdLst/>
            <a:ahLst/>
            <a:cxnLst/>
            <a:rect r="r" b="b" t="t" l="l"/>
            <a:pathLst>
              <a:path h="392223" w="392223">
                <a:moveTo>
                  <a:pt x="0" y="0"/>
                </a:moveTo>
                <a:lnTo>
                  <a:pt x="392223" y="0"/>
                </a:lnTo>
                <a:lnTo>
                  <a:pt x="392223" y="392223"/>
                </a:lnTo>
                <a:lnTo>
                  <a:pt x="0" y="392223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2711921" y="1930696"/>
            <a:ext cx="446178" cy="446178"/>
          </a:xfrm>
          <a:custGeom>
            <a:avLst/>
            <a:gdLst/>
            <a:ahLst/>
            <a:cxnLst/>
            <a:rect r="r" b="b" t="t" l="l"/>
            <a:pathLst>
              <a:path h="446178" w="446178">
                <a:moveTo>
                  <a:pt x="0" y="0"/>
                </a:moveTo>
                <a:lnTo>
                  <a:pt x="446178" y="0"/>
                </a:lnTo>
                <a:lnTo>
                  <a:pt x="446178" y="446178"/>
                </a:lnTo>
                <a:lnTo>
                  <a:pt x="0" y="446178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7859917" y="1728091"/>
            <a:ext cx="532172" cy="532172"/>
          </a:xfrm>
          <a:custGeom>
            <a:avLst/>
            <a:gdLst/>
            <a:ahLst/>
            <a:cxnLst/>
            <a:rect r="r" b="b" t="t" l="l"/>
            <a:pathLst>
              <a:path h="532172" w="532172">
                <a:moveTo>
                  <a:pt x="0" y="0"/>
                </a:moveTo>
                <a:lnTo>
                  <a:pt x="532173" y="0"/>
                </a:lnTo>
                <a:lnTo>
                  <a:pt x="532173" y="532172"/>
                </a:lnTo>
                <a:lnTo>
                  <a:pt x="0" y="532172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395376" y="2041737"/>
            <a:ext cx="464542" cy="464542"/>
          </a:xfrm>
          <a:custGeom>
            <a:avLst/>
            <a:gdLst/>
            <a:ahLst/>
            <a:cxnLst/>
            <a:rect r="r" b="b" t="t" l="l"/>
            <a:pathLst>
              <a:path h="464542" w="464542">
                <a:moveTo>
                  <a:pt x="0" y="0"/>
                </a:moveTo>
                <a:lnTo>
                  <a:pt x="464541" y="0"/>
                </a:lnTo>
                <a:lnTo>
                  <a:pt x="464541" y="464541"/>
                </a:lnTo>
                <a:lnTo>
                  <a:pt x="0" y="46454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4920944" y="1891226"/>
            <a:ext cx="2475740" cy="35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 Browser &amp; Extension</a:t>
            </a:r>
          </a:p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Storing API Key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496445" y="231753"/>
            <a:ext cx="415118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Hardware/Software Requirement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446589" y="6457940"/>
            <a:ext cx="154517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611314" y="645794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75872" y="2669944"/>
            <a:ext cx="2380179" cy="206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0"/>
              </a:lnSpc>
            </a:pPr>
            <a:r>
              <a:rPr lang="en-US" b="true" sz="1299" spc="15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Frameworks and Libraries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34481" y="5060287"/>
            <a:ext cx="2948556" cy="17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IAC Tool: </a:t>
            </a:r>
            <a:r>
              <a:rPr lang="en-US" sz="1200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Terraform for generation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25653" y="1141457"/>
            <a:ext cx="1487572" cy="1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86"/>
              </a:lnSpc>
            </a:pPr>
            <a:r>
              <a:rPr lang="en-US" b="true" sz="1299" spc="2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Application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34481" y="5305498"/>
            <a:ext cx="2948556" cy="35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Containerization Tool: </a:t>
            </a:r>
            <a:r>
              <a:rPr lang="en-US" sz="1200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Docker for application viratualiztion.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906453" y="2991355"/>
            <a:ext cx="4087194" cy="35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Postgresql, VectorDB and Redis</a:t>
            </a:r>
          </a:p>
          <a:p>
            <a:pPr algn="l" marL="259080" indent="-129540" lvl="1">
              <a:lnSpc>
                <a:spcPts val="1459"/>
              </a:lnSpc>
              <a:buFont typeface="Arial"/>
              <a:buChar char="•"/>
            </a:pPr>
            <a:r>
              <a:rPr lang="en-US" b="true" sz="1200" spc="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 (OAuth 2.0 ):</a:t>
            </a:r>
            <a:r>
              <a:rPr lang="en-US" sz="1200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Github OAuth/SSO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847844" y="2660419"/>
            <a:ext cx="2380179" cy="206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0"/>
              </a:lnSpc>
            </a:pPr>
            <a:r>
              <a:rPr lang="en-US" b="true" sz="1299" spc="15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Data, Storage &amp; Auth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704153" y="1131932"/>
            <a:ext cx="2259062" cy="1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86"/>
              </a:lnSpc>
            </a:pPr>
            <a:r>
              <a:rPr lang="en-US" b="true" sz="1299" spc="2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Client, Data &amp; Integrations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7425650" y="4544934"/>
            <a:ext cx="434267" cy="379603"/>
          </a:xfrm>
          <a:custGeom>
            <a:avLst/>
            <a:gdLst/>
            <a:ahLst/>
            <a:cxnLst/>
            <a:rect r="r" b="b" t="t" l="l"/>
            <a:pathLst>
              <a:path h="379603" w="434267">
                <a:moveTo>
                  <a:pt x="0" y="0"/>
                </a:moveTo>
                <a:lnTo>
                  <a:pt x="434267" y="0"/>
                </a:lnTo>
                <a:lnTo>
                  <a:pt x="434267" y="379602"/>
                </a:lnTo>
                <a:lnTo>
                  <a:pt x="0" y="379602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-1440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6450036" y="4559872"/>
            <a:ext cx="767295" cy="328965"/>
          </a:xfrm>
          <a:custGeom>
            <a:avLst/>
            <a:gdLst/>
            <a:ahLst/>
            <a:cxnLst/>
            <a:rect r="r" b="b" t="t" l="l"/>
            <a:pathLst>
              <a:path h="328965" w="767295">
                <a:moveTo>
                  <a:pt x="0" y="0"/>
                </a:moveTo>
                <a:lnTo>
                  <a:pt x="767295" y="0"/>
                </a:lnTo>
                <a:lnTo>
                  <a:pt x="767295" y="328965"/>
                </a:lnTo>
                <a:lnTo>
                  <a:pt x="0" y="32896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-75113" r="0" b="-58132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5807223" y="4478370"/>
            <a:ext cx="461422" cy="461422"/>
          </a:xfrm>
          <a:custGeom>
            <a:avLst/>
            <a:gdLst/>
            <a:ahLst/>
            <a:cxnLst/>
            <a:rect r="r" b="b" t="t" l="l"/>
            <a:pathLst>
              <a:path h="461422" w="461422">
                <a:moveTo>
                  <a:pt x="0" y="0"/>
                </a:moveTo>
                <a:lnTo>
                  <a:pt x="461422" y="0"/>
                </a:lnTo>
                <a:lnTo>
                  <a:pt x="461422" y="461422"/>
                </a:lnTo>
                <a:lnTo>
                  <a:pt x="0" y="461422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16843" y="6377878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468109" y="1122407"/>
            <a:ext cx="4430476" cy="1700731"/>
            <a:chOff x="0" y="0"/>
            <a:chExt cx="1750311" cy="6718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0311" cy="671894"/>
            </a:xfrm>
            <a:custGeom>
              <a:avLst/>
              <a:gdLst/>
              <a:ahLst/>
              <a:cxnLst/>
              <a:rect r="r" b="b" t="t" l="l"/>
              <a:pathLst>
                <a:path h="671894" w="1750311">
                  <a:moveTo>
                    <a:pt x="0" y="0"/>
                  </a:moveTo>
                  <a:lnTo>
                    <a:pt x="1750311" y="0"/>
                  </a:lnTo>
                  <a:lnTo>
                    <a:pt x="1750311" y="671894"/>
                  </a:lnTo>
                  <a:lnTo>
                    <a:pt x="0" y="671894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50311" cy="70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25653" y="1141457"/>
            <a:ext cx="1487572" cy="1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86"/>
              </a:lnSpc>
            </a:pPr>
            <a:r>
              <a:rPr lang="en-US" b="true" sz="1299" spc="2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Application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28464" y="1122407"/>
            <a:ext cx="4159437" cy="5255471"/>
            <a:chOff x="0" y="0"/>
            <a:chExt cx="1643234" cy="20762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3234" cy="2076235"/>
            </a:xfrm>
            <a:custGeom>
              <a:avLst/>
              <a:gdLst/>
              <a:ahLst/>
              <a:cxnLst/>
              <a:rect r="r" b="b" t="t" l="l"/>
              <a:pathLst>
                <a:path h="2076235" w="1643234">
                  <a:moveTo>
                    <a:pt x="0" y="0"/>
                  </a:moveTo>
                  <a:lnTo>
                    <a:pt x="1643234" y="0"/>
                  </a:lnTo>
                  <a:lnTo>
                    <a:pt x="1643234" y="2076235"/>
                  </a:lnTo>
                  <a:lnTo>
                    <a:pt x="0" y="207623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3234" cy="2114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614730" y="1237077"/>
            <a:ext cx="4278659" cy="1567890"/>
          </a:xfrm>
          <a:custGeom>
            <a:avLst/>
            <a:gdLst/>
            <a:ahLst/>
            <a:cxnLst/>
            <a:rect r="r" b="b" t="t" l="l"/>
            <a:pathLst>
              <a:path h="1567890" w="4278659">
                <a:moveTo>
                  <a:pt x="0" y="0"/>
                </a:moveTo>
                <a:lnTo>
                  <a:pt x="4278658" y="0"/>
                </a:lnTo>
                <a:lnTo>
                  <a:pt x="4278658" y="1567890"/>
                </a:lnTo>
                <a:lnTo>
                  <a:pt x="0" y="15678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3158" r="0" b="-953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4148" y="4799666"/>
            <a:ext cx="4490581" cy="17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468109" y="2927447"/>
            <a:ext cx="4430476" cy="3450431"/>
          </a:xfrm>
          <a:custGeom>
            <a:avLst/>
            <a:gdLst/>
            <a:ahLst/>
            <a:cxnLst/>
            <a:rect r="r" b="b" t="t" l="l"/>
            <a:pathLst>
              <a:path h="3450431" w="4430476">
                <a:moveTo>
                  <a:pt x="0" y="0"/>
                </a:moveTo>
                <a:lnTo>
                  <a:pt x="4430476" y="0"/>
                </a:lnTo>
                <a:lnTo>
                  <a:pt x="4430476" y="3450431"/>
                </a:lnTo>
                <a:lnTo>
                  <a:pt x="0" y="34504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3906" t="-7118" r="-22563" b="-7001"/>
            </a:stretch>
          </a:blipFill>
          <a:ln w="19050" cap="sq">
            <a:solidFill>
              <a:srgbClr val="03989E"/>
            </a:solidFill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8446589" y="6457940"/>
            <a:ext cx="154517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11314" y="645794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5774" y="1227552"/>
            <a:ext cx="3970690" cy="93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80"/>
              </a:lnSpc>
            </a:pPr>
            <a:r>
              <a:rPr lang="en-US" b="true" sz="1299" spc="15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.Requirement Analysis and AI Modeling</a:t>
            </a:r>
          </a:p>
          <a:p>
            <a:pPr algn="just">
              <a:lnSpc>
                <a:spcPts val="1459"/>
              </a:lnSpc>
              <a:spcBef>
                <a:spcPct val="0"/>
              </a:spcBef>
            </a:pPr>
            <a:r>
              <a:rPr lang="en-US" sz="1200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 LLM-based Cl</a:t>
            </a:r>
            <a:r>
              <a:rPr lang="en-US" sz="1200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oud Architect Agent parses natural language inputs into structured JSON technical specifications.</a:t>
            </a:r>
          </a:p>
          <a:p>
            <a:pPr algn="just">
              <a:lnSpc>
                <a:spcPts val="145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85774" y="2177512"/>
            <a:ext cx="3970690" cy="74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80"/>
              </a:lnSpc>
              <a:spcBef>
                <a:spcPct val="0"/>
              </a:spcBef>
            </a:pPr>
            <a:r>
              <a:rPr lang="en-US" b="true" sz="1299" spc="15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2.AI-Driven Infrastruct</a:t>
            </a:r>
            <a:r>
              <a:rPr lang="en-US" b="true" sz="1299" spc="15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ure Generation</a:t>
            </a:r>
          </a:p>
          <a:p>
            <a:pPr algn="just">
              <a:lnSpc>
                <a:spcPts val="1459"/>
              </a:lnSpc>
              <a:spcBef>
                <a:spcPct val="0"/>
              </a:spcBef>
            </a:pPr>
            <a:r>
              <a:rPr lang="en-US" sz="1200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JSON specifications are converted into Terraform (HCL) code to ensure reproducible and standardized AWS deployments.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78706" y="262890"/>
            <a:ext cx="3386588" cy="46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Proposed Methodology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4144" y="3118317"/>
            <a:ext cx="393395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19"/>
              </a:lnSpc>
            </a:pPr>
            <a:r>
              <a:rPr lang="en-US" sz="1299" b="true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3.Cost and Security Validation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integrates the AWS Pricing API for real-time cost estimation and utilizes static analysis tools for pre-deployment security scanning.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4144" y="4193192"/>
            <a:ext cx="397069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19"/>
              </a:lnSpc>
            </a:pPr>
            <a:r>
              <a:rPr lang="en-US" sz="1299" b="true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4.Human-in-the-Loop (HITL) Gating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mandat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ory review stage where users must explicitly verify and approve the infrastructure plan before any resources are provisioned.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4144" y="5255728"/>
            <a:ext cx="393395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19"/>
              </a:lnSpc>
              <a:spcBef>
                <a:spcPct val="0"/>
              </a:spcBef>
            </a:pPr>
            <a:r>
              <a:rPr lang="en-US" b="true" sz="1299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5.Secure IAM Integrati</a:t>
            </a:r>
            <a:r>
              <a:rPr lang="en-US" b="true" sz="1299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AWS Security Token Service (STS) to assume temporary roles, eliminating the need for long-term access keys and enhancing security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83739" y="249431"/>
            <a:ext cx="4176512" cy="391163"/>
          </a:xfrm>
          <a:custGeom>
            <a:avLst/>
            <a:gdLst/>
            <a:ahLst/>
            <a:cxnLst/>
            <a:rect r="r" b="b" t="t" l="l"/>
            <a:pathLst>
              <a:path h="391163" w="4176512">
                <a:moveTo>
                  <a:pt x="0" y="0"/>
                </a:moveTo>
                <a:lnTo>
                  <a:pt x="4176512" y="0"/>
                </a:lnTo>
                <a:lnTo>
                  <a:pt x="4176512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16843" y="6377878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5653" y="1141457"/>
            <a:ext cx="1487572" cy="1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86"/>
              </a:lnSpc>
            </a:pPr>
            <a:r>
              <a:rPr lang="en-US" b="true" sz="1299" spc="2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Application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208103" y="3868049"/>
            <a:ext cx="1700493" cy="1122100"/>
            <a:chOff x="0" y="0"/>
            <a:chExt cx="671800" cy="4432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1800" cy="443299"/>
            </a:xfrm>
            <a:custGeom>
              <a:avLst/>
              <a:gdLst/>
              <a:ahLst/>
              <a:cxnLst/>
              <a:rect r="r" b="b" t="t" l="l"/>
              <a:pathLst>
                <a:path h="443299" w="671800">
                  <a:moveTo>
                    <a:pt x="0" y="0"/>
                  </a:moveTo>
                  <a:lnTo>
                    <a:pt x="671800" y="0"/>
                  </a:lnTo>
                  <a:lnTo>
                    <a:pt x="671800" y="443299"/>
                  </a:lnTo>
                  <a:lnTo>
                    <a:pt x="0" y="443299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3989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71800" cy="481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2543288" y="2038507"/>
            <a:ext cx="569654" cy="16961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 flipV="true">
            <a:off x="6098682" y="2028982"/>
            <a:ext cx="570064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7247640" y="3905909"/>
            <a:ext cx="1622673" cy="1029600"/>
          </a:xfrm>
          <a:custGeom>
            <a:avLst/>
            <a:gdLst/>
            <a:ahLst/>
            <a:cxnLst/>
            <a:rect r="r" b="b" t="t" l="l"/>
            <a:pathLst>
              <a:path h="1029600" w="1622673">
                <a:moveTo>
                  <a:pt x="0" y="0"/>
                </a:moveTo>
                <a:lnTo>
                  <a:pt x="1622673" y="0"/>
                </a:lnTo>
                <a:lnTo>
                  <a:pt x="1622673" y="1029600"/>
                </a:lnTo>
                <a:lnTo>
                  <a:pt x="0" y="10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8058350" y="2926038"/>
            <a:ext cx="0" cy="942011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 flipH="true">
            <a:off x="6650726" y="4393508"/>
            <a:ext cx="570064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342764" y="1172463"/>
            <a:ext cx="2140975" cy="1900115"/>
          </a:xfrm>
          <a:custGeom>
            <a:avLst/>
            <a:gdLst/>
            <a:ahLst/>
            <a:cxnLst/>
            <a:rect r="r" b="b" t="t" l="l"/>
            <a:pathLst>
              <a:path h="1900115" w="2140975">
                <a:moveTo>
                  <a:pt x="0" y="0"/>
                </a:moveTo>
                <a:lnTo>
                  <a:pt x="2140975" y="0"/>
                </a:lnTo>
                <a:lnTo>
                  <a:pt x="2140975" y="1900115"/>
                </a:lnTo>
                <a:lnTo>
                  <a:pt x="0" y="19001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224958" y="1502219"/>
            <a:ext cx="2873723" cy="1240603"/>
          </a:xfrm>
          <a:custGeom>
            <a:avLst/>
            <a:gdLst/>
            <a:ahLst/>
            <a:cxnLst/>
            <a:rect r="r" b="b" t="t" l="l"/>
            <a:pathLst>
              <a:path h="1240603" w="2873723">
                <a:moveTo>
                  <a:pt x="0" y="0"/>
                </a:moveTo>
                <a:lnTo>
                  <a:pt x="2873724" y="0"/>
                </a:lnTo>
                <a:lnTo>
                  <a:pt x="2873724" y="1240603"/>
                </a:lnTo>
                <a:lnTo>
                  <a:pt x="0" y="12406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4218" t="0" r="-2724" b="-3253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725896" y="1429087"/>
            <a:ext cx="2181459" cy="1458851"/>
          </a:xfrm>
          <a:custGeom>
            <a:avLst/>
            <a:gdLst/>
            <a:ahLst/>
            <a:cxnLst/>
            <a:rect r="r" b="b" t="t" l="l"/>
            <a:pathLst>
              <a:path h="1458851" w="2181459">
                <a:moveTo>
                  <a:pt x="0" y="0"/>
                </a:moveTo>
                <a:lnTo>
                  <a:pt x="2181459" y="0"/>
                </a:lnTo>
                <a:lnTo>
                  <a:pt x="2181459" y="1458851"/>
                </a:lnTo>
                <a:lnTo>
                  <a:pt x="0" y="145885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71263" y="3364720"/>
            <a:ext cx="3555337" cy="2128758"/>
          </a:xfrm>
          <a:custGeom>
            <a:avLst/>
            <a:gdLst/>
            <a:ahLst/>
            <a:cxnLst/>
            <a:rect r="r" b="b" t="t" l="l"/>
            <a:pathLst>
              <a:path h="2128758" w="3555337">
                <a:moveTo>
                  <a:pt x="0" y="0"/>
                </a:moveTo>
                <a:lnTo>
                  <a:pt x="3555337" y="0"/>
                </a:lnTo>
                <a:lnTo>
                  <a:pt x="3555337" y="2128758"/>
                </a:lnTo>
                <a:lnTo>
                  <a:pt x="0" y="212875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904496" y="241935"/>
            <a:ext cx="4929188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Experimental results/Output/Snapshots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46589" y="6457940"/>
            <a:ext cx="154517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11314" y="645794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33684" y="1172463"/>
            <a:ext cx="1901756" cy="17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9"/>
              </a:lnSpc>
            </a:pPr>
            <a:r>
              <a:rPr lang="en-US" b="true" sz="1200" spc="14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Infrastruc</a:t>
            </a:r>
            <a:r>
              <a:rPr lang="en-US" b="true" sz="1200" spc="14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ture Planning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07472" y="5009199"/>
            <a:ext cx="1901756" cy="17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9"/>
              </a:lnSpc>
            </a:pPr>
            <a:r>
              <a:rPr lang="en-US" b="true" sz="1200" spc="14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Cost &amp;</a:t>
            </a:r>
            <a:r>
              <a:rPr lang="en-US" b="true" sz="1200" spc="14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Risk Assessment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80154" y="5592743"/>
            <a:ext cx="2107777" cy="17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9"/>
              </a:lnSpc>
            </a:pPr>
            <a:r>
              <a:rPr lang="en-US" b="true" sz="1200" spc="14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IaC</a:t>
            </a:r>
            <a:r>
              <a:rPr lang="en-US" b="true" sz="1200" spc="14">
                <a:solidFill>
                  <a:srgbClr val="029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Generation &amp; Execution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83739" y="249431"/>
            <a:ext cx="4176512" cy="391163"/>
          </a:xfrm>
          <a:custGeom>
            <a:avLst/>
            <a:gdLst/>
            <a:ahLst/>
            <a:cxnLst/>
            <a:rect r="r" b="b" t="t" l="l"/>
            <a:pathLst>
              <a:path h="391163" w="4176512">
                <a:moveTo>
                  <a:pt x="0" y="0"/>
                </a:moveTo>
                <a:lnTo>
                  <a:pt x="4176512" y="0"/>
                </a:lnTo>
                <a:lnTo>
                  <a:pt x="4176512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16843" y="6377878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46589" y="6457940"/>
            <a:ext cx="154517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11314" y="645794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94561" y="278663"/>
            <a:ext cx="4403050" cy="35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8"/>
              </a:lnSpc>
              <a:spcBef>
                <a:spcPct val="0"/>
              </a:spcBef>
            </a:pPr>
            <a:r>
              <a:rPr lang="en-US" sz="2399" spc="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Conclusion and Future Scope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572000" y="1223968"/>
            <a:ext cx="4486813" cy="4957757"/>
            <a:chOff x="0" y="0"/>
            <a:chExt cx="5982418" cy="661034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395001"/>
              <a:ext cx="5982418" cy="6215342"/>
              <a:chOff x="0" y="0"/>
              <a:chExt cx="1772568" cy="184158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772568" cy="1841583"/>
              </a:xfrm>
              <a:custGeom>
                <a:avLst/>
                <a:gdLst/>
                <a:ahLst/>
                <a:cxnLst/>
                <a:rect r="r" b="b" t="t" l="l"/>
                <a:pathLst>
                  <a:path h="1841583" w="1772568">
                    <a:moveTo>
                      <a:pt x="0" y="0"/>
                    </a:moveTo>
                    <a:lnTo>
                      <a:pt x="1772568" y="0"/>
                    </a:lnTo>
                    <a:lnTo>
                      <a:pt x="1772568" y="1841583"/>
                    </a:lnTo>
                    <a:lnTo>
                      <a:pt x="0" y="1841583"/>
                    </a:ln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03989E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772568" cy="18796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79"/>
                  </a:lnSpc>
                </a:pPr>
              </a:p>
              <a:p>
                <a:pPr algn="ctr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0"/>
              <a:ext cx="5982418" cy="395001"/>
              <a:chOff x="0" y="0"/>
              <a:chExt cx="1772568" cy="11703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72568" cy="117037"/>
              </a:xfrm>
              <a:custGeom>
                <a:avLst/>
                <a:gdLst/>
                <a:ahLst/>
                <a:cxnLst/>
                <a:rect r="r" b="b" t="t" l="l"/>
                <a:pathLst>
                  <a:path h="117037" w="1772568">
                    <a:moveTo>
                      <a:pt x="0" y="0"/>
                    </a:moveTo>
                    <a:lnTo>
                      <a:pt x="1772568" y="0"/>
                    </a:lnTo>
                    <a:lnTo>
                      <a:pt x="1772568" y="117037"/>
                    </a:lnTo>
                    <a:lnTo>
                      <a:pt x="0" y="117037"/>
                    </a:lnTo>
                    <a:close/>
                  </a:path>
                </a:pathLst>
              </a:custGeom>
              <a:solidFill>
                <a:srgbClr val="029B9D"/>
              </a:solidFill>
              <a:ln w="14288" cap="sq">
                <a:solidFill>
                  <a:srgbClr val="03989E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772568" cy="1551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98471" y="486403"/>
              <a:ext cx="5701067" cy="1096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Full </a:t>
              </a:r>
              <a:r>
                <a:rPr lang="en-US" b="true" sz="1200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Multi-Cloud Integration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Extend platform adapters to include Microsoft Azure and Google Cloud Platform for a unified cross-provider experience.</a:t>
              </a:r>
            </a:p>
            <a:p>
              <a:pPr algn="just">
                <a:lnSpc>
                  <a:spcPts val="1679"/>
                </a:lnSpc>
                <a:spcBef>
                  <a:spcPct val="0"/>
                </a:spcBef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32328" y="1601463"/>
              <a:ext cx="5731825" cy="1375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Advanced </a:t>
              </a:r>
              <a:r>
                <a:rPr lang="en-US" b="true" sz="1200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</a:t>
              </a:r>
              <a:r>
                <a:rPr lang="en-US" b="true" sz="1200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ulti-Agent AITransition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to specialized AI agents to improve the accuracy of complex architectural planning and code generation.</a:t>
              </a:r>
            </a:p>
            <a:p>
              <a:pPr algn="just">
                <a:lnSpc>
                  <a:spcPts val="1679"/>
                </a:lnSpc>
                <a:spcBef>
                  <a:spcPct val="0"/>
                </a:spcBef>
              </a:pPr>
            </a:p>
            <a:p>
              <a:pPr algn="just">
                <a:lnSpc>
                  <a:spcPts val="1679"/>
                </a:lnSpc>
                <a:spcBef>
                  <a:spcPct val="0"/>
                </a:spcBef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98471" y="2871463"/>
              <a:ext cx="5799538" cy="816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Intelligent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b="true" sz="1200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FinOps &amp; Governance Deploy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AI-driven budget forecasting and automated policy enforcement to optimize long-term cloud spending.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8471" y="4037323"/>
              <a:ext cx="5799538" cy="1375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Self-Healing Infrastruct</a:t>
              </a:r>
              <a:r>
                <a:rPr lang="en-US" b="true" sz="1200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ure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Develop automated monitoring and troubleshooting agents to detect and fix resource health issues autonomously.</a:t>
              </a:r>
            </a:p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98471" y="5116823"/>
              <a:ext cx="5799538" cy="816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Full CI/CD Integration Incorporate </a:t>
              </a:r>
              <a:r>
                <a:rPr lang="en-US" b="true" sz="1200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direct pipelines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to automate the lifecycle from requirement gathering to final production deployment.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965465" y="37985"/>
              <a:ext cx="2051487" cy="298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34"/>
                </a:lnSpc>
                <a:spcBef>
                  <a:spcPct val="0"/>
                </a:spcBef>
              </a:pPr>
              <a:r>
                <a:rPr lang="en-US" sz="131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Future Scope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3361" y="1084307"/>
            <a:ext cx="4440286" cy="5102962"/>
            <a:chOff x="0" y="0"/>
            <a:chExt cx="5920382" cy="680394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2079874" y="19050"/>
              <a:ext cx="2004312" cy="2458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300"/>
                </a:lnSpc>
              </a:pPr>
              <a:r>
                <a:rPr lang="en-US" b="true" sz="1313" spc="2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Core Application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0" y="181884"/>
              <a:ext cx="5920382" cy="423728"/>
              <a:chOff x="0" y="0"/>
              <a:chExt cx="1735910" cy="12424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735910" cy="124241"/>
              </a:xfrm>
              <a:custGeom>
                <a:avLst/>
                <a:gdLst/>
                <a:ahLst/>
                <a:cxnLst/>
                <a:rect r="r" b="b" t="t" l="l"/>
                <a:pathLst>
                  <a:path h="124241" w="1735910">
                    <a:moveTo>
                      <a:pt x="0" y="0"/>
                    </a:moveTo>
                    <a:lnTo>
                      <a:pt x="1735910" y="0"/>
                    </a:lnTo>
                    <a:lnTo>
                      <a:pt x="1735910" y="124241"/>
                    </a:lnTo>
                    <a:lnTo>
                      <a:pt x="0" y="124241"/>
                    </a:lnTo>
                    <a:close/>
                  </a:path>
                </a:pathLst>
              </a:custGeom>
              <a:solidFill>
                <a:srgbClr val="029B9D"/>
              </a:solidFill>
              <a:ln w="14288" cap="sq">
                <a:solidFill>
                  <a:srgbClr val="03989E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735910" cy="162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583059"/>
              <a:ext cx="5920382" cy="6220890"/>
              <a:chOff x="0" y="0"/>
              <a:chExt cx="1735910" cy="182402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735910" cy="1824022"/>
              </a:xfrm>
              <a:custGeom>
                <a:avLst/>
                <a:gdLst/>
                <a:ahLst/>
                <a:cxnLst/>
                <a:rect r="r" b="b" t="t" l="l"/>
                <a:pathLst>
                  <a:path h="1824022" w="1735910">
                    <a:moveTo>
                      <a:pt x="0" y="0"/>
                    </a:moveTo>
                    <a:lnTo>
                      <a:pt x="1735910" y="0"/>
                    </a:lnTo>
                    <a:lnTo>
                      <a:pt x="1735910" y="1824022"/>
                    </a:lnTo>
                    <a:lnTo>
                      <a:pt x="0" y="1824022"/>
                    </a:ln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03989E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735910" cy="1862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  <a:p>
                <a:pPr algn="ctr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143265" y="223479"/>
              <a:ext cx="1484958" cy="292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39"/>
                </a:lnSpc>
                <a:spcBef>
                  <a:spcPct val="0"/>
                </a:spcBef>
              </a:pPr>
              <a:r>
                <a:rPr lang="en-US" sz="131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Conclusion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59782" y="641866"/>
              <a:ext cx="5800818" cy="137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97"/>
                </a:lnSpc>
                <a:spcBef>
                  <a:spcPct val="0"/>
                </a:spcBef>
              </a:pPr>
              <a:r>
                <a:rPr lang="en-US" sz="121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Dem</a:t>
              </a:r>
              <a:r>
                <a:rPr lang="en-US" sz="121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ocratized AWS Access Successfully reduced technical barriers by allowing users to provision infrastructure using </a:t>
              </a:r>
              <a:r>
                <a:rPr lang="en-US" b="true" sz="1212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natural language</a:t>
              </a:r>
              <a:r>
                <a:rPr lang="en-US" sz="1212">
                  <a:solidFill>
                    <a:srgbClr val="036E7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21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instead of complex code.</a:t>
              </a:r>
            </a:p>
            <a:p>
              <a:pPr algn="just">
                <a:lnSpc>
                  <a:spcPts val="1697"/>
                </a:lnSpc>
                <a:spcBef>
                  <a:spcPct val="0"/>
                </a:spcBef>
              </a:pPr>
            </a:p>
            <a:p>
              <a:pPr algn="just">
                <a:lnSpc>
                  <a:spcPts val="1697"/>
                </a:lnSpc>
                <a:spcBef>
                  <a:spcPct val="0"/>
                </a:spcBef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9782" y="1884170"/>
              <a:ext cx="5860600" cy="816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97"/>
                </a:lnSpc>
                <a:spcBef>
                  <a:spcPct val="0"/>
                </a:spcBef>
              </a:pPr>
              <a:r>
                <a:rPr lang="en-US" sz="121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Eliminated Manual Err</a:t>
              </a:r>
              <a:r>
                <a:rPr lang="en-US" sz="121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ors Replaced error-prone manual configurations with </a:t>
              </a:r>
              <a:r>
                <a:rPr lang="en-US" b="true" sz="1212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standardized Terraform scripts</a:t>
              </a:r>
              <a:r>
                <a:rPr lang="en-US" b="true" sz="121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121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 mitigate the 82% human error rate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9891" y="3052038"/>
              <a:ext cx="5728800" cy="816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97"/>
                </a:lnSpc>
                <a:spcBef>
                  <a:spcPct val="0"/>
                </a:spcBef>
              </a:pPr>
              <a:r>
                <a:rPr lang="en-US" sz="121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Enhanced </a:t>
              </a:r>
              <a:r>
                <a:rPr lang="en-US" b="true" sz="1212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</a:t>
              </a:r>
              <a:r>
                <a:rPr lang="en-US" b="true" sz="1212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ransparency Integrated</a:t>
              </a:r>
              <a:r>
                <a:rPr lang="en-US" sz="121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proactive cost estimation and security scanning to provide full visibility before any resources are deployed.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9891" y="4140337"/>
              <a:ext cx="5800818" cy="1375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80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Safety First Architect</a:t>
              </a:r>
              <a:r>
                <a:rPr lang="en-US" b="true" sz="1200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ure</a:t>
              </a:r>
              <a:r>
                <a:rPr lang="en-US" sz="1200">
                  <a:solidFill>
                    <a:srgbClr val="036E7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Implemented a mandatory human-in-the-loop approval gate to prevent accidental or incorrect AI-driven deployments.</a:t>
              </a:r>
            </a:p>
            <a:p>
              <a:pPr algn="just">
                <a:lnSpc>
                  <a:spcPts val="1680"/>
                </a:lnSpc>
                <a:spcBef>
                  <a:spcPct val="0"/>
                </a:spcBef>
              </a:pPr>
            </a:p>
            <a:p>
              <a:pPr algn="just">
                <a:lnSpc>
                  <a:spcPts val="1680"/>
                </a:lnSpc>
                <a:spcBef>
                  <a:spcPct val="0"/>
                </a:spcBef>
              </a:pP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9891" y="5266444"/>
              <a:ext cx="5800818" cy="8166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Your </a:t>
              </a:r>
              <a:r>
                <a:rPr lang="en-US" b="true" sz="1200">
                  <a:solidFill>
                    <a:srgbClr val="036E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Secure Credential Handling</a:t>
              </a:r>
              <a:r>
                <a:rPr lang="en-US" sz="1200">
                  <a:solidFill>
                    <a:srgbClr val="036E7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Established a secure foundation using AWS STS for temporary role-based access, removing the risks of static API keys.aph text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185928"/>
            <a:ext cx="9270997" cy="6735575"/>
          </a:xfrm>
          <a:custGeom>
            <a:avLst/>
            <a:gdLst/>
            <a:ahLst/>
            <a:cxnLst/>
            <a:rect r="r" b="b" t="t" l="l"/>
            <a:pathLst>
              <a:path h="6735575" w="9270997">
                <a:moveTo>
                  <a:pt x="0" y="0"/>
                </a:moveTo>
                <a:lnTo>
                  <a:pt x="9270997" y="0"/>
                </a:lnTo>
                <a:lnTo>
                  <a:pt x="9270997" y="6735575"/>
                </a:lnTo>
                <a:lnTo>
                  <a:pt x="0" y="67355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10102" y="231753"/>
            <a:ext cx="1755943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Plan of Action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" y="1036387"/>
            <a:ext cx="1404395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Activity (2021)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" y="1861576"/>
            <a:ext cx="1444419" cy="29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Literature Survey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" y="2533412"/>
            <a:ext cx="2159899" cy="29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Analysis of literature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656" y="5615373"/>
            <a:ext cx="1000968" cy="37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3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16328" y="1401318"/>
            <a:ext cx="655577" cy="29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Jan-Feb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81550" y="1401318"/>
            <a:ext cx="730606" cy="29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Feb-Mar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68972" y="1401318"/>
            <a:ext cx="831961" cy="29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Mar-April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6403" y="1401318"/>
            <a:ext cx="856412" cy="29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April-May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45425" y="1401318"/>
            <a:ext cx="839838" cy="29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May-June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46589" y="6429365"/>
            <a:ext cx="154517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11314" y="6457940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6624" y="6179048"/>
            <a:ext cx="181630" cy="37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6834" y="6179048"/>
            <a:ext cx="629383" cy="37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26217" y="6226673"/>
            <a:ext cx="696239" cy="33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Report/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875" y="6179048"/>
            <a:ext cx="1029749" cy="37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Preparation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875" y="6442700"/>
            <a:ext cx="1279959" cy="37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Paper Writing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06267" y="249431"/>
            <a:ext cx="2131466" cy="391163"/>
          </a:xfrm>
          <a:custGeom>
            <a:avLst/>
            <a:gdLst/>
            <a:ahLst/>
            <a:cxnLst/>
            <a:rect r="r" b="b" t="t" l="l"/>
            <a:pathLst>
              <a:path h="391163" w="2131466">
                <a:moveTo>
                  <a:pt x="0" y="0"/>
                </a:moveTo>
                <a:lnTo>
                  <a:pt x="2131466" y="0"/>
                </a:lnTo>
                <a:lnTo>
                  <a:pt x="2131466" y="391163"/>
                </a:lnTo>
                <a:lnTo>
                  <a:pt x="0" y="391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28723" y="646678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81552" y="231753"/>
            <a:ext cx="1405557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46589" y="6574421"/>
            <a:ext cx="154517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3903" y="1438106"/>
            <a:ext cx="8949473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Rackspace. The 2025 state of cloud report, 2025. URL </a:t>
            </a:r>
            <a:r>
              <a:rPr lang="en-US" sz="1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11" tooltip="https://www.rackspace.com/blog/2025-state-cloud-report"/>
              </a:rPr>
              <a:t> https://www.rackspace.com/blog/2025-state-cloud-report.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3903" y="2327224"/>
            <a:ext cx="9063782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Hashicorp. Terraform versus cloudformation, heat, and other infrastructure as code tools, 2024. URL </a:t>
            </a:r>
            <a:r>
              <a:rPr lang="en-US" sz="1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12" tooltip="https://developer.hashicorp.com/terraform/intro/vs/cloudformation"/>
              </a:rPr>
              <a:t>https://developer. hashicorp.com/terraform/intro/vs/cloudformation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3903" y="1871929"/>
            <a:ext cx="9063782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Hashicorp. Hashicorp2023stateof cloudstrategy survey., 2023. URL </a:t>
            </a:r>
            <a:r>
              <a:rPr lang="en-US" sz="1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13" tooltip="https://www.hashicorp.com/en/state-of-the-cloud."/>
              </a:rPr>
              <a:t>https://www.hashicorp.com/en/state-of-the-cloud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5325" y="5303786"/>
            <a:ext cx="9063782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Microsoft Azure. Architecture strategies for using infrastructure as code, 2023. URL </a:t>
            </a:r>
            <a:r>
              <a:rPr lang="en-US" sz="1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14" tooltip="https://learn.microsoft.com/en-us/azure/well-architected/operational-excellence/infrastructure-as-code-design"/>
              </a:rPr>
              <a:t>https://learn.microsoft.com/en us/azure/well-architected/operational-excellence/infrastructure-as-code-design.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4293" y="4250321"/>
            <a:ext cx="9063782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DeJong Kevin, Myron Pat, van Boven Frank, et al. Aws cloudformation linter, 2025. URL </a:t>
            </a:r>
            <a:r>
              <a:rPr lang="en-US" sz="1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15" tooltip="https://github.com/aws-cloudformation/cfn-lint"/>
              </a:rPr>
              <a:t>https://github.com/aws cloudformation/cfn-lint.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325" y="2915869"/>
            <a:ext cx="9006627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AWS. Managing aws resources as a single unit with aws cloudformation stacks, 2025. URL </a:t>
            </a:r>
            <a:r>
              <a:rPr lang="en-US" sz="1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16" tooltip="https://docs.aws.amazon.com/AWSCloudFormation/latest/UserGuide/stacks.html"/>
              </a:rPr>
              <a:t>https://docs.aws.amazon. com/AWSCloudFormation/latest/UserGuide/stacks.html.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5325" y="3590239"/>
            <a:ext cx="9063782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aws-cloudformation-templates by AWS Cloudformation : AWS CloudFormation Sample Templates. </a:t>
            </a:r>
            <a:r>
              <a:rPr lang="en-US" sz="1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17" tooltip="https://github.com/aws-cloudformation/aws-cloudformation-templates"/>
              </a:rPr>
              <a:t>https://github.com/ aws-cloudformation/aws-cloudformation-templates.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293" y="4715141"/>
            <a:ext cx="9063782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Wang, J., &amp; Suresh, P. (2022). Multi-Cloud Infras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tructure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Autom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ion with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errafor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m: Case Study. In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ter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ational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Journa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of Cloud Appl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icatio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ns, 15(2), 210-225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4293" y="5892431"/>
            <a:ext cx="9063782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Turner, R., &amp; Holland, M. (2021). Terraform in Multi-cloud E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iro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men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Oppo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tun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 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 Ch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allen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IEEE Clo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 Compu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8(4), 20-30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6748" y="6347726"/>
            <a:ext cx="9063782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Jansen, S., &amp; Bloemendal, M. (2020). Terraform S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age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 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 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ms. In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ter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ational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Journa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of D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vOps E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inee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6(2), 45-61</a:t>
            </a:r>
            <a:r>
              <a:rPr lang="en-US" sz="120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46713" y="6574421"/>
            <a:ext cx="187523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AI Cloud Ass</a:t>
            </a: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istive Platform-(7)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09605" y="3180083"/>
            <a:ext cx="3096892" cy="635003"/>
          </a:xfrm>
          <a:custGeom>
            <a:avLst/>
            <a:gdLst/>
            <a:ahLst/>
            <a:cxnLst/>
            <a:rect r="r" b="b" t="t" l="l"/>
            <a:pathLst>
              <a:path h="635003" w="3096892">
                <a:moveTo>
                  <a:pt x="0" y="0"/>
                </a:moveTo>
                <a:lnTo>
                  <a:pt x="3096892" y="0"/>
                </a:lnTo>
                <a:lnTo>
                  <a:pt x="3096892" y="635003"/>
                </a:lnTo>
                <a:lnTo>
                  <a:pt x="0" y="635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9144000" cy="914400"/>
          </a:xfrm>
          <a:custGeom>
            <a:avLst/>
            <a:gdLst/>
            <a:ahLst/>
            <a:cxnLst/>
            <a:rect r="r" b="b" t="t" l="l"/>
            <a:pathLst>
              <a:path h="914400" w="91440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28723" y="6466780"/>
            <a:ext cx="1685925" cy="177803"/>
          </a:xfrm>
          <a:custGeom>
            <a:avLst/>
            <a:gdLst/>
            <a:ahLst/>
            <a:cxnLst/>
            <a:rect r="r" b="b" t="t" l="l"/>
            <a:pathLst>
              <a:path h="177803" w="1685925">
                <a:moveTo>
                  <a:pt x="0" y="0"/>
                </a:moveTo>
                <a:lnTo>
                  <a:pt x="1685925" y="0"/>
                </a:lnTo>
                <a:lnTo>
                  <a:pt x="1685925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08489" y="6466780"/>
            <a:ext cx="243202" cy="177803"/>
          </a:xfrm>
          <a:custGeom>
            <a:avLst/>
            <a:gdLst/>
            <a:ahLst/>
            <a:cxnLst/>
            <a:rect r="r" b="b" t="t" l="l"/>
            <a:pathLst>
              <a:path h="177803" w="243202">
                <a:moveTo>
                  <a:pt x="0" y="0"/>
                </a:moveTo>
                <a:lnTo>
                  <a:pt x="243202" y="0"/>
                </a:lnTo>
                <a:lnTo>
                  <a:pt x="243202" y="177803"/>
                </a:lnTo>
                <a:lnTo>
                  <a:pt x="0" y="1778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22302" y="3124705"/>
            <a:ext cx="3132792" cy="74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You…….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41430" y="6457940"/>
            <a:ext cx="169251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Title of Project-(Group-No)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46589" y="6457940"/>
            <a:ext cx="15731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DAHGFk_a9MY</dc:identifier>
  <dcterms:modified xsi:type="dcterms:W3CDTF">2011-08-01T06:04:30Z</dcterms:modified>
  <cp:revision>1</cp:revision>
  <dc:title>Cloudman-Seminar-1</dc:title>
</cp:coreProperties>
</file>